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イントロ" id="{df1ca513-1369-6e4a-9495-4553c80f21ae}">
          <p14:sldIdLst>
            <p14:sldId id="256"/>
            <p14:sldId id="257"/>
            <p14:sldId id="258"/>
            <p14:sldId id="259"/>
            <p14:sldId id="260"/>
          </p14:sldIdLst>
        </p14:section>
        <p14:section name="① 海外スワイプ" id="{42b8fa66-0760-892c-374f-6990f96542d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② 採用の現状" id="{99b317cc-1184-8ae0-7d7b-7af912be3744}">
          <p14:sldIdLst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まとめ" id="{20fa5be6-2c82-6773-ce45-15adbaa46c9c}">
          <p14:sldIdLst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36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368"/>
                </a:solidFill>
                <a:latin typeface="+mn-lt"/>
              </a:rPr>
              <a:t>1人当たり生産性（億円）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1人当たり生産性</c:v>
                </c:pt>
              </c:strCache>
            </c:strRef>
          </c:tx>
          <c:spPr>
            <a:solidFill>
              <a:srgbClr val="8C93A6"/>
            </a:solidFill>
            <a:effectLst/>
          </c:spPr>
          <c:invertIfNegative val="0"/>
          <c:dLbls>
            <c:numFmt formatCode="0.0&quot;億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B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現状（5期目・MBJ）</c:v>
                  </c:pt>
                  <c:pt idx="1">
                    <c:v>ゴール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2</c:v>
                </c:pt>
              </c:numCache>
            </c:numRef>
          </c:val>
        </c:ser>
        <c:dLbls>
          <c:numFmt formatCode="0.0&quot;億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3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https://techcrunch.com/2017/10/13/tesla-has-let-go-hundreds-of-employees
https://techcrunch.com/2023/02/16/tesla-fires-dozens-of-workers-one-day-after-launching-union-campaign
https://jalopnik.com/here-s-how-much-severance-laid-off-tesla-workers-are-ge-1851438666
https://www.payscale.com/press-releases/payscale-releases-tech-employers-compared-2016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https://corporate-rebels.com/tesla-employee-handbook/
https://www.tesla.com/careers/tesla-start
https://www.consultantsmind.com/2019/06/16/elon-musk-meeting/
https://gulftoday.ae/business/2024/06/18/musk-plans-stock-option-grants-to-tesla-s-high-performers-sources-say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https://www.axios.com/2023/01/20/google-layoffs-ceo-sundar-pichai-memo-email
https://fortune.com/2025/06/11/google-voluntary-exit-plans-return-to-office-talent-war
https://www.geekwire.com/2013/amazon-google-employees-ranked-least-loyal/
https://techcrunch.com/2009/01/18/why-google-employees-quit/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https://rework.withgoogle.com/
https://www.cnbc.com/2022/05/06/google-says-its-raising-employee-pay-in-performance-review-revamp.html
https://www.nbcnews.com/business/business-news/google-eliminated-35-percent-managers-overseeing-small-teams-exec-says-rcna227486
書籍：『ワーク・ルールズ!』『How Google Works』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https://www.nasa.gov/feature/astronaut-selection
https://nodis3.gsfc.nasa.gov/displayDir.cfm?Internal_ID=N_PR_3430_001D_&amp;page_name=Chapter3
https://appel.nasa.gov/2018/03/29/introducing-appel-knowledge-services
https://www.opm.gov/policy-data-oversight/pay-leave/salaries-wages/salary-tables/pdf/2026/SF.pdf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https://techcrunch.com/2022/11/09/meta-confirms-11000-layoffs-amounting-to-13-of-its-workforce
https://www.axios.com/2023/04/13/morale-crisis-facebook-meta-layoffs
https://allwork.space/2025/05/meta-plans-to-rate-more-employees-as-underperformers-to-guide-layoffs/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https://about.fb.com/news/2023/03/mark-zuckerberg-meta-year-of-efficiency/
https://www.metacareers.com/culture
https://fortune.com/2023/03/28/meta-more-frequent-reviews-lower-bonuses
https://www.peoplematters.in/news/ai-and-emerging-tech/after-1000-layoffs-meta-lines-up-300percent-bonuses-for-top-performers-48033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主な出典:
https://cardinalatwork.stanford.edu/careers/grow-and-perform
https://cardinalatwork.stanford.edu/benefits-rewards/compensation/staff-compensation/salary-structure
https://cardinalatwork.stanford.edu/manager-toolkit/attract/interviewing
https://fortune.com/2024/06/18/stanford-nick-bloom-hybrid-work-cuts-attrition-no-negative-impact-promoted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見学先ごとにこの表を1枚ずつ使い、帰国後に5社分を比べて自社案にまとめます。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マインドマップの『求人者』配下の空白（サブトピック）を、この5項目で埋めていきます。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シリコンバレー企業見学  2026年10月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世界トップクラスの人事システムを、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自社へ持ち帰る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目的・現状・アクション ／ 5社の人事システム分析 ／ 採用の現状</a:t>
            </a:r>
            <a:endParaRPr lang="en-US" sz="2000" dirty="0"/>
          </a:p>
        </p:txBody>
      </p:sp>
      <p:pic>
        <p:nvPicPr>
          <p:cNvPr id="5" name="pla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Tesla ・ Google ・ NASA ・ Meta ・ Stanford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なぜ行くのか — 目的とゴール</a:t>
            </a:r>
            <a:endParaRPr lang="en-US" sz="3000" dirty="0"/>
          </a:p>
        </p:txBody>
      </p:sp>
      <p:sp>
        <p:nvSpPr>
          <p:cNvPr id="4" name="purpose card"/>
          <p:cNvSpPr/>
          <p:nvPr/>
        </p:nvSpPr>
        <p:spPr>
          <a:xfrm>
            <a:off x="548640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5" name="purpose circle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urpo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2201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目的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世界トップクラスの企業の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人事システムを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自社に導入する</a:t>
            </a:r>
            <a:endParaRPr lang="en-US" sz="2600" dirty="0"/>
          </a:p>
        </p:txBody>
      </p:sp>
      <p:sp>
        <p:nvSpPr>
          <p:cNvPr id="9" name="goal card"/>
          <p:cNvSpPr/>
          <p:nvPr/>
        </p:nvSpPr>
        <p:spPr>
          <a:xfrm>
            <a:off x="6233008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tx1"/>
          </a:solidFill>
          <a:ln/>
        </p:spPr>
      </p:sp>
      <p:sp>
        <p:nvSpPr>
          <p:cNvPr id="10" name="goal circle"/>
          <p:cNvSpPr/>
          <p:nvPr/>
        </p:nvSpPr>
        <p:spPr>
          <a:xfrm>
            <a:off x="6644488" y="20116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971" y="22201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44488" y="310896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ゴール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44488" y="3520440"/>
            <a:ext cx="458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生産性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2億円</a:t>
            </a:r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 / 人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644488" y="489204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人事システムをスワイプし、自社への落とし込みまでやり切る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現状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現状は8,000万円弱 — ゴールまで約2.5倍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ap card"/>
          <p:cNvSpPr/>
          <p:nvPr/>
        </p:nvSpPr>
        <p:spPr>
          <a:xfrm>
            <a:off x="8001000" y="1737360"/>
            <a:ext cx="3642055" cy="4297680"/>
          </a:xfrm>
          <a:prstGeom prst="roundRect">
            <a:avLst>
              <a:gd name="adj" fmla="val 251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ギャップ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×2.5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3931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さらに現状の生産性は下がり続けている。仕組みの作り直しが必要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問題点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生産性が下がり続ける原因は「仕組みがない」こと</a:t>
            </a:r>
            <a:endParaRPr lang="en-US" sz="3000" dirty="0"/>
          </a:p>
        </p:txBody>
      </p:sp>
      <p:sp>
        <p:nvSpPr>
          <p:cNvPr id="4" name="top problem"/>
          <p:cNvSpPr/>
          <p:nvPr/>
        </p:nvSpPr>
        <p:spPr>
          <a:xfrm>
            <a:off x="548640" y="164592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/>
        </p:spPr>
      </p:sp>
      <p:sp>
        <p:nvSpPr>
          <p:cNvPr id="5" name="down bg"/>
          <p:cNvSpPr/>
          <p:nvPr/>
        </p:nvSpPr>
        <p:spPr>
          <a:xfrm>
            <a:off x="731520" y="1755648"/>
            <a:ext cx="512064" cy="51206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dow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379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生産性が下がり続けている（ボトム層が全体を引っ張っている）</a:t>
            </a:r>
            <a:endParaRPr lang="en-US" sz="2000" dirty="0"/>
          </a:p>
        </p:txBody>
      </p:sp>
      <p:sp>
        <p:nvSpPr>
          <p:cNvPr id="8" name="connector 0"/>
          <p:cNvSpPr/>
          <p:nvPr/>
        </p:nvSpPr>
        <p:spPr>
          <a:xfrm>
            <a:off x="3253664" y="2377440"/>
            <a:ext cx="0" cy="365760"/>
          </a:xfrm>
          <a:prstGeom prst="line">
            <a:avLst/>
          </a:prstGeom>
          <a:noFill/>
          <a:ln w="19050">
            <a:solidFill>
              <a:srgbClr val="8C93A6"/>
            </a:solidFill>
            <a:prstDash val="solid"/>
          </a:ln>
        </p:spPr>
      </p:sp>
      <p:sp>
        <p:nvSpPr>
          <p:cNvPr id="9" name="cause card 0"/>
          <p:cNvSpPr/>
          <p:nvPr/>
        </p:nvSpPr>
        <p:spPr>
          <a:xfrm>
            <a:off x="548640" y="2743200"/>
            <a:ext cx="541004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7432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生産性のない人材が増えてきた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490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根本原因</a:t>
            </a:r>
            <a:endParaRPr lang="en-US" sz="1300" dirty="0"/>
          </a:p>
        </p:txBody>
      </p:sp>
      <p:sp>
        <p:nvSpPr>
          <p:cNvPr id="12" name="root 0-0"/>
          <p:cNvSpPr/>
          <p:nvPr/>
        </p:nvSpPr>
        <p:spPr>
          <a:xfrm>
            <a:off x="548640" y="4114800"/>
            <a:ext cx="5410048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947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11480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教育が行き届いていない</a:t>
            </a:r>
            <a:endParaRPr lang="en-US" sz="1600" dirty="0"/>
          </a:p>
        </p:txBody>
      </p:sp>
      <p:sp>
        <p:nvSpPr>
          <p:cNvPr id="14" name="root 0-1"/>
          <p:cNvSpPr/>
          <p:nvPr/>
        </p:nvSpPr>
        <p:spPr>
          <a:xfrm>
            <a:off x="548640" y="4892040"/>
            <a:ext cx="5410048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947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89204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評価制度がない</a:t>
            </a:r>
            <a:endParaRPr lang="en-US" sz="1600" dirty="0"/>
          </a:p>
        </p:txBody>
      </p:sp>
      <p:sp>
        <p:nvSpPr>
          <p:cNvPr id="16" name="connector 1"/>
          <p:cNvSpPr/>
          <p:nvPr/>
        </p:nvSpPr>
        <p:spPr>
          <a:xfrm>
            <a:off x="8938031" y="2377440"/>
            <a:ext cx="0" cy="365760"/>
          </a:xfrm>
          <a:prstGeom prst="line">
            <a:avLst/>
          </a:prstGeom>
          <a:noFill/>
          <a:ln w="19050">
            <a:solidFill>
              <a:srgbClr val="8C93A6"/>
            </a:solidFill>
            <a:prstDash val="solid"/>
          </a:ln>
        </p:spPr>
      </p:sp>
      <p:sp>
        <p:nvSpPr>
          <p:cNvPr id="17" name="cause card 1"/>
          <p:cNvSpPr/>
          <p:nvPr/>
        </p:nvSpPr>
        <p:spPr>
          <a:xfrm>
            <a:off x="6233008" y="2743200"/>
            <a:ext cx="541004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07328" y="27432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生産性を上げられる人が増えない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233008" y="37490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根本原因</a:t>
            </a:r>
            <a:endParaRPr lang="en-US" sz="1300" dirty="0"/>
          </a:p>
        </p:txBody>
      </p:sp>
      <p:sp>
        <p:nvSpPr>
          <p:cNvPr id="20" name="root 1-0"/>
          <p:cNvSpPr/>
          <p:nvPr/>
        </p:nvSpPr>
        <p:spPr>
          <a:xfrm>
            <a:off x="6233008" y="4114800"/>
            <a:ext cx="5410048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947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7328" y="411480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教育が行き届いていない（経営層）</a:t>
            </a:r>
            <a:endParaRPr lang="en-US" sz="1600" dirty="0"/>
          </a:p>
        </p:txBody>
      </p:sp>
      <p:sp>
        <p:nvSpPr>
          <p:cNvPr id="22" name="root 1-1"/>
          <p:cNvSpPr/>
          <p:nvPr/>
        </p:nvSpPr>
        <p:spPr>
          <a:xfrm>
            <a:off x="6233008" y="4892040"/>
            <a:ext cx="5410048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947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07328" y="489204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評価・組織・給与制度が構築されていない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アクション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今回のアクションは2つ</a:t>
            </a:r>
            <a:endParaRPr lang="en-US" sz="3000" dirty="0"/>
          </a:p>
        </p:txBody>
      </p:sp>
      <p:sp>
        <p:nvSpPr>
          <p:cNvPr id="4" name="action card 0"/>
          <p:cNvSpPr/>
          <p:nvPr/>
        </p:nvSpPr>
        <p:spPr>
          <a:xfrm>
            <a:off x="548640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5" name="action 0 circle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cti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①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7180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海外の人事システムをスワイプし、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自社に落とし込む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77640"/>
            <a:ext cx="467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5社の採用・教育・評価・組織・給与を調べる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現地で聞く質問を会社ごとに準備する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帰国後に自社の仕組みとして導入する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5321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このあと 5社分の調査と質問</a:t>
            </a:r>
            <a:endParaRPr lang="en-US" sz="1300" dirty="0"/>
          </a:p>
        </p:txBody>
      </p:sp>
      <p:sp>
        <p:nvSpPr>
          <p:cNvPr id="11" name="action card 1"/>
          <p:cNvSpPr/>
          <p:nvPr/>
        </p:nvSpPr>
        <p:spPr>
          <a:xfrm>
            <a:off x="6233008" y="1645920"/>
            <a:ext cx="5410048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12" name="action 1 circle"/>
          <p:cNvSpPr/>
          <p:nvPr/>
        </p:nvSpPr>
        <p:spPr>
          <a:xfrm>
            <a:off x="6598768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cti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305" y="215249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58888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②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6598768" y="297180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今の採用を見える化し、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タスクにする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6598768" y="3977640"/>
            <a:ext cx="467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媒体・紹介会社・自社SNSの現状を整理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空白（未検討）の部分を洗い出す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誰が・何を・いつまでにやるかに分解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598768" y="55321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まずは現状の整理から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 ①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海外の人事システムを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スワイプして自社へ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5社 × 6つの観点で調べ、現地で聞く質問を準備する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WE 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やることは4ステップ — 見る・真似る・分解・実行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1893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現地見学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7764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Tesla・Google・NASA・Meta・Stanfordの人事の仕組みを現地で学ぶ</a:t>
            </a:r>
            <a:endParaRPr lang="en-US" sz="1500" dirty="0"/>
          </a:p>
        </p:txBody>
      </p:sp>
      <p:sp>
        <p:nvSpPr>
          <p:cNvPr id="10" name="step arrow 0"/>
          <p:cNvSpPr/>
          <p:nvPr/>
        </p:nvSpPr>
        <p:spPr>
          <a:xfrm rot="5400000">
            <a:off x="3118790" y="3749040"/>
            <a:ext cx="246888" cy="18288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3402254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chemeClr val="bg2"/>
          </a:solidFill>
          <a:ln/>
        </p:spPr>
      </p:sp>
      <p:sp>
        <p:nvSpPr>
          <p:cNvPr id="12" name="step 2 circle"/>
          <p:cNvSpPr/>
          <p:nvPr/>
        </p:nvSpPr>
        <p:spPr>
          <a:xfrm>
            <a:off x="3722294" y="19659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31" y="215249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22294" y="2971800"/>
            <a:ext cx="1893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722294" y="333756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スワイプ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3722294" y="397764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採用・教育・評価・組織・給与の仕組みを型ごと真似る</a:t>
            </a:r>
            <a:endParaRPr lang="en-US" sz="1500" dirty="0"/>
          </a:p>
        </p:txBody>
      </p:sp>
      <p:sp>
        <p:nvSpPr>
          <p:cNvPr id="17" name="step arrow 1"/>
          <p:cNvSpPr/>
          <p:nvPr/>
        </p:nvSpPr>
        <p:spPr>
          <a:xfrm rot="5400000">
            <a:off x="5972404" y="3749040"/>
            <a:ext cx="246888" cy="18288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8" name="step card 3"/>
          <p:cNvSpPr/>
          <p:nvPr/>
        </p:nvSpPr>
        <p:spPr>
          <a:xfrm>
            <a:off x="6255868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chemeClr val="bg2"/>
          </a:solidFill>
          <a:ln/>
        </p:spPr>
      </p:sp>
      <p:sp>
        <p:nvSpPr>
          <p:cNvPr id="19" name="step 3 circle"/>
          <p:cNvSpPr/>
          <p:nvPr/>
        </p:nvSpPr>
        <p:spPr>
          <a:xfrm>
            <a:off x="6575908" y="19659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45" y="215249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75908" y="2971800"/>
            <a:ext cx="1893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75908" y="333756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タスク化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575908" y="397764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学んだ人事戦術を、誰が・何を・いつまでにやるかに分解</a:t>
            </a:r>
            <a:endParaRPr lang="en-US" sz="1500" dirty="0"/>
          </a:p>
        </p:txBody>
      </p:sp>
      <p:sp>
        <p:nvSpPr>
          <p:cNvPr id="24" name="step arrow 2"/>
          <p:cNvSpPr/>
          <p:nvPr/>
        </p:nvSpPr>
        <p:spPr>
          <a:xfrm rot="5400000">
            <a:off x="8826017" y="3749040"/>
            <a:ext cx="246888" cy="18288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5" name="step card 4"/>
          <p:cNvSpPr/>
          <p:nvPr/>
        </p:nvSpPr>
        <p:spPr>
          <a:xfrm>
            <a:off x="9109481" y="1645920"/>
            <a:ext cx="2533574" cy="4480560"/>
          </a:xfrm>
          <a:prstGeom prst="roundRect">
            <a:avLst>
              <a:gd name="adj" fmla="val 3609"/>
            </a:avLst>
          </a:prstGeom>
          <a:solidFill>
            <a:schemeClr val="bg2"/>
          </a:solidFill>
          <a:ln/>
        </p:spPr>
      </p:sp>
      <p:sp>
        <p:nvSpPr>
          <p:cNvPr id="26" name="step 4 circle"/>
          <p:cNvSpPr/>
          <p:nvPr/>
        </p:nvSpPr>
        <p:spPr>
          <a:xfrm>
            <a:off x="9429521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059" y="2152498"/>
            <a:ext cx="404165" cy="40416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429521" y="2971800"/>
            <a:ext cx="1893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4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429521" y="3337560"/>
            <a:ext cx="1893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自社導入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9429521" y="397764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現状把握から始め、自社の仕組みとして導入まで実施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見学先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見学先5社 — それぞれの人事の特徴</a:t>
            </a:r>
            <a:endParaRPr lang="en-US" sz="3000" dirty="0"/>
          </a:p>
        </p:txBody>
      </p:sp>
      <p:sp>
        <p:nvSpPr>
          <p:cNvPr id="4" name="co card tesla"/>
          <p:cNvSpPr/>
          <p:nvPr/>
        </p:nvSpPr>
        <p:spPr>
          <a:xfrm>
            <a:off x="548640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5" name="co tesla circle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co tesl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Tesla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学歴より「並外れた能力」、ルールより現場判断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学歴不問。規則集の代わりに短い行動宣言。半年ごとに1〜5で評価し、低評価者は去る</a:t>
            </a:r>
            <a:endParaRPr lang="en-US" sz="1300" dirty="0"/>
          </a:p>
        </p:txBody>
      </p:sp>
      <p:sp>
        <p:nvSpPr>
          <p:cNvPr id="10" name="co card google"/>
          <p:cNvSpPr/>
          <p:nvPr/>
        </p:nvSpPr>
        <p:spPr>
          <a:xfrm>
            <a:off x="2813243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1" name="co google circle"/>
          <p:cNvSpPr/>
          <p:nvPr/>
        </p:nvSpPr>
        <p:spPr>
          <a:xfrm>
            <a:off x="3087563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o goog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55" y="20848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7563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Google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087563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人事をデータで科学する会社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087563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構造化面接で「学ぶ力」を採る。成果（インパクト）を5段階で評価し、報酬に大きく差をつける</a:t>
            </a:r>
            <a:endParaRPr lang="en-US" sz="1300" dirty="0"/>
          </a:p>
        </p:txBody>
      </p:sp>
      <p:sp>
        <p:nvSpPr>
          <p:cNvPr id="16" name="co card nasa"/>
          <p:cNvSpPr/>
          <p:nvPr/>
        </p:nvSpPr>
        <p:spPr>
          <a:xfrm>
            <a:off x="5077846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7" name="co nasa circle"/>
          <p:cNvSpPr/>
          <p:nvPr/>
        </p:nvSpPr>
        <p:spPr>
          <a:xfrm>
            <a:off x="5352166" y="19202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co nas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758" y="20848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52166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NASA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352166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使命感と「振り返り」で、失敗できない仕事をやり切る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352166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公募と適格審査で採用。年3回の面談で評価。節目ごとの振り返りと、異論を言える文化を重視</a:t>
            </a:r>
            <a:endParaRPr lang="en-US" sz="1300" dirty="0"/>
          </a:p>
        </p:txBody>
      </p:sp>
      <p:sp>
        <p:nvSpPr>
          <p:cNvPr id="22" name="co card meta"/>
          <p:cNvSpPr/>
          <p:nvPr/>
        </p:nvSpPr>
        <p:spPr>
          <a:xfrm>
            <a:off x="7342449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3" name="co meta circle"/>
          <p:cNvSpPr/>
          <p:nvPr/>
        </p:nvSpPr>
        <p:spPr>
          <a:xfrm>
            <a:off x="7616769" y="1920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co meta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361" y="20848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16769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Meta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7616769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「何を変えたか（Impact）」で測る、徹底した成果主義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616769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評価軸は「Impact」。360度評価と校正会議で評価分布を決め、上位と下位で賞与に大差</a:t>
            </a:r>
            <a:endParaRPr lang="en-US" sz="1300" dirty="0"/>
          </a:p>
        </p:txBody>
      </p:sp>
      <p:sp>
        <p:nvSpPr>
          <p:cNvPr id="28" name="co card stanford"/>
          <p:cNvSpPr/>
          <p:nvPr/>
        </p:nvSpPr>
        <p:spPr>
          <a:xfrm>
            <a:off x="9607052" y="1645920"/>
            <a:ext cx="2036003" cy="452628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9" name="co stanford circle"/>
          <p:cNvSpPr/>
          <p:nvPr/>
        </p:nvSpPr>
        <p:spPr>
          <a:xfrm>
            <a:off x="9881372" y="19202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co stanfor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964" y="2084832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81372" y="2788920"/>
            <a:ext cx="1487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Stanford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9881372" y="3291840"/>
            <a:ext cx="14873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同じ物差しで採用と評価をつなぐ ＋ 研究の知見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881372" y="4343400"/>
            <a:ext cx="14873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職務ごとの能力基準（コンピテンシー）で面接も評価も行う。研究者からは成果を出す組織の知見を学ぶ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調査の観点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6つの観点で、各社の人事システムを調べる</a:t>
            </a:r>
            <a:endParaRPr lang="en-US" sz="3000" dirty="0"/>
          </a:p>
        </p:txBody>
      </p:sp>
      <p:sp>
        <p:nvSpPr>
          <p:cNvPr id="4" name="topic hire"/>
          <p:cNvSpPr/>
          <p:nvPr/>
        </p:nvSpPr>
        <p:spPr>
          <a:xfrm>
            <a:off x="548640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topic hire circle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topic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採用基準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採用基準は？</a:t>
            </a:r>
            <a:endParaRPr lang="en-US" sz="1300" dirty="0"/>
          </a:p>
        </p:txBody>
      </p:sp>
      <p:sp>
        <p:nvSpPr>
          <p:cNvPr id="9" name="topic onboard"/>
          <p:cNvSpPr/>
          <p:nvPr/>
        </p:nvSpPr>
        <p:spPr>
          <a:xfrm>
            <a:off x="4338218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0" name="topic onboard circle"/>
          <p:cNvSpPr/>
          <p:nvPr/>
        </p:nvSpPr>
        <p:spPr>
          <a:xfrm>
            <a:off x="4658258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topic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50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入社後の教育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最初、入職してから教育をどうするか？</a:t>
            </a:r>
            <a:endParaRPr lang="en-US" sz="1300" dirty="0"/>
          </a:p>
        </p:txBody>
      </p:sp>
      <p:sp>
        <p:nvSpPr>
          <p:cNvPr id="14" name="topic develop"/>
          <p:cNvSpPr/>
          <p:nvPr/>
        </p:nvSpPr>
        <p:spPr>
          <a:xfrm>
            <a:off x="8127797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topic develop circle"/>
          <p:cNvSpPr/>
          <p:nvPr/>
        </p:nvSpPr>
        <p:spPr>
          <a:xfrm>
            <a:off x="8447837" y="20116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topic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429" y="2176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8346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成果を出す仕組み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24612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成果を出すためにやっている教育・仕組みは？</a:t>
            </a:r>
            <a:endParaRPr lang="en-US" sz="1300" dirty="0"/>
          </a:p>
        </p:txBody>
      </p:sp>
      <p:sp>
        <p:nvSpPr>
          <p:cNvPr id="19" name="topic eval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topic eval circle"/>
          <p:cNvSpPr/>
          <p:nvPr/>
        </p:nvSpPr>
        <p:spPr>
          <a:xfrm>
            <a:off x="868680" y="4389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opic eva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5537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 評価システム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評価されるには何が項目としてあるか？</a:t>
            </a:r>
            <a:endParaRPr lang="en-US" sz="1300" dirty="0"/>
          </a:p>
        </p:txBody>
      </p:sp>
      <p:sp>
        <p:nvSpPr>
          <p:cNvPr id="24" name="topic org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5" name="topic org circle"/>
          <p:cNvSpPr/>
          <p:nvPr/>
        </p:nvSpPr>
        <p:spPr>
          <a:xfrm>
            <a:off x="4658258" y="43891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topic or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850" y="45537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8258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5. 組織構造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4658258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成果を出すために組織構造はどうなっているか？</a:t>
            </a:r>
            <a:endParaRPr lang="en-US" sz="1300" dirty="0"/>
          </a:p>
        </p:txBody>
      </p:sp>
      <p:sp>
        <p:nvSpPr>
          <p:cNvPr id="29" name="topic pay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0" name="topic pay circle"/>
          <p:cNvSpPr/>
          <p:nvPr/>
        </p:nvSpPr>
        <p:spPr>
          <a:xfrm>
            <a:off x="8447837" y="43891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topic pa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2429" y="45537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47837" y="52120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6. 給与システム</a:t>
            </a:r>
            <a:endParaRPr lang="en-US" sz="1900" dirty="0"/>
          </a:p>
        </p:txBody>
      </p:sp>
      <p:sp>
        <p:nvSpPr>
          <p:cNvPr id="33" name="Text 25"/>
          <p:cNvSpPr txBox="1"/>
          <p:nvPr/>
        </p:nvSpPr>
        <p:spPr>
          <a:xfrm>
            <a:off x="8447837" y="5623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給与はどう決まるのか？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5社比較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ひと目でわかる5社の違い</a:t>
            </a:r>
            <a:endParaRPr lang="en-US" sz="3000" dirty="0"/>
          </a:p>
        </p:txBody>
      </p:sp>
      <p:graphicFrame>
        <p:nvGraphicFramePr>
          <p:cNvPr id="11" name="comp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71411"/>
                <a:gridCol w="1871411"/>
                <a:gridCol w="1871411"/>
                <a:gridCol w="1871411"/>
                <a:gridCol w="187141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Tesla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Google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NASA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Stanford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採用基準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学歴不問。能力の証拠を深掘り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学ぶ力重視の構造化面接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公募＋職務要件で適格審査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価値観適合＋AI活用力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能力基準に沿った行動面接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入社後の教育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短い行動宣言＋即現場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前日チェックリスト＋バディ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メンター＋全体像ワークショップ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Bootcamp＋初週から実務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毎週オリエン＋上司が計画説明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成果を出す仕組み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START養成・会議削減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OKR公開・社員が講師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振り返り・教訓DB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Impactが共通言語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研修補助＋研究の知見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評価システム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半年ごと1〜5。結果×やり方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年1回・成果5段階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年3回面談・4段階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360度＋校正会議・分布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目標＋能力基準・年1回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組織構造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指揮系統を飛ばしてよい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小さな自律チーム。上司はコーチ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事業×センターのマトリクス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フラット。上司も現場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方針は中央、運用は現場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給与システム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基本給＋株式。スポット付与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評価で賞与倍率に差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等級×号俸＋表彰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賞与倍率0〜200%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16等級レンジ・年1回昇給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1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Tesla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学歴より「並外れた能力」、ルールより現場判断</a:t>
            </a:r>
            <a:endParaRPr lang="en-US" sz="2000" dirty="0"/>
          </a:p>
        </p:txBody>
      </p:sp>
      <p:sp>
        <p:nvSpPr>
          <p:cNvPr id="5" name="div tesl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div tesl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tesl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tesl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半年ごとの1〜5評価を、昇給・賞与に直結させる</a:t>
            </a:r>
            <a:endParaRPr lang="en-US" sz="1400" dirty="0"/>
          </a:p>
        </p:txBody>
      </p:sp>
      <p:sp>
        <p:nvSpPr>
          <p:cNvPr id="11" name="swipe tesl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tesl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規則集をやめ、2〜4ページの「行動宣言」にする</a:t>
            </a:r>
            <a:endParaRPr lang="en-US" sz="1400" dirty="0"/>
          </a:p>
        </p:txBody>
      </p:sp>
      <p:sp>
        <p:nvSpPr>
          <p:cNvPr id="14" name="swipe tesl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tesl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際立った成果には、その場で出せるスポット賞与を用意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1/7 採用基準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学歴は見ない。「並外れた能力の証拠」で採る</a:t>
            </a:r>
            <a:endParaRPr lang="en-US" sz="3000" dirty="0"/>
          </a:p>
        </p:txBody>
      </p:sp>
      <p:sp>
        <p:nvSpPr>
          <p:cNvPr id="4" name="tesla hire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hire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tesl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採用基準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採用基準は？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学歴不問。「高卒資格も不要」とマスク氏が発言（2014年・2019年）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求めるのは学位ではなく「並外れた能力の証拠」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面接では「これまで解いた最も難しい問題」を語らせる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細部まで深掘りし、本当に本人がやった仕事かを確かめる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※実際の求人票には、今も学位要件が残る職種もある</a:t>
            </a:r>
            <a:endParaRPr lang="en-US" sz="1600" dirty="0"/>
          </a:p>
        </p:txBody>
      </p:sp>
      <p:sp>
        <p:nvSpPr>
          <p:cNvPr id="9" name="tesla hire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hire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資格・経歴より「成果を出した証拠」を面接で聞く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「一番難しかった症例」を話してもらい、細部まで深掘りする</a:t>
            </a:r>
            <a:endParaRPr lang="en-US" sz="1400" dirty="0"/>
          </a:p>
        </p:txBody>
      </p:sp>
      <p:sp>
        <p:nvSpPr>
          <p:cNvPr id="13" name="tesla hire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hire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hire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「並外れた能力」はどの質問で見極めていますか？不採用にした具体例も教えてください</a:t>
            </a:r>
            <a:endParaRPr lang="en-US" sz="1200" dirty="0"/>
          </a:p>
        </p:txBody>
      </p:sp>
      <p:sp>
        <p:nvSpPr>
          <p:cNvPr id="18" name="pill tesla hire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hire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hire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hire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hire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hire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hire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2/7 入社後の教育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規則集は渡さない。行動基準だけ伝えて現場へ</a:t>
            </a:r>
            <a:endParaRPr lang="en-US" sz="3000" dirty="0"/>
          </a:p>
        </p:txBody>
      </p:sp>
      <p:sp>
        <p:nvSpPr>
          <p:cNvPr id="4" name="tesla onboard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onboard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tesla onboa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入社後の教育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最初、入職してから教育をどうするか？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専任チームが新入社員オリエンテーション（NHO）を運営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入館証・IT設定・初日の段取りまで専任チームが準備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初日は全体説明と講話、その後すぐ現場に配属（※体験談ベース）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分厚い規則集の代わりに、約4ページの「Anti-Handbook Handbook」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伝えるのは細かいルールではなく「どう行動するか」の基準</a:t>
            </a:r>
            <a:endParaRPr lang="en-US" sz="1600" dirty="0"/>
          </a:p>
        </p:txBody>
      </p:sp>
      <p:sp>
        <p:nvSpPr>
          <p:cNvPr id="9" name="tesla onboard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onboard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就業規則とは別に、2〜4ページの「行動基準」を作り初日に渡す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初日の段取り（備品・アカウント・同行者）を事前に準備</a:t>
            </a:r>
            <a:endParaRPr lang="en-US" sz="1400" dirty="0"/>
          </a:p>
        </p:txBody>
      </p:sp>
      <p:sp>
        <p:nvSpPr>
          <p:cNvPr id="13" name="tesla onboard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onboard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onboard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入社後30日でやることは何ですか？独り立ちは何で判定していますか？</a:t>
            </a:r>
            <a:endParaRPr lang="en-US" sz="1200" dirty="0"/>
          </a:p>
        </p:txBody>
      </p:sp>
      <p:sp>
        <p:nvSpPr>
          <p:cNvPr id="18" name="pill tesla onboard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onboard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onboard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onboard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onboard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onboard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onboard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3/7 成果を出す仕組み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細かいルールを作らず、全員に改善を求める</a:t>
            </a:r>
            <a:endParaRPr lang="en-US" sz="3000" dirty="0"/>
          </a:p>
        </p:txBody>
      </p:sp>
      <p:sp>
        <p:nvSpPr>
          <p:cNvPr id="4" name="tesla develop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develop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tesla develo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成果を出す仕組み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成果を出すためにやっている教育・仕組みは？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Tesla START：提携大学で最長12週の技術者養成。修了生を採用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「規則は最低ラインを示すだけ」。細則は作らない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自分の担当外でも、改善提案をすることを求める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大人数の会議は廃止。価値がなければ途中退席OK（2018年メール）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社内略語は禁止。上の役職ほど現場に姿を見せる</a:t>
            </a:r>
            <a:endParaRPr lang="en-US" sz="1600" dirty="0"/>
          </a:p>
        </p:txBody>
      </p:sp>
      <p:sp>
        <p:nvSpPr>
          <p:cNvPr id="9" name="tesla develop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develop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養成校と組んで「実習 → 採用」の流れを作る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会議は少人数・短時間。役に立たない会議は退席してよい</a:t>
            </a:r>
            <a:endParaRPr lang="en-US" sz="1400" dirty="0"/>
          </a:p>
        </p:txBody>
      </p:sp>
      <p:sp>
        <p:nvSpPr>
          <p:cNvPr id="13" name="tesla develop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develop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develop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STARTの修了生は、入社1年後に中途社員と比べて生産性がどう違いますか？</a:t>
            </a:r>
            <a:endParaRPr lang="en-US" sz="1200" dirty="0"/>
          </a:p>
        </p:txBody>
      </p:sp>
      <p:sp>
        <p:nvSpPr>
          <p:cNvPr id="18" name="pill tesla develop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develop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develop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develop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develop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develop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develop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4/7 評価システム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半年ごとに1〜5。「結果」と「やり方」の2軸</a:t>
            </a:r>
            <a:endParaRPr lang="en-US" sz="3000" dirty="0"/>
          </a:p>
        </p:txBody>
      </p:sp>
      <p:sp>
        <p:nvSpPr>
          <p:cNvPr id="4" name="tesla eval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eval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esl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評価システム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評価されるには何が項目としてあるか？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半年ごとに1〜5の評点をつける（2023年の同社声明）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評価軸は「結果」と「どう達成したか」の2つ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低評価者は退職。2017年に約400〜700人が評価を理由に退職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無断欠勤や手抜き仕事は、1回で信頼を失う扱い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※評価の周期はこの10年で何度か変わっている</a:t>
            </a:r>
            <a:endParaRPr lang="en-US" sz="1600" dirty="0"/>
          </a:p>
        </p:txBody>
      </p:sp>
      <p:sp>
        <p:nvSpPr>
          <p:cNvPr id="9" name="tesla eval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eval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半年ごとに1〜5で評価。結果（売上・稼働率）とやり方の2軸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低評価が続いた時のルール（改善期間・面談）を先に決める</a:t>
            </a:r>
            <a:endParaRPr lang="en-US" sz="1400" dirty="0"/>
          </a:p>
        </p:txBody>
      </p:sp>
      <p:sp>
        <p:nvSpPr>
          <p:cNvPr id="13" name="tesla eval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eval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eval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1〜5評価の基準は何ですか？数値と行動の配分はどうなっていますか？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何をしたら高く評価され、何をしたら評価されないのですか？現場の例で教えてください</a:t>
            </a:r>
            <a:endParaRPr lang="en-US" sz="1200" dirty="0"/>
          </a:p>
        </p:txBody>
      </p:sp>
      <p:sp>
        <p:nvSpPr>
          <p:cNvPr id="18" name="pill tesla eval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eval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eval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eval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eval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eval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eval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5/7 組織構造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指揮系統を飛ばして、誰とでも直接話してよい</a:t>
            </a:r>
            <a:endParaRPr lang="en-US" sz="3000" dirty="0"/>
          </a:p>
        </p:txBody>
      </p:sp>
      <p:sp>
        <p:nvSpPr>
          <p:cNvPr id="4" name="tesla org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org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tesla or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組織構造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成果を出すために組織構造はどうなっているか？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上司を通さず「最短経路」で誰とでも話してよい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それを妨げる管理職は、会社を去ることになる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階層はあるが、全体の利益になるなら飛び越えてよい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上の役職ほど現場にいることを求める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※2024年の10%超の人員削減で、管理階層もスリム化と報道</a:t>
            </a:r>
            <a:endParaRPr lang="en-US" sz="1600" dirty="0"/>
          </a:p>
        </p:txBody>
      </p:sp>
      <p:sp>
        <p:nvSpPr>
          <p:cNvPr id="9" name="tesla org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org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「誰にでも直接相談してよい」を行動基準に明記する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経営層・管理職は週に一度は現場に出る</a:t>
            </a:r>
            <a:endParaRPr lang="en-US" sz="1400" dirty="0"/>
          </a:p>
        </p:txBody>
      </p:sp>
      <p:sp>
        <p:nvSpPr>
          <p:cNvPr id="13" name="tesla org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org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org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指揮系統を飛ばして相談された時、直属の上司にはどう共有していますか？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会議を減らした後、意思決定はどの場で、何日で行っていますか？</a:t>
            </a:r>
            <a:endParaRPr lang="en-US" sz="1200" dirty="0"/>
          </a:p>
        </p:txBody>
      </p:sp>
      <p:sp>
        <p:nvSpPr>
          <p:cNvPr id="18" name="pill tesla org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org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org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org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org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org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org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6/7 給与システム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基本給＋株式。際立った成果にはその場で報いる</a:t>
            </a:r>
            <a:endParaRPr lang="en-US" sz="3000" dirty="0"/>
          </a:p>
        </p:txBody>
      </p:sp>
      <p:sp>
        <p:nvSpPr>
          <p:cNvPr id="4" name="tesla pay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pay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tesla p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給与システム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給与はどう決まるのか？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報酬は基本給と株式が中心。現金賞与はほぼない（※自己申告データ）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株式は4年で付与。1年目に25%、以降は四半期ごと（※同上）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評価時に、昇給と業績連動の株式付与を決める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2023年は見送り、2024年に再開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際立った成果には、即時の「スポット株式付与」も導入</a:t>
            </a:r>
            <a:endParaRPr lang="en-US" sz="1600" dirty="0"/>
          </a:p>
        </p:txBody>
      </p:sp>
      <p:sp>
        <p:nvSpPr>
          <p:cNvPr id="9" name="tesla pay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tesla pay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評価（1〜5）と昇給率・賞与の対応表を作る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際立った成果に即日出せる「スポット賞与」の枠を用意</a:t>
            </a:r>
            <a:endParaRPr lang="en-US" sz="1400" dirty="0"/>
          </a:p>
        </p:txBody>
      </p:sp>
      <p:sp>
        <p:nvSpPr>
          <p:cNvPr id="13" name="tesla pay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tesla pay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tesla pay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評価点と昇給率・株式付与額の対応表はありますか？スポット付与の決裁者は誰ですか？</a:t>
            </a:r>
            <a:endParaRPr lang="en-US" sz="1200" dirty="0"/>
          </a:p>
        </p:txBody>
      </p:sp>
      <p:sp>
        <p:nvSpPr>
          <p:cNvPr id="18" name="pill tesla pay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tesla pay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tesla pay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tesla pay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tesla pay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tesla pay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tesla pay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7/7 退職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辞める人は早い。改善しなければ辞めてもらう</a:t>
            </a:r>
            <a:endParaRPr lang="en-US" sz="3000" dirty="0"/>
          </a:p>
        </p:txBody>
      </p:sp>
      <p:sp>
        <p:nvSpPr>
          <p:cNvPr id="4" name="tesla exit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tesla exit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tesla exi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退職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なぜ辞めるのか？ どんな時に辞めてもらうのか？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自ら辞める主な理由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在籍年数の中央値は約1.6年（2016年データ）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マスク氏直属の幹部は離職率 年約44%（2016年の推計）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長時間労働・高い要求水準による疲弊（※報道ベース）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出社義務化や急な人員削減など、急な方針転換への不満（※報道）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04622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会社が辞めてもらう条件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4622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米国はat-will雇用：理由がなくても原則いつでも解雇できる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評価後に数百人を解雇（2017年）、評価約6か月ごと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「事前に指摘しても改善しない」人を解雇（2023年・約4%）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週40時間出社しないと退職扱い（2022年メール）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2024年に10%超を削減。退職金は約2か月分＋保険2か月</a:t>
            </a:r>
            <a:endParaRPr lang="en-US" sz="1300" dirty="0"/>
          </a:p>
        </p:txBody>
      </p:sp>
      <p:sp>
        <p:nvSpPr>
          <p:cNvPr id="12" name="tesla exit divider"/>
          <p:cNvSpPr/>
          <p:nvPr/>
        </p:nvSpPr>
        <p:spPr>
          <a:xfrm>
            <a:off x="3909060" y="2743200"/>
            <a:ext cx="0" cy="3017520"/>
          </a:xfrm>
          <a:prstGeom prst="line">
            <a:avLst/>
          </a:prstGeom>
          <a:noFill/>
          <a:ln w="9525">
            <a:solidFill>
              <a:srgbClr val="8C93A6"/>
            </a:solidFill>
            <a:prstDash val="solid"/>
          </a:ln>
        </p:spPr>
      </p:sp>
      <p:sp>
        <p:nvSpPr>
          <p:cNvPr id="13" name="tesla exit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4" name="tesla exit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評価後すぐ面談し、改善点と期限（例：3か月）を書面に残す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出社などの基本ルールを就業規則に明記し、例外は個別に面談</a:t>
            </a:r>
            <a:endParaRPr lang="en-US" sz="1400" dirty="0"/>
          </a:p>
        </p:txBody>
      </p:sp>
      <p:sp>
        <p:nvSpPr>
          <p:cNvPr id="17" name="tesla exit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8" name="tesla exit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tesla exit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改善指導の期間は何か月？改善できたと判断する基準と、実際に改善した人の割合は？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人員削減や出社義務化の後、優秀な人の流出をどう防ぎましたか？</a:t>
            </a:r>
            <a:endParaRPr lang="en-US" sz="1200" dirty="0"/>
          </a:p>
        </p:txBody>
      </p:sp>
      <p:sp>
        <p:nvSpPr>
          <p:cNvPr id="22" name="pill tesla exit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4" name="pill tesla exit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6" name="pill tesla exit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8" name="pill tesla exit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30" name="pill tesla exit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32" name="pill tesla exit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4" name="pill tesla exit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Tesla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Teslaに聞くべき質問 10選</a:t>
            </a:r>
            <a:endParaRPr lang="en-US" sz="3000" dirty="0"/>
          </a:p>
        </p:txBody>
      </p:sp>
      <p:sp>
        <p:nvSpPr>
          <p:cNvPr id="4" name="qtag tesl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「並外れた能力」はどの質問で見極めていますか？不採用にした具体例も教えてください</a:t>
            </a:r>
            <a:endParaRPr lang="en-US" sz="1400" dirty="0"/>
          </a:p>
        </p:txBody>
      </p:sp>
      <p:sp>
        <p:nvSpPr>
          <p:cNvPr id="7" name="qtag tesl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入社後30日でやることは何ですか？独り立ちは何で判定していますか？</a:t>
            </a:r>
            <a:endParaRPr lang="en-US" sz="1400" dirty="0"/>
          </a:p>
        </p:txBody>
      </p:sp>
      <p:sp>
        <p:nvSpPr>
          <p:cNvPr id="10" name="qtag tesl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STARTの修了生は、入社1年後に中途社員と比べて生産性がどう違いますか？</a:t>
            </a:r>
            <a:endParaRPr lang="en-US" sz="1400" dirty="0"/>
          </a:p>
        </p:txBody>
      </p:sp>
      <p:sp>
        <p:nvSpPr>
          <p:cNvPr id="13" name="qtag tesl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1〜5評価の基準は何ですか？数値と行動の配分はどうなっていますか？</a:t>
            </a:r>
            <a:endParaRPr lang="en-US" sz="1400" dirty="0"/>
          </a:p>
        </p:txBody>
      </p:sp>
      <p:sp>
        <p:nvSpPr>
          <p:cNvPr id="16" name="qtag tesl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何をしたら高く評価され、何をしたら評価されないのですか？現場の例で教えてください</a:t>
            </a:r>
            <a:endParaRPr lang="en-US" sz="1400" dirty="0"/>
          </a:p>
        </p:txBody>
      </p:sp>
      <p:sp>
        <p:nvSpPr>
          <p:cNvPr id="19" name="qtag tesl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評価は誰が付け、どう調整していますか？本人へのフィードバックは何回ですか？</a:t>
            </a:r>
            <a:endParaRPr lang="en-US" sz="1400" dirty="0"/>
          </a:p>
        </p:txBody>
      </p:sp>
      <p:sp>
        <p:nvSpPr>
          <p:cNvPr id="22" name="qtag tesl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指揮系統を飛ばして相談された時、直属の上司にはどう共有していますか？</a:t>
            </a:r>
            <a:endParaRPr lang="en-US" sz="1400" dirty="0"/>
          </a:p>
        </p:txBody>
      </p:sp>
      <p:sp>
        <p:nvSpPr>
          <p:cNvPr id="25" name="qtag tesl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会議を減らした後、意思決定はどの場で、何日で行っていますか？</a:t>
            </a:r>
            <a:endParaRPr lang="en-US" sz="1400" dirty="0"/>
          </a:p>
        </p:txBody>
      </p:sp>
      <p:sp>
        <p:nvSpPr>
          <p:cNvPr id="28" name="qtag tesl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評価点と昇給率・株式付与額の対応表はありますか？スポット付与の決裁者は誰ですか？</a:t>
            </a:r>
            <a:endParaRPr lang="en-US" sz="1400" dirty="0"/>
          </a:p>
        </p:txBody>
      </p:sp>
      <p:sp>
        <p:nvSpPr>
          <p:cNvPr id="31" name="qtag tesl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上司1人あたりの部下は何人ですか？チームの成果指標は何ですか？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2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Google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人事をデータで科学する会社</a:t>
            </a:r>
            <a:endParaRPr lang="en-US" sz="2000" dirty="0"/>
          </a:p>
        </p:txBody>
      </p:sp>
      <p:sp>
        <p:nvSpPr>
          <p:cNvPr id="5" name="div google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iv goog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google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googl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構造化面接：全員に同じ質問・同じ採点基準</a:t>
            </a:r>
            <a:endParaRPr lang="en-US" sz="1400" dirty="0"/>
          </a:p>
        </p:txBody>
      </p:sp>
      <p:sp>
        <p:nvSpPr>
          <p:cNvPr id="11" name="swipe google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googl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入社前日、上司に「5項目チェックリスト」を送る</a:t>
            </a:r>
            <a:endParaRPr lang="en-US" sz="1400" dirty="0"/>
          </a:p>
        </p:txBody>
      </p:sp>
      <p:sp>
        <p:nvSpPr>
          <p:cNvPr id="14" name="swipe google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googl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成果5段階 × 賞与倍率で、報酬に差をつける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1/7 採用基準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専門スキルより「学ぶ力」。全員に同じ質問で採る</a:t>
            </a:r>
            <a:endParaRPr lang="en-US" sz="3000" dirty="0"/>
          </a:p>
        </p:txBody>
      </p:sp>
      <p:sp>
        <p:nvSpPr>
          <p:cNvPr id="4" name="google hire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hire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google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採用基準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採用基準は？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評価軸は4つ：学習力・リーダーシップ・Googleらしさ・職務知識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最も重視するのは「学ぶ力」。専門スキルの優先度は最も低い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構造化面接：全員に同じ質問をし、同じ基準で採点する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過去の行動を聞く面接と、仮の場面を聞く面接を組み合わせる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合否は面接官ではなく、採用委員会が判断する</a:t>
            </a:r>
            <a:endParaRPr lang="en-US" sz="1600" dirty="0"/>
          </a:p>
        </p:txBody>
      </p:sp>
      <p:sp>
        <p:nvSpPr>
          <p:cNvPr id="9" name="google hire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hire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面接の質問と採点表を統一し、誰が面接しても同じ基準に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合否は1人で決めず、複数人で判断する</a:t>
            </a:r>
            <a:endParaRPr lang="en-US" sz="1400" dirty="0"/>
          </a:p>
        </p:txBody>
      </p:sp>
      <p:sp>
        <p:nvSpPr>
          <p:cNvPr id="13" name="google hire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hire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hire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職務知識より「学習力」を見抜くために使う質問の例を教えてください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面接官の評価がぶれないよう、どんな訓練と仕組みがありますか？</a:t>
            </a:r>
            <a:endParaRPr lang="en-US" sz="1200" dirty="0"/>
          </a:p>
        </p:txBody>
      </p:sp>
      <p:sp>
        <p:nvSpPr>
          <p:cNvPr id="18" name="pill google hire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hire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hire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hire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hire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hire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hire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2/7 入社後の教育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入社前日、上司に「5項目チェックリスト」を送る</a:t>
            </a:r>
            <a:endParaRPr lang="en-US" sz="3000" dirty="0"/>
          </a:p>
        </p:txBody>
      </p:sp>
      <p:sp>
        <p:nvSpPr>
          <p:cNvPr id="4" name="google onboard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onboard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google onboa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入社後の教育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最初、入職してから教育をどうするか？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新入社員は「Noogler」と呼ばれ、オリエンテーションを受ける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入社前日に、上司へチェックリストをメールで送る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① 役割を説明 ② バディをつける ③ 人脈づくりを手伝う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④ 半年間、毎月面談する ⑤ 率直な対話を促す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この仕組みで、一人前になるまでの期間が約25%短縮</a:t>
            </a:r>
            <a:endParaRPr lang="en-US" sz="1600" dirty="0"/>
          </a:p>
        </p:txBody>
      </p:sp>
      <p:sp>
        <p:nvSpPr>
          <p:cNvPr id="9" name="google onboard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onboard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入社前日に上司へ「5項目チェックリスト」を送る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新人全員にバディ（先輩）をつけ、半年間は毎月面談</a:t>
            </a:r>
            <a:endParaRPr lang="en-US" sz="1400" dirty="0"/>
          </a:p>
        </p:txBody>
      </p:sp>
      <p:sp>
        <p:nvSpPr>
          <p:cNvPr id="13" name="google onboard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onboard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onboard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入社90日で一人前にするために、上司は週ごとに何をしますか？</a:t>
            </a:r>
            <a:endParaRPr lang="en-US" sz="1200" dirty="0"/>
          </a:p>
        </p:txBody>
      </p:sp>
      <p:sp>
        <p:nvSpPr>
          <p:cNvPr id="18" name="pill google onboard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onboard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onboard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onboard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onboard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onboard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onboard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3/7 成果を出す仕組み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目標を全社に公開し、社員同士が教え合う</a:t>
            </a:r>
            <a:endParaRPr lang="en-US" sz="3000" dirty="0"/>
          </a:p>
        </p:txBody>
      </p:sp>
      <p:sp>
        <p:nvSpPr>
          <p:cNvPr id="4" name="google develop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develop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google develo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成果を出す仕組み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成果を出すためにやっている教育・仕組みは？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OKR：四半期ごとに目標を立てて全社に公開。達成度0.7が健全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g2g：社員が講師になり、社員同士で教え合う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Oxygen：良い上司の8つの行動を特定し、研修と評価に使う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Aristotle：成果を出すチームの第一条件は「心理的安全性」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※有名な「20%ルール」は、現在ほぼ形骸化との報道が多い</a:t>
            </a:r>
            <a:endParaRPr lang="en-US" sz="1600" dirty="0"/>
          </a:p>
        </p:txBody>
      </p:sp>
      <p:sp>
        <p:nvSpPr>
          <p:cNvPr id="9" name="google develop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develop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四半期の目標を全員が公開し、月1回進捗を共有する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療法士同士の症例勉強会を月1回、社員が講師を担う</a:t>
            </a:r>
            <a:endParaRPr lang="en-US" sz="1400" dirty="0"/>
          </a:p>
        </p:txBody>
      </p:sp>
      <p:sp>
        <p:nvSpPr>
          <p:cNvPr id="13" name="google develop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develop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develop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OKRは個人の評価と連動していますか？連動させない理由は何ですか？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社員講師（g2g）への報酬は？学び合いの時間はどう確保していますか？</a:t>
            </a:r>
            <a:endParaRPr lang="en-US" sz="1200" dirty="0"/>
          </a:p>
        </p:txBody>
      </p:sp>
      <p:sp>
        <p:nvSpPr>
          <p:cNvPr id="18" name="pill google develop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develop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develop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develop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develop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develop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develop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4/7 評価システム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評価するのは「インパクト（成果）」— 5段階で</a:t>
            </a:r>
            <a:endParaRPr lang="en-US" sz="3000" dirty="0"/>
          </a:p>
        </p:txBody>
      </p:sp>
      <p:sp>
        <p:nvSpPr>
          <p:cNvPr id="4" name="google eval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eval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oogle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評価システム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評価されるには何が項目としてあるか？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評価制度「GRAD」（2022年〜）：年1回の評価＋随時の面談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随時の面談のうち1回は、キャリアについての面談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5段階：Not Enough／Moderate／Significant／Outstanding／Transformative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評価するのは「インパクト（成果）」。多くの社員はSignificant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昇進は上司主導に変更。昇進の申請は年2回できる</a:t>
            </a:r>
            <a:endParaRPr lang="en-US" sz="1600" dirty="0"/>
          </a:p>
        </p:txBody>
      </p:sp>
      <p:sp>
        <p:nvSpPr>
          <p:cNvPr id="9" name="google eval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eval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「成果」の定義を数字で決める（売上・稼働率・患者の改善）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年1回の評価＋随時の面談。うち1回はキャリアの話</a:t>
            </a:r>
            <a:endParaRPr lang="en-US" sz="1400" dirty="0"/>
          </a:p>
        </p:txBody>
      </p:sp>
      <p:sp>
        <p:nvSpPr>
          <p:cNvPr id="13" name="google eval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eval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eval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最高評価と最低評価を分けた行動は？何をしたら評価され、何をしたら評価されないか実例で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努力は大きかったが成果が出なかった人は、どう評価しますか？</a:t>
            </a:r>
            <a:endParaRPr lang="en-US" sz="1200" dirty="0"/>
          </a:p>
        </p:txBody>
      </p:sp>
      <p:sp>
        <p:nvSpPr>
          <p:cNvPr id="18" name="pill google eval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eval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eval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eval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eval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eval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eval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5/7 組織構造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小さな自律チーム。上司の役割は「コーチ」</a:t>
            </a:r>
            <a:endParaRPr lang="en-US" sz="3000" dirty="0"/>
          </a:p>
        </p:txBody>
      </p:sp>
      <p:sp>
        <p:nvSpPr>
          <p:cNvPr id="4" name="google org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org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google or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組織構造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成果を出すために組織構造はどうなっているか？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小さな自律チームが基本。OKRで全社の方向をそろえる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2025年、部下3人未満の小チームのマネージャーを35%削減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上司の役割は管理ではなく「コーチ」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部下アンケートで、上司も評価される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People Analytics部門が、人事の判断をデータで検証する</a:t>
            </a:r>
            <a:endParaRPr lang="en-US" sz="1600" dirty="0"/>
          </a:p>
        </p:txBody>
      </p:sp>
      <p:sp>
        <p:nvSpPr>
          <p:cNvPr id="9" name="google org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org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上司の役割を「コーチ」と定義し、良い上司の行動を明文化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年2回、部下が上司を評価するアンケートを取る</a:t>
            </a:r>
            <a:endParaRPr lang="en-US" sz="1400" dirty="0"/>
          </a:p>
        </p:txBody>
      </p:sp>
      <p:sp>
        <p:nvSpPr>
          <p:cNvPr id="13" name="google org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org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org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上司1人が持つ部下の上限と、上司自身の評価項目は何ですか？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その制度で生産性が上がったことを、どの指標で検証しましたか？</a:t>
            </a:r>
            <a:endParaRPr lang="en-US" sz="1200" dirty="0"/>
          </a:p>
        </p:txBody>
      </p:sp>
      <p:sp>
        <p:nvSpPr>
          <p:cNvPr id="18" name="pill google org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org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org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org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org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org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org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6/7 給与システム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同じ職務でも、成果しだいで報酬に大きく差をつける</a:t>
            </a:r>
            <a:endParaRPr lang="en-US" sz="3000" dirty="0"/>
          </a:p>
        </p:txBody>
      </p:sp>
      <p:sp>
        <p:nvSpPr>
          <p:cNvPr id="4" name="google pay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pay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google p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給与システム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給与はどう決まるのか？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報酬＝基本給＋賞与＋株式。等級と市場水準で決まる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株式は4年かけて権利が確定する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2026年から、高評価ほど賞与・株式の倍率が上がる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総額は据え置き、上位の配分を増やし中位の倍率を下げた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「同じ職務でも成果次第で報酬が大きく違ってよい」（『ワーク・ルールズ!』）</a:t>
            </a:r>
            <a:endParaRPr lang="en-US" sz="1600" dirty="0"/>
          </a:p>
        </p:txBody>
      </p:sp>
      <p:sp>
        <p:nvSpPr>
          <p:cNvPr id="9" name="google pay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google pay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賞与に「評価倍率」を導入（例：上位150%・中位100%・下位50%）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等級ごとの給与レンジを決め、市場相場を毎年確認</a:t>
            </a:r>
            <a:endParaRPr lang="en-US" sz="1400" dirty="0"/>
          </a:p>
        </p:txBody>
      </p:sp>
      <p:sp>
        <p:nvSpPr>
          <p:cNvPr id="13" name="google pay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oogle pay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oogle pay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評価ごとの賞与倍率の差はどの程度ですか？昇進と昇給はどう分けていますか？</a:t>
            </a:r>
            <a:endParaRPr lang="en-US" sz="1200" dirty="0"/>
          </a:p>
        </p:txBody>
      </p:sp>
      <p:sp>
        <p:nvSpPr>
          <p:cNvPr id="18" name="pill google pay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google pay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google pay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google pay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google pay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google pay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google pay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7/7 退職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辞める理由は「昇進と成長」。低評価には改善面談</a:t>
            </a:r>
            <a:endParaRPr lang="en-US" sz="3000" dirty="0"/>
          </a:p>
        </p:txBody>
      </p:sp>
      <p:sp>
        <p:nvSpPr>
          <p:cNvPr id="4" name="google exit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google exit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google exi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退職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なぜ辞めるのか？ どんな時に辞めてもらうのか？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自ら辞める主な理由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在籍期間の中央値は1.1年（2013年データ）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昇進が遅い。他社にシニア職で移る方が早い（※匿名の声）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官僚化、上司や育成の質への不満（※2009年の退職者の声）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人事データ分析で「能力が活かされていない」人ほど辞めやすいと判明（※報道）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04622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会社が辞めてもらう条件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4622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米国はat-will雇用。米国外は現地の法律と慣行に沿う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最低評価「Not Enough Impact」は事実上の改善計画とも（※）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低評価の比率を約6%に増やす指示との報道（※会社は否定的）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2023年に約12,000人削減。退職金は16週＋勤続1年ごと2週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2025年から部署ごとに自主退職プログラム（例：14週＋1年ごと1週）</a:t>
            </a:r>
            <a:endParaRPr lang="en-US" sz="1300" dirty="0"/>
          </a:p>
        </p:txBody>
      </p:sp>
      <p:sp>
        <p:nvSpPr>
          <p:cNvPr id="12" name="google exit divider"/>
          <p:cNvSpPr/>
          <p:nvPr/>
        </p:nvSpPr>
        <p:spPr>
          <a:xfrm>
            <a:off x="3909060" y="2743200"/>
            <a:ext cx="0" cy="3017520"/>
          </a:xfrm>
          <a:prstGeom prst="line">
            <a:avLst/>
          </a:prstGeom>
          <a:noFill/>
          <a:ln w="9525">
            <a:solidFill>
              <a:srgbClr val="8C93A6"/>
            </a:solidFill>
            <a:prstDash val="solid"/>
          </a:ln>
        </p:spPr>
      </p:sp>
      <p:sp>
        <p:nvSpPr>
          <p:cNvPr id="13" name="google exit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4" name="google exit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低評価をつける前に「サポート面談」で改善の期限を一緒に決める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1on1で「能力が活かされているか・昇進が見えるか」を定期確認</a:t>
            </a:r>
            <a:endParaRPr lang="en-US" sz="1400" dirty="0"/>
          </a:p>
        </p:txBody>
      </p:sp>
      <p:sp>
        <p:nvSpPr>
          <p:cNvPr id="17" name="google exit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8" name="google exit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google exit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最低評価がついた人のうち、改善した人・退職した人はそれぞれ何割？上司はどう支援する？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自主退職プログラムで、残ってほしい人まで辞めるのをどう防いでいますか？</a:t>
            </a:r>
            <a:endParaRPr lang="en-US" sz="1200" dirty="0"/>
          </a:p>
        </p:txBody>
      </p:sp>
      <p:sp>
        <p:nvSpPr>
          <p:cNvPr id="22" name="pill google exit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4" name="pill google exit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6" name="pill google exit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8" name="pill google exit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30" name="pill google exit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32" name="pill google exit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4" name="pill google exit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Google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Googleに聞くべき質問 10選</a:t>
            </a:r>
            <a:endParaRPr lang="en-US" sz="3000" dirty="0"/>
          </a:p>
        </p:txBody>
      </p:sp>
      <p:sp>
        <p:nvSpPr>
          <p:cNvPr id="4" name="qtag google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最高評価と最低評価を分けた行動は？何をしたら評価され、何をしたら評価されないか実例で</a:t>
            </a:r>
            <a:endParaRPr lang="en-US" sz="1400" dirty="0"/>
          </a:p>
        </p:txBody>
      </p:sp>
      <p:sp>
        <p:nvSpPr>
          <p:cNvPr id="7" name="qtag google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努力は大きかったが成果が出なかった人は、どう評価しますか？</a:t>
            </a:r>
            <a:endParaRPr lang="en-US" sz="1400" dirty="0"/>
          </a:p>
        </p:txBody>
      </p:sp>
      <p:sp>
        <p:nvSpPr>
          <p:cNvPr id="10" name="qtag google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職務知識より「学習力」を見抜くために使う質問の例を教えてください</a:t>
            </a:r>
            <a:endParaRPr lang="en-US" sz="1400" dirty="0"/>
          </a:p>
        </p:txBody>
      </p:sp>
      <p:sp>
        <p:nvSpPr>
          <p:cNvPr id="13" name="qtag google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面接官の評価がぶれないよう、どんな訓練と仕組みがありますか？</a:t>
            </a:r>
            <a:endParaRPr lang="en-US" sz="1400" dirty="0"/>
          </a:p>
        </p:txBody>
      </p:sp>
      <p:sp>
        <p:nvSpPr>
          <p:cNvPr id="16" name="qtag google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入社90日で一人前にするために、上司は週ごとに何をしますか？</a:t>
            </a:r>
            <a:endParaRPr lang="en-US" sz="1400" dirty="0"/>
          </a:p>
        </p:txBody>
      </p:sp>
      <p:sp>
        <p:nvSpPr>
          <p:cNvPr id="19" name="qtag google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OKRは個人の評価と連動していますか？連動させない理由は何ですか？</a:t>
            </a:r>
            <a:endParaRPr lang="en-US" sz="1400" dirty="0"/>
          </a:p>
        </p:txBody>
      </p:sp>
      <p:sp>
        <p:nvSpPr>
          <p:cNvPr id="22" name="qtag google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社員講師（g2g）への報酬は？学び合いの時間はどう確保していますか？</a:t>
            </a:r>
            <a:endParaRPr lang="en-US" sz="1400" dirty="0"/>
          </a:p>
        </p:txBody>
      </p:sp>
      <p:sp>
        <p:nvSpPr>
          <p:cNvPr id="25" name="qtag google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上司1人が持つ部下の上限と、上司自身の評価項目は何ですか？</a:t>
            </a:r>
            <a:endParaRPr lang="en-US" sz="1400" dirty="0"/>
          </a:p>
        </p:txBody>
      </p:sp>
      <p:sp>
        <p:nvSpPr>
          <p:cNvPr id="28" name="qtag google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評価ごとの賞与倍率の差はどの程度ですか？昇進と昇給はどう分けていますか？</a:t>
            </a:r>
            <a:endParaRPr lang="en-US" sz="1400" dirty="0"/>
          </a:p>
        </p:txBody>
      </p:sp>
      <p:sp>
        <p:nvSpPr>
          <p:cNvPr id="31" name="qtag google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その制度で生産性が上がったことを、どの指標で検証しましたか？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3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NASA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使命感と「振り返り」で、失敗できない仕事をやり切る</a:t>
            </a:r>
            <a:endParaRPr lang="en-US" sz="2000" dirty="0"/>
          </a:p>
        </p:txBody>
      </p:sp>
      <p:sp>
        <p:nvSpPr>
          <p:cNvPr id="5" name="div nas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div nas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nas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nas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上位1%の表彰を、同僚の前で手渡しする</a:t>
            </a:r>
            <a:endParaRPr lang="en-US" sz="1400" dirty="0"/>
          </a:p>
        </p:txBody>
      </p:sp>
      <p:sp>
        <p:nvSpPr>
          <p:cNvPr id="11" name="swipe nas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nas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案件の節目ごとに15分の「振り返り」を定例化</a:t>
            </a:r>
            <a:endParaRPr lang="en-US" sz="1400" dirty="0"/>
          </a:p>
        </p:txBody>
      </p:sp>
      <p:sp>
        <p:nvSpPr>
          <p:cNvPr id="14" name="swipe nas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nas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年3回の評価面談＋「異論を歓迎する」ルール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要件で採り、振り返りと教訓の共有で育てる</a:t>
            </a:r>
            <a:endParaRPr lang="en-US" sz="3000" dirty="0"/>
          </a:p>
        </p:txBody>
      </p:sp>
      <p:sp>
        <p:nvSpPr>
          <p:cNvPr id="4" name="nasa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nasa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nas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一般職員は公募（USAJOBS）。職務要件と経験で適格審査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2025年から政府共通の採用計画。短文エッセイ4問（任意）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宇宙飛行士：STEM修士相当＋実務3年 or 飛行1,000時間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2025年組は8,000人超から10人。約2年訓練する</a:t>
            </a:r>
            <a:endParaRPr lang="en-US" sz="1400" dirty="0"/>
          </a:p>
        </p:txBody>
      </p:sp>
      <p:sp>
        <p:nvSpPr>
          <p:cNvPr id="9" name="nasa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nasa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nasa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新人に経験者のスポンサー・メンターを付ける（※古い資料）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入庁1〜3年目向けに全体像を学ぶワークショップ（2022年試行）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若手リーダー育成「NASA FIRST」（※現状は要確認）</a:t>
            </a:r>
            <a:endParaRPr lang="en-US" sz="1400" dirty="0"/>
          </a:p>
        </p:txBody>
      </p:sp>
      <p:sp>
        <p:nvSpPr>
          <p:cNvPr id="14" name="nasa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nasa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nasa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APPEL：プロジェクト管理・技術者の研修機関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Pause and Learn：節目の直後にチームで振り返る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教訓データベース（LLIS）を計画段階で必ず確認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事故の教訓から「データがなくても異論を出せる」経路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年3回の面談、マトリクス組織、等級×号俸の給与</a:t>
            </a:r>
            <a:endParaRPr lang="en-US" sz="3000" dirty="0"/>
          </a:p>
        </p:txBody>
      </p:sp>
      <p:sp>
        <p:nvSpPr>
          <p:cNvPr id="4" name="nasa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nasa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as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評価期間は毎年5/1〜4/30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面談は年3回以上：期初の計画・中間・期末の評定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要素ごとに3段階、総合は4段階で評定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1要素でも最低なら総合も最低（※詳細は要確認）</a:t>
            </a:r>
            <a:endParaRPr lang="en-US" sz="1400" dirty="0"/>
          </a:p>
        </p:txBody>
      </p:sp>
      <p:sp>
        <p:nvSpPr>
          <p:cNvPr id="9" name="nasa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nasa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nasa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本部の下に5つのミッション本部＋支援部門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10のセンター（Ames等）が実務。事業×人材のマトリクス型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技術・安全の判断は事業から独立した部門が持つ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2025年に約2割が自主退職（約1.8万→1.4万人）</a:t>
            </a:r>
            <a:endParaRPr lang="en-US" sz="1400" dirty="0"/>
          </a:p>
        </p:txBody>
      </p:sp>
      <p:sp>
        <p:nvSpPr>
          <p:cNvPr id="14" name="nasa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nasa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nasa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連邦職員共通のGS等級（1〜15）× 10号俸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号俸は1〜4号が毎年、以降2〜3年ごとに上がる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高評価には号俸の前倒しや賞与（※運用は要確認）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安全功労賞「Silver Snoopy」は全職員の1%以内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NASA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NASAに聞くべき質問 10選</a:t>
            </a:r>
            <a:endParaRPr lang="en-US" sz="3000" dirty="0"/>
          </a:p>
        </p:txBody>
      </p:sp>
      <p:sp>
        <p:nvSpPr>
          <p:cNvPr id="4" name="qtag nas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採用面接で、スキル以外に見る資質は何ですか？不採用にした典型例も教えてください</a:t>
            </a:r>
            <a:endParaRPr lang="en-US" sz="1400" dirty="0"/>
          </a:p>
        </p:txBody>
      </p:sp>
      <p:sp>
        <p:nvSpPr>
          <p:cNvPr id="7" name="qtag nas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入庁初日から90日間のメニューと、メンターの選び方を教えてください</a:t>
            </a:r>
            <a:endParaRPr lang="en-US" sz="1400" dirty="0"/>
          </a:p>
        </p:txBody>
      </p:sp>
      <p:sp>
        <p:nvSpPr>
          <p:cNvPr id="10" name="qtag nas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何をしたら最高評価がつき、何をしたら評価されないか、実例で教えてください</a:t>
            </a:r>
            <a:endParaRPr lang="en-US" sz="1400" dirty="0"/>
          </a:p>
        </p:txBody>
      </p:sp>
      <p:sp>
        <p:nvSpPr>
          <p:cNvPr id="13" name="qtag nas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中間レビューでは、上司と部下が具体的に何を話しますか？</a:t>
            </a:r>
            <a:endParaRPr lang="en-US" sz="1400" dirty="0"/>
          </a:p>
        </p:txBody>
      </p:sp>
      <p:sp>
        <p:nvSpPr>
          <p:cNvPr id="16" name="qtag nas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チームの成果と個人の評価は、どう配分していますか？</a:t>
            </a:r>
            <a:endParaRPr lang="en-US" sz="1400" dirty="0"/>
          </a:p>
        </p:txBody>
      </p:sp>
      <p:sp>
        <p:nvSpPr>
          <p:cNvPr id="19" name="qtag nas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「Pause and Learn」の進め方と所要時間を教えてください</a:t>
            </a:r>
            <a:endParaRPr lang="en-US" sz="1400" dirty="0"/>
          </a:p>
        </p:txBody>
      </p:sp>
      <p:sp>
        <p:nvSpPr>
          <p:cNvPr id="22" name="qtag nas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若手が上司に異論を出せた最近の例は？その人はどう扱われましたか？</a:t>
            </a:r>
            <a:endParaRPr lang="en-US" sz="1400" dirty="0"/>
          </a:p>
        </p:txBody>
      </p:sp>
      <p:sp>
        <p:nvSpPr>
          <p:cNvPr id="25" name="qtag nas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センターとミッション本部の両方に上司がいる場合、評価は誰がしますか？</a:t>
            </a:r>
            <a:endParaRPr lang="en-US" sz="1400" dirty="0"/>
          </a:p>
        </p:txBody>
      </p:sp>
      <p:sp>
        <p:nvSpPr>
          <p:cNvPr id="28" name="qtag nas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給与が民間より低い中で、優秀な人を引き留める工夫は何ですか？</a:t>
            </a:r>
            <a:endParaRPr lang="en-US" sz="1400" dirty="0"/>
          </a:p>
        </p:txBody>
      </p:sp>
      <p:sp>
        <p:nvSpPr>
          <p:cNvPr id="31" name="qtag nas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2割が退職した後、知識の流出をどう防いでいますか？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4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Meta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「何を変えたか（Impact）」で測る、徹底した成果主義</a:t>
            </a:r>
            <a:endParaRPr lang="en-US" sz="2000" dirty="0"/>
          </a:p>
        </p:txBody>
      </p:sp>
      <p:sp>
        <p:nvSpPr>
          <p:cNvPr id="5" name="div meta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div me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meta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met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評価軸を「Impact（何を変えたか）」に一本化</a:t>
            </a:r>
            <a:endParaRPr lang="en-US" sz="1400" dirty="0"/>
          </a:p>
        </p:txBody>
      </p:sp>
      <p:sp>
        <p:nvSpPr>
          <p:cNvPr id="11" name="swipe meta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met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上位20%・中位70%・下位10%を目安に校正会議</a:t>
            </a:r>
            <a:endParaRPr lang="en-US" sz="1400" dirty="0"/>
          </a:p>
        </p:txBody>
      </p:sp>
      <p:sp>
        <p:nvSpPr>
          <p:cNvPr id="14" name="swipe meta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m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上司1人に部下5〜10人。上司も現場を続ける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1/7 採用基準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6つの価値観と「AIを使いこなす力」で採る</a:t>
            </a:r>
            <a:endParaRPr lang="en-US" sz="3000" dirty="0"/>
          </a:p>
        </p:txBody>
      </p:sp>
      <p:sp>
        <p:nvSpPr>
          <p:cNvPr id="4" name="meta hire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hire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meta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採用基準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採用基準は？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6つのコアバリューへの適合を見る（Move fast、Be direct など）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技術職はコーディング・設計・行動面接の3本立て（※外部情報）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2025年から、AI使用OKのコーディング面接を試行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「AIを使いこなして成果を出せるか」も見る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2023年以降は採用数を絞り、5,000件の募集を取りやめた</a:t>
            </a:r>
            <a:endParaRPr lang="en-US" sz="1600" dirty="0"/>
          </a:p>
        </p:txBody>
      </p:sp>
      <p:sp>
        <p:nvSpPr>
          <p:cNvPr id="9" name="meta hire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hire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自社の価値観を3〜6個に絞り、面接で1つずつ確かめる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採用数を増やすより、基準に合う人だけを採る</a:t>
            </a:r>
            <a:endParaRPr lang="en-US" sz="1400" dirty="0"/>
          </a:p>
        </p:txBody>
      </p:sp>
      <p:sp>
        <p:nvSpPr>
          <p:cNvPr id="13" name="meta hire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hire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hire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採用面接で一番「不合格の決め手」になるのは、どんな言動ですか？</a:t>
            </a:r>
            <a:endParaRPr lang="en-US" sz="1200" dirty="0"/>
          </a:p>
        </p:txBody>
      </p:sp>
      <p:sp>
        <p:nvSpPr>
          <p:cNvPr id="18" name="pill meta hire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hire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hire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hire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hire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hire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hire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2/7 入社後の教育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数週間のBootcampで、初週から本番の仕事に触れる</a:t>
            </a:r>
            <a:endParaRPr lang="en-US" sz="3000" dirty="0"/>
          </a:p>
        </p:txBody>
      </p:sp>
      <p:sp>
        <p:nvSpPr>
          <p:cNvPr id="4" name="meta onboard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onboard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meta onboa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入社後の教育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最初、入職してから教育をどうするか？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技術職は数週間の「Bootcamp」で開発環境と文化を学ぶ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以前は研修中に、配属チームを自分で選べた（※2023年以降は変更）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初週から本番の仕事に触れ、小さな成果を出す文化（※体験談）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※Bootcampの詳細は、社員の体験談や外部ガイドによる</a:t>
            </a:r>
            <a:endParaRPr lang="en-US" sz="1600" dirty="0"/>
          </a:p>
        </p:txBody>
      </p:sp>
      <p:sp>
        <p:nvSpPr>
          <p:cNvPr id="9" name="meta onboard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onboard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入社1週目から、先輩と一緒に実際の施術・業務に入る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最初の1か月で「小さな成果」を出せるメニューを用意</a:t>
            </a:r>
            <a:endParaRPr lang="en-US" sz="1400" dirty="0"/>
          </a:p>
        </p:txBody>
      </p:sp>
      <p:sp>
        <p:nvSpPr>
          <p:cNvPr id="13" name="meta onboard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onboard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onboard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入社後90日で何ができれば「順調」と判断しますか？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Bootcampを縮小して、立ち上がりの速さは変わりましたか？</a:t>
            </a:r>
            <a:endParaRPr lang="en-US" sz="1200" dirty="0"/>
          </a:p>
        </p:txBody>
      </p:sp>
      <p:sp>
        <p:nvSpPr>
          <p:cNvPr id="18" name="pill meta onboard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onboard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onboard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onboard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onboard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onboard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onboard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3/7 成果を出す仕組み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共通言語は「Impact」— 何をしたかより何を変えたか</a:t>
            </a:r>
            <a:endParaRPr lang="en-US" sz="3000" dirty="0"/>
          </a:p>
        </p:txBody>
      </p:sp>
      <p:sp>
        <p:nvSpPr>
          <p:cNvPr id="4" name="meta develop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develop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meta develo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成果を出す仕組み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成果を出すためにやっている教育・仕組みは？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全社の共通言語は「Impact（事業への影響）」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問われるのは「何をしたか」ではなく「何を変えたか」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2025年11月、全職種に「AIを使った成果」を求める方針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評価ツール「Checkpoint」が成果の証拠を自動で集める（2026年〜）</a:t>
            </a:r>
            <a:endParaRPr lang="en-US" sz="1600" dirty="0"/>
          </a:p>
        </p:txBody>
      </p:sp>
      <p:sp>
        <p:nvSpPr>
          <p:cNvPr id="9" name="meta develop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develop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面談で「今月何を変えたか」を1行で書く習慣をつける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業務の効率化（AI・ツール活用）も評価の対象にする</a:t>
            </a:r>
            <a:endParaRPr lang="en-US" sz="1400" dirty="0"/>
          </a:p>
        </p:txBody>
      </p:sp>
      <p:sp>
        <p:nvSpPr>
          <p:cNvPr id="13" name="meta develop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develop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develop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AIの活用度を評価に入れて、生産性は数字でどれだけ上がりましたか？</a:t>
            </a:r>
            <a:endParaRPr lang="en-US" sz="1200" dirty="0"/>
          </a:p>
        </p:txBody>
      </p:sp>
      <p:sp>
        <p:nvSpPr>
          <p:cNvPr id="18" name="pill meta develop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develop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develop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develop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develop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develop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develop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4/7 評価システム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360度評価＋校正会議で、評価のばらつきをなくす</a:t>
            </a:r>
            <a:endParaRPr lang="en-US" sz="3000" dirty="0"/>
          </a:p>
        </p:txBody>
      </p:sp>
      <p:sp>
        <p:nvSpPr>
          <p:cNvPr id="4" name="meta eval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eval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eta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評価システム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評価されるには何が項目としてあるか？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評価サイクル「PSC」：本人・同僚・上司の360度評価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校正会議で、上司同士が評価の甘い・辛いをそろえる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年1回の本評価＋年央の確認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2025年は下位約5%（約3,600人）を解雇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2026年から4段階：最上位約20%、次が約70%、残りが低評価（※報道）</a:t>
            </a:r>
            <a:endParaRPr lang="en-US" sz="1600" dirty="0"/>
          </a:p>
        </p:txBody>
      </p:sp>
      <p:sp>
        <p:nvSpPr>
          <p:cNvPr id="9" name="meta eval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eval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上司が集まる「校正会議」で評価のばらつきをなくす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上位20%・中位70%・下位10%を目安にする</a:t>
            </a:r>
            <a:endParaRPr lang="en-US" sz="1400" dirty="0"/>
          </a:p>
        </p:txBody>
      </p:sp>
      <p:sp>
        <p:nvSpPr>
          <p:cNvPr id="13" name="meta eval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eval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eval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何をしたら高く評価され、何をしたら（頑張っていても）評価されないのか、実例で教えてください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「Impact」を数字で示しにくい職種は、どう評価していますか？</a:t>
            </a:r>
            <a:endParaRPr lang="en-US" sz="1200" dirty="0"/>
          </a:p>
        </p:txBody>
      </p:sp>
      <p:sp>
        <p:nvSpPr>
          <p:cNvPr id="18" name="pill meta eval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eval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eval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eval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eval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eval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eval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5/7 組織構造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階層を削ってフラットに。上司も現場で働く</a:t>
            </a:r>
            <a:endParaRPr lang="en-US" sz="3000" dirty="0"/>
          </a:p>
        </p:txBody>
      </p:sp>
      <p:sp>
        <p:nvSpPr>
          <p:cNvPr id="4" name="meta org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org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meta or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組織構造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成果を出すために組織構造はどうなっているか？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2023年「効率化の年」で、管理職の階層を複数削減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上司1人の部下は最大10人程度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少人数しか持たない管理者は減らす方針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上司も現場（プレイヤー）の業務を担う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「管理者を管理する管理者」を減らした</a:t>
            </a:r>
            <a:endParaRPr lang="en-US" sz="1600" dirty="0"/>
          </a:p>
        </p:txBody>
      </p:sp>
      <p:sp>
        <p:nvSpPr>
          <p:cNvPr id="9" name="meta org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org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上司1人に部下5〜10人。少人数の管理職は置かない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管理職も現場の施術を続ける</a:t>
            </a:r>
            <a:endParaRPr lang="en-US" sz="1400" dirty="0"/>
          </a:p>
        </p:txBody>
      </p:sp>
      <p:sp>
        <p:nvSpPr>
          <p:cNvPr id="13" name="meta org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org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org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階層を減らした後、上司1人の部下数と、上司の現場業務の割合は？</a:t>
            </a:r>
            <a:endParaRPr lang="en-US" sz="1200" dirty="0"/>
          </a:p>
        </p:txBody>
      </p:sp>
      <p:sp>
        <p:nvSpPr>
          <p:cNvPr id="18" name="pill meta org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org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org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org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org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org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org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6/7 給与システム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賞与は評価で0〜200%。上位と下位で大きく差</a:t>
            </a:r>
            <a:endParaRPr lang="en-US" sz="3000" dirty="0"/>
          </a:p>
        </p:txBody>
      </p:sp>
      <p:sp>
        <p:nvSpPr>
          <p:cNvPr id="4" name="meta pay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pay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meta p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給与システム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給与はどう決まるのか？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6080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年収＝基本給＋賞与＋株式。等級ごとに相場が決まる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賞与＝目標％ × 評価の倍率 × 会社業績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2026年案：最上位200%、次115%、低評価は50%か0%（※報道）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株式は4年で付与。評価に応じて追加付与がある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2025年は株式付与を約10%削減（※報道）</a:t>
            </a:r>
            <a:endParaRPr lang="en-US" sz="1600" dirty="0"/>
          </a:p>
        </p:txBody>
      </p:sp>
      <p:sp>
        <p:nvSpPr>
          <p:cNvPr id="9" name="meta pay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0" name="meta pay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賞与＝基準額 × 評価倍率 × 会社業績、の式にする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倍率表を全員に公開し、何をすれば上がるかを明確に</a:t>
            </a:r>
            <a:endParaRPr lang="en-US" sz="1400" dirty="0"/>
          </a:p>
        </p:txBody>
      </p:sp>
      <p:sp>
        <p:nvSpPr>
          <p:cNvPr id="13" name="meta pay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meta pay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eta pay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上位層と中位層で賞与・株式の差はどれくらい？それで納得感は保てていますか？</a:t>
            </a:r>
            <a:endParaRPr lang="en-US" sz="1200" dirty="0"/>
          </a:p>
        </p:txBody>
      </p:sp>
      <p:sp>
        <p:nvSpPr>
          <p:cNvPr id="18" name="pill meta pay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0" name="pill meta pay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2" name="pill meta pay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4" name="pill meta pay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26" name="pill meta pay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28" name="pill meta pay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0" name="pill meta pay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7/7 退職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評価の圧力で辞め、下位評価は解雇の対象になる</a:t>
            </a:r>
            <a:endParaRPr lang="en-US" sz="3000" dirty="0"/>
          </a:p>
        </p:txBody>
      </p:sp>
      <p:sp>
        <p:nvSpPr>
          <p:cNvPr id="4" name="meta exit facts"/>
          <p:cNvSpPr/>
          <p:nvPr/>
        </p:nvSpPr>
        <p:spPr>
          <a:xfrm>
            <a:off x="548640" y="1645920"/>
            <a:ext cx="672084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5" name="meta exit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meta exi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5623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退職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なぜ辞めるのか？ どんな時に辞めてもらうのか？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自ら辞める主な理由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評価の圧力：下位評価の目安が15〜20%に引き上げ（2025年）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相次ぐレイオフで士気が低下（2023年「士気の危機」と報道）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フラット化や重点の入れ替えで、担当プロジェクトが打ち切り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平均在籍は約2.5年との推計（※匿名掲示板の試算）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046220" y="2697480"/>
            <a:ext cx="2903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会社が辞めてもらう条件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46220" y="3063240"/>
            <a:ext cx="29032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米国はat-will雇用。評価会議（PSC）の低評価が判断材料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2025年2月、下位約5%（約3,600人）を解雇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2022年に約11,000人、2023年に約10,000人を削減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退職金は16週分＋勤続1年ごとに2週分＋医療保険6か月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改善計画（PIP）の手順・期間は非公開（※未確認）</a:t>
            </a:r>
            <a:endParaRPr lang="en-US" sz="1300" dirty="0"/>
          </a:p>
        </p:txBody>
      </p:sp>
      <p:sp>
        <p:nvSpPr>
          <p:cNvPr id="12" name="meta exit divider"/>
          <p:cNvSpPr/>
          <p:nvPr/>
        </p:nvSpPr>
        <p:spPr>
          <a:xfrm>
            <a:off x="3909060" y="2743200"/>
            <a:ext cx="0" cy="3017520"/>
          </a:xfrm>
          <a:prstGeom prst="line">
            <a:avLst/>
          </a:prstGeom>
          <a:noFill/>
          <a:ln w="9525">
            <a:solidFill>
              <a:srgbClr val="8C93A6"/>
            </a:solidFill>
            <a:prstDash val="solid"/>
          </a:ln>
        </p:spPr>
      </p:sp>
      <p:sp>
        <p:nvSpPr>
          <p:cNvPr id="13" name="meta exit apply"/>
          <p:cNvSpPr/>
          <p:nvPr/>
        </p:nvSpPr>
        <p:spPr>
          <a:xfrm>
            <a:off x="7543800" y="1645920"/>
            <a:ext cx="4099255" cy="2423160"/>
          </a:xfrm>
          <a:prstGeom prst="roundRect">
            <a:avLst>
              <a:gd name="adj" fmla="val 3774"/>
            </a:avLst>
          </a:prstGeom>
          <a:solidFill>
            <a:schemeClr val="tx1"/>
          </a:solidFill>
          <a:ln/>
        </p:spPr>
      </p:sp>
      <p:pic>
        <p:nvPicPr>
          <p:cNvPr id="14" name="meta exit 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562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1828800"/>
            <a:ext cx="3184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自社で真似するなら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2377440"/>
            <a:ext cx="35506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低評価の人には期限つきの改善計画（目標・支援・確認日）を書面で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退職面談と定期的な意欲調査で、辞める兆候を早めにつかむ</a:t>
            </a:r>
            <a:endParaRPr lang="en-US" sz="1400" dirty="0"/>
          </a:p>
        </p:txBody>
      </p:sp>
      <p:sp>
        <p:nvSpPr>
          <p:cNvPr id="17" name="meta exit q"/>
          <p:cNvSpPr/>
          <p:nvPr/>
        </p:nvSpPr>
        <p:spPr>
          <a:xfrm>
            <a:off x="7543800" y="4206240"/>
            <a:ext cx="409925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8" name="meta exit qicon circle"/>
          <p:cNvSpPr/>
          <p:nvPr/>
        </p:nvSpPr>
        <p:spPr>
          <a:xfrm>
            <a:off x="7818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meta exit q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4481292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4389120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現地で聞く質問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489204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低評価から退職が決まるまで、上司が改善を支援する期間と手順は？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Q. 相次ぐレイオフの後、残った優秀な人の離職をどう防ぎましたか？</a:t>
            </a:r>
            <a:endParaRPr lang="en-US" sz="1200" dirty="0"/>
          </a:p>
        </p:txBody>
      </p:sp>
      <p:sp>
        <p:nvSpPr>
          <p:cNvPr id="22" name="pill meta exit 0"/>
          <p:cNvSpPr/>
          <p:nvPr/>
        </p:nvSpPr>
        <p:spPr>
          <a:xfrm>
            <a:off x="54864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4864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採用基準</a:t>
            </a:r>
            <a:endParaRPr lang="en-US" sz="1000" dirty="0"/>
          </a:p>
        </p:txBody>
      </p:sp>
      <p:sp>
        <p:nvSpPr>
          <p:cNvPr id="24" name="pill meta exit 1"/>
          <p:cNvSpPr/>
          <p:nvPr/>
        </p:nvSpPr>
        <p:spPr>
          <a:xfrm>
            <a:off x="202996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02996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入社後の教育</a:t>
            </a:r>
            <a:endParaRPr lang="en-US" sz="1000" dirty="0"/>
          </a:p>
        </p:txBody>
      </p:sp>
      <p:sp>
        <p:nvSpPr>
          <p:cNvPr id="26" name="pill meta exit 2"/>
          <p:cNvSpPr/>
          <p:nvPr/>
        </p:nvSpPr>
        <p:spPr>
          <a:xfrm>
            <a:off x="3511296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3511296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成果を出す仕組み</a:t>
            </a:r>
            <a:endParaRPr lang="en-US" sz="1000" dirty="0"/>
          </a:p>
        </p:txBody>
      </p:sp>
      <p:sp>
        <p:nvSpPr>
          <p:cNvPr id="28" name="pill meta exit 3"/>
          <p:cNvSpPr/>
          <p:nvPr/>
        </p:nvSpPr>
        <p:spPr>
          <a:xfrm>
            <a:off x="4992624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992624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評価システム</a:t>
            </a:r>
            <a:endParaRPr lang="en-US" sz="1000" dirty="0"/>
          </a:p>
        </p:txBody>
      </p:sp>
      <p:sp>
        <p:nvSpPr>
          <p:cNvPr id="30" name="pill meta exit 4"/>
          <p:cNvSpPr/>
          <p:nvPr/>
        </p:nvSpPr>
        <p:spPr>
          <a:xfrm>
            <a:off x="6473952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73952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組織構造</a:t>
            </a:r>
            <a:endParaRPr lang="en-US" sz="1000" dirty="0"/>
          </a:p>
        </p:txBody>
      </p:sp>
      <p:sp>
        <p:nvSpPr>
          <p:cNvPr id="32" name="pill meta exit 5"/>
          <p:cNvSpPr/>
          <p:nvPr/>
        </p:nvSpPr>
        <p:spPr>
          <a:xfrm>
            <a:off x="7955280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955280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給与システム</a:t>
            </a:r>
            <a:endParaRPr lang="en-US" sz="1000" dirty="0"/>
          </a:p>
        </p:txBody>
      </p:sp>
      <p:sp>
        <p:nvSpPr>
          <p:cNvPr id="34" name="pill meta exit 6"/>
          <p:cNvSpPr/>
          <p:nvPr/>
        </p:nvSpPr>
        <p:spPr>
          <a:xfrm>
            <a:off x="9436608" y="6172200"/>
            <a:ext cx="1389888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436608" y="61722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退職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Metaに聞くべき質問 10選</a:t>
            </a:r>
            <a:endParaRPr lang="en-US" sz="3000" dirty="0"/>
          </a:p>
        </p:txBody>
      </p:sp>
      <p:sp>
        <p:nvSpPr>
          <p:cNvPr id="4" name="qtag meta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採用面接で一番「不合格の決め手」になるのは、どんな言動ですか？</a:t>
            </a:r>
            <a:endParaRPr lang="en-US" sz="1400" dirty="0"/>
          </a:p>
        </p:txBody>
      </p:sp>
      <p:sp>
        <p:nvSpPr>
          <p:cNvPr id="7" name="qtag meta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入社後90日で何ができれば「順調」と判断しますか？</a:t>
            </a:r>
            <a:endParaRPr lang="en-US" sz="1400" dirty="0"/>
          </a:p>
        </p:txBody>
      </p:sp>
      <p:sp>
        <p:nvSpPr>
          <p:cNvPr id="10" name="qtag meta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Bootcampを縮小して、立ち上がりの速さは変わりましたか？</a:t>
            </a:r>
            <a:endParaRPr lang="en-US" sz="1400" dirty="0"/>
          </a:p>
        </p:txBody>
      </p:sp>
      <p:sp>
        <p:nvSpPr>
          <p:cNvPr id="13" name="qtag meta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何をしたら高く評価され、何をしたら（頑張っていても）評価されないのか、実例で教えてください</a:t>
            </a:r>
            <a:endParaRPr lang="en-US" sz="1400" dirty="0"/>
          </a:p>
        </p:txBody>
      </p:sp>
      <p:sp>
        <p:nvSpPr>
          <p:cNvPr id="16" name="qtag meta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「Impact」を数字で示しにくい職種は、どう評価していますか？</a:t>
            </a:r>
            <a:endParaRPr lang="en-US" sz="1400" dirty="0"/>
          </a:p>
        </p:txBody>
      </p:sp>
      <p:sp>
        <p:nvSpPr>
          <p:cNvPr id="19" name="qtag meta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校正会議には誰が何時間かけ、評価が覆るのはどんな場合ですか？</a:t>
            </a:r>
            <a:endParaRPr lang="en-US" sz="1400" dirty="0"/>
          </a:p>
        </p:txBody>
      </p:sp>
      <p:sp>
        <p:nvSpPr>
          <p:cNvPr id="22" name="qtag meta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低評価者には改善の機会をどれだけ与え、どの時点で退職を判断しますか？</a:t>
            </a:r>
            <a:endParaRPr lang="en-US" sz="1400" dirty="0"/>
          </a:p>
        </p:txBody>
      </p:sp>
      <p:sp>
        <p:nvSpPr>
          <p:cNvPr id="25" name="qtag meta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階層を減らした後、上司1人の部下数と、上司の現場業務の割合は？</a:t>
            </a:r>
            <a:endParaRPr lang="en-US" sz="1400" dirty="0"/>
          </a:p>
        </p:txBody>
      </p:sp>
      <p:sp>
        <p:nvSpPr>
          <p:cNvPr id="28" name="qtag meta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上位層と中位層で賞与・株式の差はどれくらい？それで納得感は保てていますか？</a:t>
            </a:r>
            <a:endParaRPr lang="en-US" sz="1400" dirty="0"/>
          </a:p>
        </p:txBody>
      </p:sp>
      <p:sp>
        <p:nvSpPr>
          <p:cNvPr id="31" name="qtag meta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AIの活用度を評価に入れて、生産性は数字でどれだけ上がりましたか？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見学先 5 /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Stanford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同じ物差しで採用と評価をつなぐ ＋ 研究の知見</a:t>
            </a:r>
            <a:endParaRPr lang="en-US" sz="2000" dirty="0"/>
          </a:p>
        </p:txBody>
      </p:sp>
      <p:sp>
        <p:nvSpPr>
          <p:cNvPr id="5" name="div stanford circle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div stanfor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真似するならここ</a:t>
            </a:r>
            <a:endParaRPr lang="en-US" sz="1400" dirty="0"/>
          </a:p>
        </p:txBody>
      </p:sp>
      <p:sp>
        <p:nvSpPr>
          <p:cNvPr id="8" name="swipe stanford 0"/>
          <p:cNvSpPr/>
          <p:nvPr/>
        </p:nvSpPr>
        <p:spPr>
          <a:xfrm>
            <a:off x="548640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9" name="bulb stanford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等級ごとに能力基準3〜5個を決め、採用と評価で共用</a:t>
            </a:r>
            <a:endParaRPr lang="en-US" sz="1400" dirty="0"/>
          </a:p>
        </p:txBody>
      </p:sp>
      <p:sp>
        <p:nvSpPr>
          <p:cNvPr id="11" name="swipe stanford 1"/>
          <p:cNvSpPr/>
          <p:nvPr/>
        </p:nvSpPr>
        <p:spPr>
          <a:xfrm>
            <a:off x="4338218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2" name="bulb stanford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51389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4018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年1回の評価に加え、月1回の面談で目標を修正</a:t>
            </a:r>
            <a:endParaRPr lang="en-US" sz="1400" dirty="0"/>
          </a:p>
        </p:txBody>
      </p:sp>
      <p:sp>
        <p:nvSpPr>
          <p:cNvPr id="14" name="swipe stanford 2"/>
          <p:cNvSpPr/>
          <p:nvPr/>
        </p:nvSpPr>
        <p:spPr>
          <a:xfrm>
            <a:off x="8127797" y="4983480"/>
            <a:ext cx="3515258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pic>
        <p:nvPicPr>
          <p:cNvPr id="15" name="bulb stanford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97" y="513892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13597" y="5120640"/>
            <a:ext cx="26008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昇給の根拠を「業績・相場・公平」の3つに絞り説明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人事システム 1/2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同じ物差しで採り、育てる — 研究が示す「成果の出る育成」</a:t>
            </a:r>
            <a:endParaRPr lang="en-US" sz="3000" dirty="0"/>
          </a:p>
        </p:txBody>
      </p:sp>
      <p:sp>
        <p:nvSpPr>
          <p:cNvPr id="4" name="stanford hire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tanford hire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stanford hi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採用基準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職員：職務ごとの能力基準に沿った行動面接（STAR法）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数値の評価表で比べる。面接官はバイアス対策研修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教員の終身在職権は「分野で最高水準の研究」が条件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【研究】スキルは後から教えられる。姿勢と文化で選ぶ</a:t>
            </a:r>
            <a:endParaRPr lang="en-US" sz="1400" dirty="0"/>
          </a:p>
        </p:txBody>
      </p:sp>
      <p:sp>
        <p:nvSpPr>
          <p:cNvPr id="9" name="stanford onboard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stanford onboard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tanford onbo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入社後の教育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毎週月曜にオンラインの全社オリエンテーション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2026年7月から新人事システム上の入社手続きの流れ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上司が初期に、育成の機会と評価計画を説明する</a:t>
            </a:r>
            <a:endParaRPr lang="en-US" sz="1400" dirty="0"/>
          </a:p>
        </p:txBody>
      </p:sp>
      <p:sp>
        <p:nvSpPr>
          <p:cNvPr id="14" name="stanford develop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stanford develop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tanford devel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成果を出す仕組み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職員の研修費を補助（年最大700〜800ドル）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【研究】努力と工夫の過程をほめると挑戦が続く（Dweck）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【研究】共感→試作→検証を短く回す（d.school）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【研究】目標・進捗確認・報酬が揃うと生産性が高い（Bloom）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人事システム 2/2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目標×能力で評価し、等級レンジで給与を決める</a:t>
            </a:r>
            <a:endParaRPr lang="en-US" sz="3000" dirty="0"/>
          </a:p>
        </p:txBody>
      </p:sp>
      <p:sp>
        <p:nvSpPr>
          <p:cNvPr id="4" name="stanford eval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tanford eval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anford ev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評価システム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目標設定 → 随時の面談 → 年1回の評価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項目：年間目標の達成度＋能力基準3〜5個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2026年から新制度「EDGE」。全学で周期と尺度を統一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※尺度の中身や評価分布の調整は学内限定で未公開</a:t>
            </a:r>
            <a:endParaRPr lang="en-US" sz="1400" dirty="0"/>
          </a:p>
        </p:txBody>
      </p:sp>
      <p:sp>
        <p:nvSpPr>
          <p:cNvPr id="9" name="stanford org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stanford org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stanford 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組織構造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中央の人事は方針だけ決め、運用は各部門に任せる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2026年から上司がシステムで直接人事手続き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【研究】自律型チーム・身分差の縮小・財務情報の共有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【研究】嫌な人を置かず、無駄な手続きを減らす（Sutton）</a:t>
            </a:r>
            <a:endParaRPr lang="en-US" sz="1400" dirty="0"/>
          </a:p>
        </p:txBody>
      </p:sp>
      <p:sp>
        <p:nvSpPr>
          <p:cNvPr id="14" name="stanford pay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stanford pay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stanford p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87452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給与システム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5176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職員は16等級の給与レンジ × 地域別の給与体系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毎年の市場調査でレンジを見直す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昇給は年1回。上司が業績・相場・公平性で推薦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【研究】給与は相場より高めに、組織業績と連動（Pfeffer）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Stanford ｜ 現地で聞く質問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Stanfordに聞くべき質問 10選</a:t>
            </a:r>
            <a:endParaRPr lang="en-US" sz="3000" dirty="0"/>
          </a:p>
        </p:txBody>
      </p:sp>
      <p:sp>
        <p:nvSpPr>
          <p:cNvPr id="4" name="qtag stanford 0"/>
          <p:cNvSpPr/>
          <p:nvPr/>
        </p:nvSpPr>
        <p:spPr>
          <a:xfrm>
            <a:off x="548640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何をすれば高く評価され、何をすると評価が下がるか、実例を教えてください</a:t>
            </a:r>
            <a:endParaRPr lang="en-US" sz="1400" dirty="0"/>
          </a:p>
        </p:txBody>
      </p:sp>
      <p:sp>
        <p:nvSpPr>
          <p:cNvPr id="7" name="qtag stanford 1"/>
          <p:cNvSpPr/>
          <p:nvPr/>
        </p:nvSpPr>
        <p:spPr>
          <a:xfrm>
            <a:off x="548640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Q2.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評価尺度の各段階は、行動レベルでどう定義していますか？</a:t>
            </a:r>
            <a:endParaRPr lang="en-US" sz="1400" dirty="0"/>
          </a:p>
        </p:txBody>
      </p:sp>
      <p:sp>
        <p:nvSpPr>
          <p:cNvPr id="10" name="qtag stanford 2"/>
          <p:cNvSpPr/>
          <p:nvPr/>
        </p:nvSpPr>
        <p:spPr>
          <a:xfrm>
            <a:off x="548640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業績評価と昇給率は、どの程度機械的に連動していますか？</a:t>
            </a:r>
            <a:endParaRPr lang="en-US" sz="1400" dirty="0"/>
          </a:p>
        </p:txBody>
      </p:sp>
      <p:sp>
        <p:nvSpPr>
          <p:cNvPr id="13" name="qtag stanford 3"/>
          <p:cNvSpPr/>
          <p:nvPr/>
        </p:nvSpPr>
        <p:spPr>
          <a:xfrm>
            <a:off x="548640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採用基準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Q4.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面接で最も「外れ」が少ない質問は何ですか？</a:t>
            </a:r>
            <a:endParaRPr lang="en-US" sz="1400" dirty="0"/>
          </a:p>
        </p:txBody>
      </p:sp>
      <p:sp>
        <p:nvSpPr>
          <p:cNvPr id="16" name="qtag stanford 4"/>
          <p:cNvSpPr/>
          <p:nvPr/>
        </p:nvSpPr>
        <p:spPr>
          <a:xfrm>
            <a:off x="548640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入社後の教育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Q5.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入社90日で、上司が必ずやるべきことは何ですか？</a:t>
            </a:r>
            <a:endParaRPr lang="en-US" sz="1400" dirty="0"/>
          </a:p>
        </p:txBody>
      </p:sp>
      <p:sp>
        <p:nvSpPr>
          <p:cNvPr id="19" name="qtag stanford 5"/>
          <p:cNvSpPr/>
          <p:nvPr/>
        </p:nvSpPr>
        <p:spPr>
          <a:xfrm>
            <a:off x="6278728" y="167335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8728" y="1673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41768" y="1600200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Q6.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部門ごとの評価の甘さ・辛さを、どう調整していますか？</a:t>
            </a:r>
            <a:endParaRPr lang="en-US" sz="1400" dirty="0"/>
          </a:p>
        </p:txBody>
      </p:sp>
      <p:sp>
        <p:nvSpPr>
          <p:cNvPr id="22" name="qtag stanford 6"/>
          <p:cNvSpPr/>
          <p:nvPr/>
        </p:nvSpPr>
        <p:spPr>
          <a:xfrm>
            <a:off x="6278728" y="2569464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8728" y="2569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評価システム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41768" y="2496312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Q7.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低い評価が続いた人には、どう対応していますか？</a:t>
            </a:r>
            <a:endParaRPr lang="en-US" sz="1400" dirty="0"/>
          </a:p>
        </p:txBody>
      </p:sp>
      <p:sp>
        <p:nvSpPr>
          <p:cNvPr id="25" name="qtag stanford 7"/>
          <p:cNvSpPr/>
          <p:nvPr/>
        </p:nvSpPr>
        <p:spPr>
          <a:xfrm>
            <a:off x="6278728" y="3465576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8728" y="3465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給与システム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41768" y="3392424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Q8.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給与レンジの上限に達した人の処遇は、どうしていますか？</a:t>
            </a:r>
            <a:endParaRPr lang="en-US" sz="1400" dirty="0"/>
          </a:p>
        </p:txBody>
      </p:sp>
      <p:sp>
        <p:nvSpPr>
          <p:cNvPr id="28" name="qtag stanford 8"/>
          <p:cNvSpPr/>
          <p:nvPr/>
        </p:nvSpPr>
        <p:spPr>
          <a:xfrm>
            <a:off x="6278728" y="4361688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43616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組織構造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288536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Q9.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（研究者へ）小規模なサービス業で、まず導入すべき管理手法は何ですか？</a:t>
            </a:r>
            <a:endParaRPr lang="en-US" sz="1400" dirty="0"/>
          </a:p>
        </p:txBody>
      </p:sp>
      <p:sp>
        <p:nvSpPr>
          <p:cNvPr id="31" name="qtag stanford 9"/>
          <p:cNvSpPr/>
          <p:nvPr/>
        </p:nvSpPr>
        <p:spPr>
          <a:xfrm>
            <a:off x="6278728" y="5257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78728" y="5257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成果を出す仕組み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41768" y="5184648"/>
            <a:ext cx="3901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Q10.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（研究者へ）成果主義と成長志向（グロースマインドセット）は両立しますか？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全社共通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どの会社でも必ず聞く「共通の5問」</a:t>
            </a:r>
            <a:endParaRPr lang="en-US" sz="3000" dirty="0"/>
          </a:p>
        </p:txBody>
      </p:sp>
      <p:sp>
        <p:nvSpPr>
          <p:cNvPr id="4" name="common 0 circle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mm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642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何をしたら評価され、何をしたら評価されないのか？（実例で）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756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自社の評価項目づくりの核。「評価制度がない」問題に直結</a:t>
            </a:r>
            <a:endParaRPr lang="en-US" sz="1300" dirty="0"/>
          </a:p>
        </p:txBody>
      </p:sp>
      <p:sp>
        <p:nvSpPr>
          <p:cNvPr id="8" name="common 1 circle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comm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7596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786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採用で「不合格の決め手」になる言動は何か？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9900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「生産性のない人材が増えた」を入口で止める</a:t>
            </a:r>
            <a:endParaRPr lang="en-US" sz="1300" dirty="0"/>
          </a:p>
        </p:txBody>
      </p:sp>
      <p:sp>
        <p:nvSpPr>
          <p:cNvPr id="12" name="common 2 circle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mm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67405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4930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入社90日で一人前にするために、上司は毎週何をするか？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9044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「教育が行き届いていない」問題への具体策</a:t>
            </a:r>
            <a:endParaRPr lang="en-US" sz="1300" dirty="0"/>
          </a:p>
        </p:txBody>
      </p:sp>
      <p:sp>
        <p:nvSpPr>
          <p:cNvPr id="16" name="common 3 circle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commo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5884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4074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評価と給与・賞与はどれくらい連動し、差はどれくらいか？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8188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給与制度の設計。成果を出す人に報いる仕組み</a:t>
            </a:r>
            <a:endParaRPr lang="en-US" sz="1300" dirty="0"/>
          </a:p>
        </p:txBody>
      </p:sp>
      <p:sp>
        <p:nvSpPr>
          <p:cNvPr id="20" name="common 4 circle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common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50285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321808"/>
            <a:ext cx="10225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上司1人が見る部下数と、上司自身の評価項目は何か？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733288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組織づくりと「経営層の教育」に直結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見学メモシート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聞いた答えは、その場で「自社でどうするか」まで書く</a:t>
            </a:r>
            <a:endParaRPr lang="en-US" sz="3000" dirty="0"/>
          </a:p>
        </p:txBody>
      </p:sp>
      <p:graphicFrame>
        <p:nvGraphicFramePr>
          <p:cNvPr id="48" name="mem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3566160"/>
                <a:gridCol w="868680"/>
                <a:gridCol w="896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観点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学んだこと（事実）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自社で真似すること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期限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採用基準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入社後の教育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成果を出す仕組み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評価システム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組織構造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給与システム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93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 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今の採用を見える化し、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タスクにする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まずは現状の整理から。空白＝これから検討する部分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採用の現状マップ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チャネル × ターゲットで見ると、空白が多い</a:t>
            </a:r>
            <a:endParaRPr lang="en-US" sz="3000" dirty="0"/>
          </a:p>
        </p:txBody>
      </p:sp>
      <p:sp>
        <p:nvSpPr>
          <p:cNvPr id="4" name="seg head 0"/>
          <p:cNvSpPr/>
          <p:nvPr/>
        </p:nvSpPr>
        <p:spPr>
          <a:xfrm>
            <a:off x="2743200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0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新卒大学生</a:t>
            </a:r>
            <a:endParaRPr lang="en-US" sz="1500" dirty="0"/>
          </a:p>
        </p:txBody>
      </p:sp>
      <p:sp>
        <p:nvSpPr>
          <p:cNvPr id="6" name="seg head 1"/>
          <p:cNvSpPr/>
          <p:nvPr/>
        </p:nvSpPr>
        <p:spPr>
          <a:xfrm>
            <a:off x="4991024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91024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理学療法士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新卒</a:t>
            </a:r>
            <a:endParaRPr lang="en-US" sz="1500" dirty="0"/>
          </a:p>
        </p:txBody>
      </p:sp>
      <p:sp>
        <p:nvSpPr>
          <p:cNvPr id="8" name="seg head 2"/>
          <p:cNvSpPr/>
          <p:nvPr/>
        </p:nvSpPr>
        <p:spPr>
          <a:xfrm>
            <a:off x="7238848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38848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理学療法士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中途</a:t>
            </a:r>
            <a:endParaRPr lang="en-US" sz="1500" dirty="0"/>
          </a:p>
        </p:txBody>
      </p:sp>
      <p:sp>
        <p:nvSpPr>
          <p:cNvPr id="10" name="seg head 3"/>
          <p:cNvSpPr/>
          <p:nvPr/>
        </p:nvSpPr>
        <p:spPr>
          <a:xfrm>
            <a:off x="9486671" y="1691640"/>
            <a:ext cx="215638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86671" y="16916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第2新卒</a:t>
            </a:r>
            <a:endParaRPr lang="en-US" sz="1500" dirty="0"/>
          </a:p>
        </p:txBody>
      </p:sp>
      <p:sp>
        <p:nvSpPr>
          <p:cNvPr id="12" name="ch head 0"/>
          <p:cNvSpPr/>
          <p:nvPr/>
        </p:nvSpPr>
        <p:spPr>
          <a:xfrm>
            <a:off x="548640" y="233172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人材紹介会社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14" name="cell 0-0"/>
          <p:cNvSpPr/>
          <p:nvPr/>
        </p:nvSpPr>
        <p:spPr>
          <a:xfrm>
            <a:off x="2743200" y="233172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0360" y="233172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DYM／ネオキャリア／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イングリウッド／Spica Rink</a:t>
            </a:r>
            <a:endParaRPr lang="en-US" sz="1300" dirty="0"/>
          </a:p>
        </p:txBody>
      </p:sp>
      <p:sp>
        <p:nvSpPr>
          <p:cNvPr id="16" name="cell 0-1"/>
          <p:cNvSpPr/>
          <p:nvPr/>
        </p:nvSpPr>
        <p:spPr>
          <a:xfrm>
            <a:off x="4991024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91024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18" name="cell 0-2"/>
          <p:cNvSpPr/>
          <p:nvPr/>
        </p:nvSpPr>
        <p:spPr>
          <a:xfrm>
            <a:off x="7238848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238848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0" name="cell 0-3"/>
          <p:cNvSpPr/>
          <p:nvPr/>
        </p:nvSpPr>
        <p:spPr>
          <a:xfrm>
            <a:off x="9486671" y="233172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486671" y="233172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2" name="ch head 1"/>
          <p:cNvSpPr/>
          <p:nvPr/>
        </p:nvSpPr>
        <p:spPr>
          <a:xfrm>
            <a:off x="548640" y="352044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520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求人媒体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24" name="cell 1-0"/>
          <p:cNvSpPr/>
          <p:nvPr/>
        </p:nvSpPr>
        <p:spPr>
          <a:xfrm>
            <a:off x="2743200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2743200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6" name="cell 1-1"/>
          <p:cNvSpPr/>
          <p:nvPr/>
        </p:nvSpPr>
        <p:spPr>
          <a:xfrm>
            <a:off x="4991024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991024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28" name="cell 1-2"/>
          <p:cNvSpPr/>
          <p:nvPr/>
        </p:nvSpPr>
        <p:spPr>
          <a:xfrm>
            <a:off x="7238848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238848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30" name="cell 1-3"/>
          <p:cNvSpPr/>
          <p:nvPr/>
        </p:nvSpPr>
        <p:spPr>
          <a:xfrm>
            <a:off x="9486671" y="3520440"/>
            <a:ext cx="2156384" cy="1097280"/>
          </a:xfrm>
          <a:prstGeom prst="roundRect">
            <a:avLst>
              <a:gd name="adj" fmla="val 8333"/>
            </a:avLst>
          </a:prstGeom>
          <a:ln w="15875">
            <a:solidFill>
              <a:srgbClr val="D9475A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486671" y="352044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空白（要検討）</a:t>
            </a:r>
            <a:endParaRPr lang="en-US" sz="1300" dirty="0"/>
          </a:p>
        </p:txBody>
      </p:sp>
      <p:sp>
        <p:nvSpPr>
          <p:cNvPr id="32" name="ch head 2"/>
          <p:cNvSpPr/>
          <p:nvPr/>
        </p:nvSpPr>
        <p:spPr>
          <a:xfrm>
            <a:off x="548640" y="470916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4709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自社SNS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責任者：松田</a:t>
            </a:r>
            <a:endParaRPr lang="en-US" sz="1600" dirty="0"/>
          </a:p>
        </p:txBody>
      </p:sp>
      <p:sp>
        <p:nvSpPr>
          <p:cNvPr id="34" name="cell 2-0"/>
          <p:cNvSpPr/>
          <p:nvPr/>
        </p:nvSpPr>
        <p:spPr>
          <a:xfrm>
            <a:off x="2743200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80360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36" name="cell 2-1"/>
          <p:cNvSpPr/>
          <p:nvPr/>
        </p:nvSpPr>
        <p:spPr>
          <a:xfrm>
            <a:off x="4991024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128184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38" name="cell 2-2"/>
          <p:cNvSpPr/>
          <p:nvPr/>
        </p:nvSpPr>
        <p:spPr>
          <a:xfrm>
            <a:off x="7238848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76008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40" name="cell 2-3"/>
          <p:cNvSpPr/>
          <p:nvPr/>
        </p:nvSpPr>
        <p:spPr>
          <a:xfrm>
            <a:off x="9486671" y="4709160"/>
            <a:ext cx="215638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23831" y="47091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Insta・YouTube・FB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（対象別は未整理）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マインドマップの空白「サブトピック」＝これから検討する部分。決まっているのは「紹介会社 × 新卒大学生」だけ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チャネル別の現状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3つの採用チャネル — 決まっていること／決まっていないこと</a:t>
            </a:r>
            <a:endParaRPr lang="en-US" sz="3000" dirty="0"/>
          </a:p>
        </p:txBody>
      </p:sp>
      <p:sp>
        <p:nvSpPr>
          <p:cNvPr id="4" name="chd 0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chd 0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chd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人材紹介会社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新卒大学生：DYM・ネオキャリア・イングリウッド・Spica Rinkの4社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理学療法士（新卒・中途）の紹介会社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第2新卒の紹介会社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各社の紹介数・決定数・費用</a:t>
            </a:r>
            <a:endParaRPr lang="en-US" sz="1400" dirty="0"/>
          </a:p>
        </p:txBody>
      </p:sp>
      <p:sp>
        <p:nvSpPr>
          <p:cNvPr id="12" name="chd 1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3" name="chd 1 circle"/>
          <p:cNvSpPr/>
          <p:nvPr/>
        </p:nvSpPr>
        <p:spPr>
          <a:xfrm>
            <a:off x="461253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chd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061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求人媒体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ターゲットの枠組み（新卒大学生・理学療法士・第2新卒）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12538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ターゲット別に使う媒体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掲載費と応募数・採用数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求人原稿の訴求ポイント</a:t>
            </a:r>
            <a:endParaRPr lang="en-US" sz="1400" dirty="0"/>
          </a:p>
        </p:txBody>
      </p:sp>
      <p:sp>
        <p:nvSpPr>
          <p:cNvPr id="20" name="chd 2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21" name="chd 2 circle"/>
          <p:cNvSpPr/>
          <p:nvPr/>
        </p:nvSpPr>
        <p:spPr>
          <a:xfrm>
            <a:off x="8402117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hd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0619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87917" y="182880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自社SNS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責任者：松田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2697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決まっていること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402117" y="2999232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Instagram・YouTube・Facebookで発信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02117" y="43434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空白（これから決める）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402117" y="4645152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どのSNSで誰に届けるか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投稿の頻度・内容・担当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応募につなげる導線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ターゲット（求職者）別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ターゲットごとに決めるべき5項目 — 今はすべて空白</a:t>
            </a:r>
            <a:endParaRPr lang="en-US" sz="3000" dirty="0"/>
          </a:p>
        </p:txBody>
      </p:sp>
      <p:sp>
        <p:nvSpPr>
          <p:cNvPr id="4" name="sd head 0"/>
          <p:cNvSpPr/>
          <p:nvPr/>
        </p:nvSpPr>
        <p:spPr>
          <a:xfrm>
            <a:off x="3017520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17520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新卒大学生</a:t>
            </a:r>
            <a:endParaRPr lang="en-US" sz="1400" dirty="0"/>
          </a:p>
        </p:txBody>
      </p:sp>
      <p:sp>
        <p:nvSpPr>
          <p:cNvPr id="6" name="sd head 1"/>
          <p:cNvSpPr/>
          <p:nvPr/>
        </p:nvSpPr>
        <p:spPr>
          <a:xfrm>
            <a:off x="5196764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96764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理学療法士（新卒）</a:t>
            </a:r>
            <a:endParaRPr lang="en-US" sz="1400" dirty="0"/>
          </a:p>
        </p:txBody>
      </p:sp>
      <p:sp>
        <p:nvSpPr>
          <p:cNvPr id="8" name="sd head 2"/>
          <p:cNvSpPr/>
          <p:nvPr/>
        </p:nvSpPr>
        <p:spPr>
          <a:xfrm>
            <a:off x="7376008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76008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理学療法士（中途）</a:t>
            </a:r>
            <a:endParaRPr lang="en-US" sz="1400" dirty="0"/>
          </a:p>
        </p:txBody>
      </p:sp>
      <p:sp>
        <p:nvSpPr>
          <p:cNvPr id="10" name="sd head 3"/>
          <p:cNvSpPr/>
          <p:nvPr/>
        </p:nvSpPr>
        <p:spPr>
          <a:xfrm>
            <a:off x="9555251" y="1645920"/>
            <a:ext cx="2087804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55251" y="1645920"/>
            <a:ext cx="2087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第2新卒</a:t>
            </a:r>
            <a:endParaRPr lang="en-US" sz="1400" dirty="0"/>
          </a:p>
        </p:txBody>
      </p:sp>
      <p:sp>
        <p:nvSpPr>
          <p:cNvPr id="12" name="di 0"/>
          <p:cNvSpPr/>
          <p:nvPr/>
        </p:nvSpPr>
        <p:spPr>
          <a:xfrm>
            <a:off x="54864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採用目標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いつまでに何人採るか</a:t>
            </a:r>
            <a:endParaRPr lang="en-US" sz="1500" dirty="0"/>
          </a:p>
        </p:txBody>
      </p:sp>
      <p:sp>
        <p:nvSpPr>
          <p:cNvPr id="14" name="dcell 0-0"/>
          <p:cNvSpPr/>
          <p:nvPr/>
        </p:nvSpPr>
        <p:spPr>
          <a:xfrm>
            <a:off x="3017520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017520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16" name="dcell 0-1"/>
          <p:cNvSpPr/>
          <p:nvPr/>
        </p:nvSpPr>
        <p:spPr>
          <a:xfrm>
            <a:off x="5196764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196764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18" name="dcell 0-2"/>
          <p:cNvSpPr/>
          <p:nvPr/>
        </p:nvSpPr>
        <p:spPr>
          <a:xfrm>
            <a:off x="7376008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376008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0" name="dcell 0-3"/>
          <p:cNvSpPr/>
          <p:nvPr/>
        </p:nvSpPr>
        <p:spPr>
          <a:xfrm>
            <a:off x="9555251" y="2240280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555251" y="224028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2" name="di 1"/>
          <p:cNvSpPr/>
          <p:nvPr/>
        </p:nvSpPr>
        <p:spPr>
          <a:xfrm>
            <a:off x="548640" y="3044952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0449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求める人物像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採用基準・何を見て採るか</a:t>
            </a:r>
            <a:endParaRPr lang="en-US" sz="1500" dirty="0"/>
          </a:p>
        </p:txBody>
      </p:sp>
      <p:sp>
        <p:nvSpPr>
          <p:cNvPr id="24" name="dcell 1-0"/>
          <p:cNvSpPr/>
          <p:nvPr/>
        </p:nvSpPr>
        <p:spPr>
          <a:xfrm>
            <a:off x="3017520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017520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6" name="dcell 1-1"/>
          <p:cNvSpPr/>
          <p:nvPr/>
        </p:nvSpPr>
        <p:spPr>
          <a:xfrm>
            <a:off x="5196764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5196764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8" name="dcell 1-2"/>
          <p:cNvSpPr/>
          <p:nvPr/>
        </p:nvSpPr>
        <p:spPr>
          <a:xfrm>
            <a:off x="7376008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376008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0" name="dcell 1-3"/>
          <p:cNvSpPr/>
          <p:nvPr/>
        </p:nvSpPr>
        <p:spPr>
          <a:xfrm>
            <a:off x="9555251" y="3044952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555251" y="3044952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2" name="di 2"/>
          <p:cNvSpPr/>
          <p:nvPr/>
        </p:nvSpPr>
        <p:spPr>
          <a:xfrm>
            <a:off x="548640" y="3849624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38496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訴求ポイント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なぜうちを選ぶのか</a:t>
            </a:r>
            <a:endParaRPr lang="en-US" sz="1500" dirty="0"/>
          </a:p>
        </p:txBody>
      </p:sp>
      <p:sp>
        <p:nvSpPr>
          <p:cNvPr id="34" name="dcell 2-0"/>
          <p:cNvSpPr/>
          <p:nvPr/>
        </p:nvSpPr>
        <p:spPr>
          <a:xfrm>
            <a:off x="3017520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017520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6" name="dcell 2-1"/>
          <p:cNvSpPr/>
          <p:nvPr/>
        </p:nvSpPr>
        <p:spPr>
          <a:xfrm>
            <a:off x="5196764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5196764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38" name="dcell 2-2"/>
          <p:cNvSpPr/>
          <p:nvPr/>
        </p:nvSpPr>
        <p:spPr>
          <a:xfrm>
            <a:off x="7376008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7376008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0" name="dcell 2-3"/>
          <p:cNvSpPr/>
          <p:nvPr/>
        </p:nvSpPr>
        <p:spPr>
          <a:xfrm>
            <a:off x="9555251" y="3849624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9555251" y="3849624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2" name="di 3"/>
          <p:cNvSpPr/>
          <p:nvPr/>
        </p:nvSpPr>
        <p:spPr>
          <a:xfrm>
            <a:off x="548640" y="4654296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1520" y="46542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使うチャネル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紹介・媒体・SNSの組み合わせ</a:t>
            </a:r>
            <a:endParaRPr lang="en-US" sz="1500" dirty="0"/>
          </a:p>
        </p:txBody>
      </p:sp>
      <p:sp>
        <p:nvSpPr>
          <p:cNvPr id="44" name="dcell 3-0"/>
          <p:cNvSpPr/>
          <p:nvPr/>
        </p:nvSpPr>
        <p:spPr>
          <a:xfrm>
            <a:off x="3017520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3017520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6" name="dcell 3-1"/>
          <p:cNvSpPr/>
          <p:nvPr/>
        </p:nvSpPr>
        <p:spPr>
          <a:xfrm>
            <a:off x="5196764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5196764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48" name="dcell 3-2"/>
          <p:cNvSpPr/>
          <p:nvPr/>
        </p:nvSpPr>
        <p:spPr>
          <a:xfrm>
            <a:off x="7376008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376008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0" name="dcell 3-3"/>
          <p:cNvSpPr/>
          <p:nvPr/>
        </p:nvSpPr>
        <p:spPr>
          <a:xfrm>
            <a:off x="9555251" y="4654296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9555251" y="4654296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2" name="di 4"/>
          <p:cNvSpPr/>
          <p:nvPr/>
        </p:nvSpPr>
        <p:spPr>
          <a:xfrm>
            <a:off x="548640" y="5458968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31520" y="5458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選考フロー・数値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応募→面接→内定→入社の数</a:t>
            </a:r>
            <a:endParaRPr lang="en-US" sz="1500" dirty="0"/>
          </a:p>
        </p:txBody>
      </p:sp>
      <p:sp>
        <p:nvSpPr>
          <p:cNvPr id="54" name="dcell 4-0"/>
          <p:cNvSpPr/>
          <p:nvPr/>
        </p:nvSpPr>
        <p:spPr>
          <a:xfrm>
            <a:off x="3017520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3017520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6" name="dcell 4-1"/>
          <p:cNvSpPr/>
          <p:nvPr/>
        </p:nvSpPr>
        <p:spPr>
          <a:xfrm>
            <a:off x="5196764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5196764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58" name="dcell 4-2"/>
          <p:cNvSpPr/>
          <p:nvPr/>
        </p:nvSpPr>
        <p:spPr>
          <a:xfrm>
            <a:off x="7376008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376008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60" name="dcell 4-3"/>
          <p:cNvSpPr/>
          <p:nvPr/>
        </p:nvSpPr>
        <p:spPr>
          <a:xfrm>
            <a:off x="9555251" y="5458968"/>
            <a:ext cx="2087804" cy="731520"/>
          </a:xfrm>
          <a:prstGeom prst="roundRect">
            <a:avLst>
              <a:gd name="adj" fmla="val 12500"/>
            </a:avLst>
          </a:prstGeom>
          <a:ln w="15875">
            <a:solidFill>
              <a:srgbClr val="8C93A6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9555251" y="5458968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□ 未定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空白を埋めるヒント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空白部分で検討する選択肢（例）</a:t>
            </a:r>
            <a:endParaRPr lang="en-US" sz="3000" dirty="0"/>
          </a:p>
        </p:txBody>
      </p:sp>
      <p:sp>
        <p:nvSpPr>
          <p:cNvPr id="4" name="idea 0"/>
          <p:cNvSpPr/>
          <p:nvPr/>
        </p:nvSpPr>
        <p:spPr>
          <a:xfrm>
            <a:off x="548640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新卒大学生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新卒向け求人サイト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スカウト型（逆求人）サービス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インターン・会社説明会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若手社員によるSNS発信</a:t>
            </a:r>
            <a:endParaRPr lang="en-US" sz="1300" dirty="0"/>
          </a:p>
        </p:txBody>
      </p:sp>
      <p:sp>
        <p:nvSpPr>
          <p:cNvPr id="7" name="idea 1"/>
          <p:cNvSpPr/>
          <p:nvPr/>
        </p:nvSpPr>
        <p:spPr>
          <a:xfrm>
            <a:off x="3379394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07994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理学療法士（新卒）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07994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養成校への求人票・学校訪問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臨床実習の受け入れ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養成校の合同就職説明会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医療職向けの新卒求人サイト</a:t>
            </a:r>
            <a:endParaRPr lang="en-US" sz="1300" dirty="0"/>
          </a:p>
        </p:txBody>
      </p:sp>
      <p:sp>
        <p:nvSpPr>
          <p:cNvPr id="10" name="idea 2"/>
          <p:cNvSpPr/>
          <p:nvPr/>
        </p:nvSpPr>
        <p:spPr>
          <a:xfrm>
            <a:off x="6210148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8748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理学療法士（中途）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リハビリ職専門の紹介会社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医療・介護職の求人サイト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社員紹介（リファラル）制度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職場見学・体験会</a:t>
            </a:r>
            <a:endParaRPr lang="en-US" sz="1300" dirty="0"/>
          </a:p>
        </p:txBody>
      </p:sp>
      <p:sp>
        <p:nvSpPr>
          <p:cNvPr id="13" name="idea 3"/>
          <p:cNvSpPr/>
          <p:nvPr/>
        </p:nvSpPr>
        <p:spPr>
          <a:xfrm>
            <a:off x="9040901" y="1645920"/>
            <a:ext cx="2602154" cy="420624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69501" y="18288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第2新卒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269501" y="2377440"/>
            <a:ext cx="214495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若手向けの紹介会社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若手向けの転職サイト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SNS広告・YouTubeで仕事紹介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未経験から育てる研修の打ち出し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候補の例です。実際に使うかは費用・実績を比べて決めます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タスク化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空白をタスクに分解する（責任者：松田）</a:t>
            </a:r>
            <a:endParaRPr lang="en-US" sz="3000" dirty="0"/>
          </a:p>
        </p:txBody>
      </p:sp>
      <p:graphicFrame>
        <p:nvGraphicFramePr>
          <p:cNvPr id="54" name="ta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394960"/>
                <a:gridCol w="2377440"/>
                <a:gridCol w="822960"/>
                <a:gridCol w="914400"/>
                <a:gridCol w="10817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タスク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対象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担当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期限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状況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紹介会社4社の紹介数・決定数・費用を一覧にする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新卒大学生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理学療法士（新卒）向けの採用チャネルを洗い出す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理学療法士・新卒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理学療法士（中途）向けの紹介会社・媒体を洗い出す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理学療法士・中途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第2新卒向けの紹介会社・媒体を洗い出す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第2新卒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利用中の求人媒体と、費用・応募数を一覧にする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ターゲット別の採用目標（人数・時期）を決める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ターゲット別の求める人物像・採用基準を決める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ターゲット別の訴求ポイント（求人原稿）を作る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全ターゲット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SNS（Insta・YouTube・FB）の役割と対象を決める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自社SNS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応募→面接→内定→入社の数を毎月記録する仕組みを作る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研修で学んだ採用基準・面接方法を反映する（帰国後）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全体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松田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未着手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進め方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次のステップ</a:t>
            </a:r>
            <a:endParaRPr lang="en-US" sz="3000" dirty="0"/>
          </a:p>
        </p:txBody>
      </p:sp>
      <p:sp>
        <p:nvSpPr>
          <p:cNvPr id="4" name="next 0"/>
          <p:cNvSpPr/>
          <p:nvPr/>
        </p:nvSpPr>
        <p:spPr>
          <a:xfrm>
            <a:off x="548640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今週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現状を数字でつかむ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チャネル別の応募数・採用数・費用を集める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空白（サブトピック）を一覧にする</a:t>
            </a:r>
            <a:endParaRPr lang="en-US" sz="1400" dirty="0"/>
          </a:p>
        </p:txBody>
      </p:sp>
      <p:sp>
        <p:nvSpPr>
          <p:cNvPr id="8" name="next arrow 0"/>
          <p:cNvSpPr/>
          <p:nvPr/>
        </p:nvSpPr>
        <p:spPr>
          <a:xfrm rot="5400000">
            <a:off x="4091330" y="3611880"/>
            <a:ext cx="228600" cy="164592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9" name="next 1"/>
          <p:cNvSpPr/>
          <p:nvPr/>
        </p:nvSpPr>
        <p:spPr>
          <a:xfrm>
            <a:off x="4338218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研修中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5社から採用の仕組みを学ぶ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採用基準・面接の方法を質問する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見学メモシートに記入する</a:t>
            </a:r>
            <a:endParaRPr lang="en-US" sz="1400" dirty="0"/>
          </a:p>
        </p:txBody>
      </p:sp>
      <p:sp>
        <p:nvSpPr>
          <p:cNvPr id="13" name="next arrow 1"/>
          <p:cNvSpPr/>
          <p:nvPr/>
        </p:nvSpPr>
        <p:spPr>
          <a:xfrm rot="5400000">
            <a:off x="7880909" y="3611880"/>
            <a:ext cx="228600" cy="164592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4" name="next 2"/>
          <p:cNvSpPr/>
          <p:nvPr/>
        </p:nvSpPr>
        <p:spPr>
          <a:xfrm>
            <a:off x="8127797" y="173736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2117" y="1965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帰国後1か月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377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ターゲット別に設計する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24612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目標・人物像・訴求・チャネルを決める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タスク表で毎週進捗を確認する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8745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学んだ仕組みと整理した採用で、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生産性2億円/人へ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749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① 5社から仕組みを持ち帰る　② 採用の空白をタスクで埋める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on Valley Visit">
  <a:themeElements>
    <a:clrScheme name="Silicon Valley Visit">
      <a:dk1>
        <a:srgbClr val="1C2230"/>
      </a:dk1>
      <a:lt1>
        <a:srgbClr val="FFFFFF"/>
      </a:lt1>
      <a:dk2>
        <a:srgbClr val="4A5368"/>
      </a:dk2>
      <a:lt2>
        <a:srgbClr val="F3F4F7"/>
      </a:lt2>
      <a:accent1>
        <a:srgbClr val="F26B3A"/>
      </a:accent1>
      <a:accent2>
        <a:srgbClr val="1FA39A"/>
      </a:accent2>
      <a:accent3>
        <a:srgbClr val="3D5A99"/>
      </a:accent3>
      <a:accent4>
        <a:srgbClr val="F2B33A"/>
      </a:accent4>
      <a:accent5>
        <a:srgbClr val="8C93A6"/>
      </a:accent5>
      <a:accent6>
        <a:srgbClr val="D9475A"/>
      </a:accent6>
      <a:hlink>
        <a:srgbClr val="1FA39A"/>
      </a:hlink>
      <a:folHlink>
        <a:srgbClr val="8C93A6"/>
      </a:folHlink>
    </a:clrScheme>
    <a:fontScheme name="Silicon Valley Visit">
      <a:majorFont>
        <a:latin typeface="Hiragino Sans"/>
        <a:ea typeface="Hiragino Sans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Hiragino San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シリコンバレー企業見学 2026年10月 まとめ</dc:title>
  <dc:subject>PptxGenJS Presentation</dc:subject>
  <dc:creator>PptxGenJS</dc:creator>
  <cp:lastModifiedBy>PptxGenJS</cp:lastModifiedBy>
  <cp:revision>1</cp:revision>
  <dcterms:created xsi:type="dcterms:W3CDTF">2026-10-14T13:23:05Z</dcterms:created>
  <dcterms:modified xsi:type="dcterms:W3CDTF">2026-10-14T13:23:05Z</dcterms:modified>
</cp:coreProperties>
</file>