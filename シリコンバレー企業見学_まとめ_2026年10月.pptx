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イントロ" id="{fb60cc17-d124-3afc-8f77-03e93f27fbcb}">
          <p14:sldIdLst>
            <p14:sldId id="256"/>
            <p14:sldId id="257"/>
            <p14:sldId id="258"/>
            <p14:sldId id="259"/>
            <p14:sldId id="260"/>
          </p14:sldIdLst>
        </p14:section>
        <p14:section name="① 海外スワイプ" id="{f910c93a-cf25-0b2f-9ffc-151604b777c7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② 採用の現状" id="{8f9c395d-2630-7d01-25e1-fbe509c59113}">
          <p14:sldIdLst>
            <p14:sldId id="300"/>
            <p14:sldId id="301"/>
            <p14:sldId id="302"/>
            <p14:sldId id="303"/>
            <p14:sldId id="304"/>
            <p14:sldId id="305"/>
            <p14:sldId id="306"/>
          </p14:sldIdLst>
        </p14:section>
        <p14:section name="まとめ" id="{223cb96e-4d51-6d7a-f8d9-61a7ff51250a}">
          <p14:sldIdLst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4A5368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4A5368"/>
                </a:solidFill>
                <a:latin typeface="+mn-lt"/>
              </a:rPr>
              <a:t>1人当たり生産性（億円）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1人当たり生産性</c:v>
                </c:pt>
              </c:strCache>
            </c:strRef>
          </c:tx>
          <c:spPr>
            <a:solidFill>
              <a:srgbClr val="8C93A6"/>
            </a:solidFill>
            <a:effectLst/>
          </c:spPr>
          <c:invertIfNegative val="0"/>
          <c:dLbls>
            <c:numFmt formatCode="0.0&quot;億円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C22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93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6B3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現状（5期目・MBJ）</c:v>
                  </c:pt>
                  <c:pt idx="1">
                    <c:v>ゴール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</c:v>
                </c:pt>
                <c:pt idx="1">
                  <c:v>2</c:v>
                </c:pt>
              </c:numCache>
            </c:numRef>
          </c:val>
        </c:ser>
        <c:dLbls>
          <c:numFmt formatCode="0.0&quot;億円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1C22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A53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主な出典:
https://corporate-rebels.com/tesla-employee-handbook/
https://www.tesla.com/careers/tesla-start
https://www.consultantsmind.com/2019/06/16/elon-musk-meeting/
https://gulftoday.ae/business/2024/06/18/musk-plans-stock-option-grants-to-tesla-s-high-performers-sources-say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主な出典:
https://rework.withgoogle.com/
https://www.cnbc.com/2022/05/06/google-says-its-raising-employee-pay-in-performance-review-revamp.html
https://www.nbcnews.com/business/business-news/google-eliminated-35-percent-managers-overseeing-small-teams-exec-says-rcna227486
書籍：『ワーク・ルールズ!』『How Google Works』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主な出典:
https://www.nasa.gov/feature/astronaut-selection
https://nodis3.gsfc.nasa.gov/displayDir.cfm?Internal_ID=N_PR_3430_001D_&amp;page_name=Chapter3
https://appel.nasa.gov/2018/03/29/introducing-appel-knowledge-services
https://www.opm.gov/policy-data-oversight/pay-leave/salaries-wages/salary-tables/pdf/2026/SF.pdf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主な出典:
https://about.fb.com/news/2023/03/mark-zuckerberg-meta-year-of-efficiency/
https://www.metacareers.com/culture
https://fortune.com/2023/03/28/meta-more-frequent-reviews-lower-bonuses
https://www.peoplematters.in/news/ai-and-emerging-tech/after-1000-layoffs-meta-lines-up-300percent-bonuses-for-top-performers-48033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主な出典:
https://cardinalatwork.stanford.edu/careers/grow-and-perform
https://cardinalatwork.stanford.edu/benefits-rewards/compensation/staff-compensation/salary-structure
https://cardinalatwork.stanford.edu/manager-toolkit/attract/interviewing
https://fortune.com/2024/06/18/stanford-nick-bloom-hybrid-work-cuts-attrition-no-negative-impact-promoted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見学先ごとにこの表を1枚ずつ使い、帰国後に5社分を比べて自社案にまとめます。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マインドマップの『求人者』配下の空白（サブトピック）を、この5項目で埋めていきます。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11094415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874520"/>
            <a:ext cx="1109441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74904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シリコンバレー企業見学  2026年10月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87452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世界トップクラスの人事システムを、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自社へ持ち帰る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749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目的・現状・アクション ／ 5社の人事システム分析 ／ 採用の現状</a:t>
            </a:r>
            <a:endParaRPr lang="en-US" sz="2000" dirty="0"/>
          </a:p>
        </p:txBody>
      </p:sp>
      <p:pic>
        <p:nvPicPr>
          <p:cNvPr id="5" name="plan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594360" cy="594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Tesla ・ Google ・ NASA ・ Meta ・ Stanford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WHY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なぜ行くのか — 目的とゴール</a:t>
            </a:r>
            <a:endParaRPr lang="en-US" sz="3000" dirty="0"/>
          </a:p>
        </p:txBody>
      </p:sp>
      <p:sp>
        <p:nvSpPr>
          <p:cNvPr id="4" name="purpose card"/>
          <p:cNvSpPr/>
          <p:nvPr/>
        </p:nvSpPr>
        <p:spPr>
          <a:xfrm>
            <a:off x="548640" y="1645920"/>
            <a:ext cx="5410048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/>
        </p:spPr>
      </p:sp>
      <p:sp>
        <p:nvSpPr>
          <p:cNvPr id="5" name="purpose circle"/>
          <p:cNvSpPr/>
          <p:nvPr/>
        </p:nvSpPr>
        <p:spPr>
          <a:xfrm>
            <a:off x="960120" y="2011680"/>
            <a:ext cx="868680" cy="8686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purpo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8603" y="2220163"/>
            <a:ext cx="451714" cy="45171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0120" y="3108960"/>
            <a:ext cx="458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目的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61188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世界トップクラスの企業の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人事システムを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自社に導入する</a:t>
            </a:r>
            <a:endParaRPr lang="en-US" sz="2600" dirty="0"/>
          </a:p>
        </p:txBody>
      </p:sp>
      <p:sp>
        <p:nvSpPr>
          <p:cNvPr id="9" name="goal card"/>
          <p:cNvSpPr/>
          <p:nvPr/>
        </p:nvSpPr>
        <p:spPr>
          <a:xfrm>
            <a:off x="6233008" y="1645920"/>
            <a:ext cx="5410048" cy="4480560"/>
          </a:xfrm>
          <a:prstGeom prst="roundRect">
            <a:avLst>
              <a:gd name="adj" fmla="val 2041"/>
            </a:avLst>
          </a:prstGeom>
          <a:solidFill>
            <a:schemeClr val="tx1"/>
          </a:solidFill>
          <a:ln/>
        </p:spPr>
      </p:sp>
      <p:sp>
        <p:nvSpPr>
          <p:cNvPr id="10" name="goal circle"/>
          <p:cNvSpPr/>
          <p:nvPr/>
        </p:nvSpPr>
        <p:spPr>
          <a:xfrm>
            <a:off x="6644488" y="201168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goal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2971" y="2220163"/>
            <a:ext cx="451714" cy="45171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644488" y="3108960"/>
            <a:ext cx="458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ゴール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644488" y="3520440"/>
            <a:ext cx="458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生産性 </a:t>
            </a:r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2億円</a:t>
            </a:r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 / 人</a:t>
            </a:r>
            <a:endParaRPr lang="en-US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6644488" y="4892040"/>
            <a:ext cx="4587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人事システムをスワイプし、自社への落とし込みまでやり切る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現状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現状は8,000万円弱 — ゴールまで約2.5倍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gap card"/>
          <p:cNvSpPr/>
          <p:nvPr/>
        </p:nvSpPr>
        <p:spPr>
          <a:xfrm>
            <a:off x="8001000" y="1737360"/>
            <a:ext cx="3642055" cy="4297680"/>
          </a:xfrm>
          <a:prstGeom prst="roundRect">
            <a:avLst>
              <a:gd name="adj" fmla="val 2511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366760" y="20574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ギャップ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66760" y="25146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×2.5</a:t>
            </a:r>
            <a:endParaRPr lang="en-US" sz="7200" dirty="0"/>
          </a:p>
        </p:txBody>
      </p:sp>
      <p:sp>
        <p:nvSpPr>
          <p:cNvPr id="8" name="Text 5"/>
          <p:cNvSpPr txBox="1"/>
          <p:nvPr/>
        </p:nvSpPr>
        <p:spPr>
          <a:xfrm>
            <a:off x="8366760" y="393192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さらに現状の生産性は下がり続けている。仕組みの作り直しが必要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問題点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生産性が下がり続ける原因は「仕組みがない」こと</a:t>
            </a:r>
            <a:endParaRPr lang="en-US" sz="3000" dirty="0"/>
          </a:p>
        </p:txBody>
      </p:sp>
      <p:sp>
        <p:nvSpPr>
          <p:cNvPr id="4" name="top problem"/>
          <p:cNvSpPr/>
          <p:nvPr/>
        </p:nvSpPr>
        <p:spPr>
          <a:xfrm>
            <a:off x="548640" y="1645920"/>
            <a:ext cx="11094415" cy="731520"/>
          </a:xfrm>
          <a:prstGeom prst="roundRect">
            <a:avLst>
              <a:gd name="adj" fmla="val 12500"/>
            </a:avLst>
          </a:prstGeom>
          <a:solidFill>
            <a:schemeClr val="accent6"/>
          </a:solidFill>
          <a:ln/>
        </p:spPr>
      </p:sp>
      <p:sp>
        <p:nvSpPr>
          <p:cNvPr id="5" name="down bg"/>
          <p:cNvSpPr/>
          <p:nvPr/>
        </p:nvSpPr>
        <p:spPr>
          <a:xfrm>
            <a:off x="731520" y="1755648"/>
            <a:ext cx="512064" cy="512064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6" name="dow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1837944"/>
            <a:ext cx="347472" cy="347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45920"/>
            <a:ext cx="99971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生産性が下がり続けている（ボトム層が全体を引っ張っている）</a:t>
            </a:r>
            <a:endParaRPr lang="en-US" sz="2000" dirty="0"/>
          </a:p>
        </p:txBody>
      </p:sp>
      <p:sp>
        <p:nvSpPr>
          <p:cNvPr id="8" name="connector 0"/>
          <p:cNvSpPr/>
          <p:nvPr/>
        </p:nvSpPr>
        <p:spPr>
          <a:xfrm>
            <a:off x="3253664" y="2377440"/>
            <a:ext cx="0" cy="365760"/>
          </a:xfrm>
          <a:prstGeom prst="line">
            <a:avLst/>
          </a:prstGeom>
          <a:noFill/>
          <a:ln w="19050">
            <a:solidFill>
              <a:srgbClr val="8C93A6"/>
            </a:solidFill>
            <a:prstDash val="solid"/>
          </a:ln>
        </p:spPr>
      </p:sp>
      <p:sp>
        <p:nvSpPr>
          <p:cNvPr id="9" name="cause card 0"/>
          <p:cNvSpPr/>
          <p:nvPr/>
        </p:nvSpPr>
        <p:spPr>
          <a:xfrm>
            <a:off x="548640" y="2743200"/>
            <a:ext cx="5410048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" y="2743200"/>
            <a:ext cx="4861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生産性のない人材が増えてきた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749040"/>
            <a:ext cx="5410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根本原因</a:t>
            </a:r>
            <a:endParaRPr lang="en-US" sz="1300" dirty="0"/>
          </a:p>
        </p:txBody>
      </p:sp>
      <p:sp>
        <p:nvSpPr>
          <p:cNvPr id="12" name="root 0-0"/>
          <p:cNvSpPr/>
          <p:nvPr/>
        </p:nvSpPr>
        <p:spPr>
          <a:xfrm>
            <a:off x="548640" y="4114800"/>
            <a:ext cx="5410048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9475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4114800"/>
            <a:ext cx="486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教育が行き届いていない</a:t>
            </a:r>
            <a:endParaRPr lang="en-US" sz="1600" dirty="0"/>
          </a:p>
        </p:txBody>
      </p:sp>
      <p:sp>
        <p:nvSpPr>
          <p:cNvPr id="14" name="root 0-1"/>
          <p:cNvSpPr/>
          <p:nvPr/>
        </p:nvSpPr>
        <p:spPr>
          <a:xfrm>
            <a:off x="548640" y="4892040"/>
            <a:ext cx="5410048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9475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4892040"/>
            <a:ext cx="486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評価制度がない</a:t>
            </a:r>
            <a:endParaRPr lang="en-US" sz="1600" dirty="0"/>
          </a:p>
        </p:txBody>
      </p:sp>
      <p:sp>
        <p:nvSpPr>
          <p:cNvPr id="16" name="connector 1"/>
          <p:cNvSpPr/>
          <p:nvPr/>
        </p:nvSpPr>
        <p:spPr>
          <a:xfrm>
            <a:off x="8938031" y="2377440"/>
            <a:ext cx="0" cy="365760"/>
          </a:xfrm>
          <a:prstGeom prst="line">
            <a:avLst/>
          </a:prstGeom>
          <a:noFill/>
          <a:ln w="19050">
            <a:solidFill>
              <a:srgbClr val="8C93A6"/>
            </a:solidFill>
            <a:prstDash val="solid"/>
          </a:ln>
        </p:spPr>
      </p:sp>
      <p:sp>
        <p:nvSpPr>
          <p:cNvPr id="17" name="cause card 1"/>
          <p:cNvSpPr/>
          <p:nvPr/>
        </p:nvSpPr>
        <p:spPr>
          <a:xfrm>
            <a:off x="6233008" y="2743200"/>
            <a:ext cx="5410048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07328" y="2743200"/>
            <a:ext cx="4861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生産性を上げられる人が増えない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6233008" y="3749040"/>
            <a:ext cx="5410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根本原因</a:t>
            </a:r>
            <a:endParaRPr lang="en-US" sz="1300" dirty="0"/>
          </a:p>
        </p:txBody>
      </p:sp>
      <p:sp>
        <p:nvSpPr>
          <p:cNvPr id="20" name="root 1-0"/>
          <p:cNvSpPr/>
          <p:nvPr/>
        </p:nvSpPr>
        <p:spPr>
          <a:xfrm>
            <a:off x="6233008" y="4114800"/>
            <a:ext cx="5410048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9475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7328" y="4114800"/>
            <a:ext cx="486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教育が行き届いていない（経営層）</a:t>
            </a:r>
            <a:endParaRPr lang="en-US" sz="1600" dirty="0"/>
          </a:p>
        </p:txBody>
      </p:sp>
      <p:sp>
        <p:nvSpPr>
          <p:cNvPr id="22" name="root 1-1"/>
          <p:cNvSpPr/>
          <p:nvPr/>
        </p:nvSpPr>
        <p:spPr>
          <a:xfrm>
            <a:off x="6233008" y="4892040"/>
            <a:ext cx="5410048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9475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07328" y="4892040"/>
            <a:ext cx="486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評価・組織・給与制度が構築されていない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アクション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今回のアクションは2つ</a:t>
            </a:r>
            <a:endParaRPr lang="en-US" sz="3000" dirty="0"/>
          </a:p>
        </p:txBody>
      </p:sp>
      <p:sp>
        <p:nvSpPr>
          <p:cNvPr id="4" name="action card 0"/>
          <p:cNvSpPr/>
          <p:nvPr/>
        </p:nvSpPr>
        <p:spPr>
          <a:xfrm>
            <a:off x="548640" y="1645920"/>
            <a:ext cx="5410048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/>
        </p:spPr>
      </p:sp>
      <p:sp>
        <p:nvSpPr>
          <p:cNvPr id="5" name="action 0 circle"/>
          <p:cNvSpPr/>
          <p:nvPr/>
        </p:nvSpPr>
        <p:spPr>
          <a:xfrm>
            <a:off x="914400" y="19659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ction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938" y="2152498"/>
            <a:ext cx="404165" cy="4041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74520" y="201168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①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971800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海外の人事システムをスワイプし、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自社に落とし込む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977640"/>
            <a:ext cx="46785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5社の採用・教育・評価・組織・給与を調べる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現地で聞く質問を会社ごとに準備する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帰国後に自社の仕組みとして導入する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532120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このあと 5社分の調査と質問</a:t>
            </a:r>
            <a:endParaRPr lang="en-US" sz="1300" dirty="0"/>
          </a:p>
        </p:txBody>
      </p:sp>
      <p:sp>
        <p:nvSpPr>
          <p:cNvPr id="11" name="action card 1"/>
          <p:cNvSpPr/>
          <p:nvPr/>
        </p:nvSpPr>
        <p:spPr>
          <a:xfrm>
            <a:off x="6233008" y="1645920"/>
            <a:ext cx="5410048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/>
        </p:spPr>
      </p:sp>
      <p:sp>
        <p:nvSpPr>
          <p:cNvPr id="12" name="action 1 circle"/>
          <p:cNvSpPr/>
          <p:nvPr/>
        </p:nvSpPr>
        <p:spPr>
          <a:xfrm>
            <a:off x="6598768" y="196596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action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5305" y="2152498"/>
            <a:ext cx="404165" cy="40416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558888" y="201168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②</a:t>
            </a:r>
            <a:endParaRPr lang="en-US" sz="4000" dirty="0"/>
          </a:p>
        </p:txBody>
      </p:sp>
      <p:sp>
        <p:nvSpPr>
          <p:cNvPr id="15" name="Text 11"/>
          <p:cNvSpPr txBox="1"/>
          <p:nvPr/>
        </p:nvSpPr>
        <p:spPr>
          <a:xfrm>
            <a:off x="6598768" y="2971800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今の採用を見える化し、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タスクにする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6598768" y="3977640"/>
            <a:ext cx="46785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媒体・紹介会社・自社SNSの現状を整理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空白（未検討）の部分を洗い出す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誰が・何を・いつまでにやるかに分解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6598768" y="5532120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まずは現状の整理から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ACTION ①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87452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海外の人事システムを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スワイプして自社へ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749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5社 × 6つの観点で調べ、現地で聞く質問を準備する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WHAT WE DO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やることは4ステップ — 見る・真似る・分解・実行</a:t>
            </a:r>
            <a:endParaRPr lang="en-US" sz="3000" dirty="0"/>
          </a:p>
        </p:txBody>
      </p:sp>
      <p:sp>
        <p:nvSpPr>
          <p:cNvPr id="4" name="step card 1"/>
          <p:cNvSpPr/>
          <p:nvPr/>
        </p:nvSpPr>
        <p:spPr>
          <a:xfrm>
            <a:off x="548640" y="1645920"/>
            <a:ext cx="2533574" cy="4480560"/>
          </a:xfrm>
          <a:prstGeom prst="roundRect">
            <a:avLst>
              <a:gd name="adj" fmla="val 3609"/>
            </a:avLst>
          </a:prstGeom>
          <a:solidFill>
            <a:schemeClr val="bg2"/>
          </a:solidFill>
          <a:ln/>
        </p:spPr>
      </p:sp>
      <p:sp>
        <p:nvSpPr>
          <p:cNvPr id="5" name="step 1 circle"/>
          <p:cNvSpPr/>
          <p:nvPr/>
        </p:nvSpPr>
        <p:spPr>
          <a:xfrm>
            <a:off x="868680" y="196596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step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152498"/>
            <a:ext cx="404165" cy="4041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971800"/>
            <a:ext cx="18934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STEP 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337560"/>
            <a:ext cx="18934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現地見学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977640"/>
            <a:ext cx="189349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Tesla・Google・NASA・Meta・Stanfordの人事の仕組みを現地で学ぶ</a:t>
            </a:r>
            <a:endParaRPr lang="en-US" sz="1500" dirty="0"/>
          </a:p>
        </p:txBody>
      </p:sp>
      <p:sp>
        <p:nvSpPr>
          <p:cNvPr id="10" name="step arrow 0"/>
          <p:cNvSpPr/>
          <p:nvPr/>
        </p:nvSpPr>
        <p:spPr>
          <a:xfrm rot="5400000">
            <a:off x="3118790" y="3749040"/>
            <a:ext cx="246888" cy="182880"/>
          </a:xfrm>
          <a:prstGeom prst="triangle">
            <a:avLst/>
          </a:prstGeom>
          <a:solidFill>
            <a:schemeClr val="accent5"/>
          </a:solidFill>
          <a:ln/>
        </p:spPr>
      </p:sp>
      <p:sp>
        <p:nvSpPr>
          <p:cNvPr id="11" name="step card 2"/>
          <p:cNvSpPr/>
          <p:nvPr/>
        </p:nvSpPr>
        <p:spPr>
          <a:xfrm>
            <a:off x="3402254" y="1645920"/>
            <a:ext cx="2533574" cy="4480560"/>
          </a:xfrm>
          <a:prstGeom prst="roundRect">
            <a:avLst>
              <a:gd name="adj" fmla="val 3609"/>
            </a:avLst>
          </a:prstGeom>
          <a:solidFill>
            <a:schemeClr val="bg2"/>
          </a:solidFill>
          <a:ln/>
        </p:spPr>
      </p:sp>
      <p:sp>
        <p:nvSpPr>
          <p:cNvPr id="12" name="step 2 circle"/>
          <p:cNvSpPr/>
          <p:nvPr/>
        </p:nvSpPr>
        <p:spPr>
          <a:xfrm>
            <a:off x="3722294" y="196596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step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8831" y="2152498"/>
            <a:ext cx="404165" cy="40416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722294" y="2971800"/>
            <a:ext cx="18934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STEP 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3722294" y="3337560"/>
            <a:ext cx="18934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スワイプ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3722294" y="3977640"/>
            <a:ext cx="189349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採用・教育・評価・組織・給与の仕組みを型ごと真似る</a:t>
            </a:r>
            <a:endParaRPr lang="en-US" sz="1500" dirty="0"/>
          </a:p>
        </p:txBody>
      </p:sp>
      <p:sp>
        <p:nvSpPr>
          <p:cNvPr id="17" name="step arrow 1"/>
          <p:cNvSpPr/>
          <p:nvPr/>
        </p:nvSpPr>
        <p:spPr>
          <a:xfrm rot="5400000">
            <a:off x="5972404" y="3749040"/>
            <a:ext cx="246888" cy="182880"/>
          </a:xfrm>
          <a:prstGeom prst="triangle">
            <a:avLst/>
          </a:prstGeom>
          <a:solidFill>
            <a:schemeClr val="accent5"/>
          </a:solidFill>
          <a:ln/>
        </p:spPr>
      </p:sp>
      <p:sp>
        <p:nvSpPr>
          <p:cNvPr id="18" name="step card 3"/>
          <p:cNvSpPr/>
          <p:nvPr/>
        </p:nvSpPr>
        <p:spPr>
          <a:xfrm>
            <a:off x="6255868" y="1645920"/>
            <a:ext cx="2533574" cy="4480560"/>
          </a:xfrm>
          <a:prstGeom prst="roundRect">
            <a:avLst>
              <a:gd name="adj" fmla="val 3609"/>
            </a:avLst>
          </a:prstGeom>
          <a:solidFill>
            <a:schemeClr val="bg2"/>
          </a:solidFill>
          <a:ln/>
        </p:spPr>
      </p:sp>
      <p:sp>
        <p:nvSpPr>
          <p:cNvPr id="19" name="step 3 circle"/>
          <p:cNvSpPr/>
          <p:nvPr/>
        </p:nvSpPr>
        <p:spPr>
          <a:xfrm>
            <a:off x="6575908" y="196596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step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445" y="2152498"/>
            <a:ext cx="404165" cy="40416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575908" y="2971800"/>
            <a:ext cx="18934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STEP 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6575908" y="3337560"/>
            <a:ext cx="18934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タスク化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6575908" y="3977640"/>
            <a:ext cx="189349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学んだ人事戦術を、誰が・何を・いつまでにやるかに分解</a:t>
            </a:r>
            <a:endParaRPr lang="en-US" sz="1500" dirty="0"/>
          </a:p>
        </p:txBody>
      </p:sp>
      <p:sp>
        <p:nvSpPr>
          <p:cNvPr id="24" name="step arrow 2"/>
          <p:cNvSpPr/>
          <p:nvPr/>
        </p:nvSpPr>
        <p:spPr>
          <a:xfrm rot="5400000">
            <a:off x="8826017" y="3749040"/>
            <a:ext cx="246888" cy="182880"/>
          </a:xfrm>
          <a:prstGeom prst="triangle">
            <a:avLst/>
          </a:prstGeom>
          <a:solidFill>
            <a:schemeClr val="accent5"/>
          </a:solidFill>
          <a:ln/>
        </p:spPr>
      </p:sp>
      <p:sp>
        <p:nvSpPr>
          <p:cNvPr id="25" name="step card 4"/>
          <p:cNvSpPr/>
          <p:nvPr/>
        </p:nvSpPr>
        <p:spPr>
          <a:xfrm>
            <a:off x="9109481" y="1645920"/>
            <a:ext cx="2533574" cy="4480560"/>
          </a:xfrm>
          <a:prstGeom prst="roundRect">
            <a:avLst>
              <a:gd name="adj" fmla="val 3609"/>
            </a:avLst>
          </a:prstGeom>
          <a:solidFill>
            <a:schemeClr val="bg2"/>
          </a:solidFill>
          <a:ln/>
        </p:spPr>
      </p:sp>
      <p:sp>
        <p:nvSpPr>
          <p:cNvPr id="26" name="step 4 circle"/>
          <p:cNvSpPr/>
          <p:nvPr/>
        </p:nvSpPr>
        <p:spPr>
          <a:xfrm>
            <a:off x="9429521" y="19659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step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6059" y="2152498"/>
            <a:ext cx="404165" cy="40416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9429521" y="2971800"/>
            <a:ext cx="18934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STEP 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9429521" y="3337560"/>
            <a:ext cx="18934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自社導入</a:t>
            </a:r>
            <a:endParaRPr lang="en-US" sz="2200" dirty="0"/>
          </a:p>
        </p:txBody>
      </p:sp>
      <p:sp>
        <p:nvSpPr>
          <p:cNvPr id="30" name="Text 24"/>
          <p:cNvSpPr txBox="1"/>
          <p:nvPr/>
        </p:nvSpPr>
        <p:spPr>
          <a:xfrm>
            <a:off x="9429521" y="3977640"/>
            <a:ext cx="189349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現状把握から始め、自社の仕組みとして導入まで実施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見学先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見学先5社 — それぞれの人事の特徴</a:t>
            </a:r>
            <a:endParaRPr lang="en-US" sz="3000" dirty="0"/>
          </a:p>
        </p:txBody>
      </p:sp>
      <p:sp>
        <p:nvSpPr>
          <p:cNvPr id="4" name="co card tesla"/>
          <p:cNvSpPr/>
          <p:nvPr/>
        </p:nvSpPr>
        <p:spPr>
          <a:xfrm>
            <a:off x="548640" y="1645920"/>
            <a:ext cx="2036003" cy="4526280"/>
          </a:xfrm>
          <a:prstGeom prst="roundRect">
            <a:avLst>
              <a:gd name="adj" fmla="val 4491"/>
            </a:avLst>
          </a:prstGeom>
          <a:solidFill>
            <a:schemeClr val="bg2"/>
          </a:solidFill>
          <a:ln/>
        </p:spPr>
      </p:sp>
      <p:sp>
        <p:nvSpPr>
          <p:cNvPr id="5" name="co tesla circle"/>
          <p:cNvSpPr/>
          <p:nvPr/>
        </p:nvSpPr>
        <p:spPr>
          <a:xfrm>
            <a:off x="822960" y="1920240"/>
            <a:ext cx="685800" cy="6858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co tesla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8483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88920"/>
            <a:ext cx="14873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Tesla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91840"/>
            <a:ext cx="14873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学歴より「並外れた能力」、ルールより現場判断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343400"/>
            <a:ext cx="1487363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学歴不問。規則集の代わりに短い行動宣言。半年ごとに1〜5で評価し、低評価者は去る</a:t>
            </a:r>
            <a:endParaRPr lang="en-US" sz="1300" dirty="0"/>
          </a:p>
        </p:txBody>
      </p:sp>
      <p:sp>
        <p:nvSpPr>
          <p:cNvPr id="10" name="co card google"/>
          <p:cNvSpPr/>
          <p:nvPr/>
        </p:nvSpPr>
        <p:spPr>
          <a:xfrm>
            <a:off x="2813243" y="1645920"/>
            <a:ext cx="2036003" cy="4526280"/>
          </a:xfrm>
          <a:prstGeom prst="roundRect">
            <a:avLst>
              <a:gd name="adj" fmla="val 4491"/>
            </a:avLst>
          </a:prstGeom>
          <a:solidFill>
            <a:schemeClr val="bg2"/>
          </a:solidFill>
          <a:ln/>
        </p:spPr>
      </p:sp>
      <p:sp>
        <p:nvSpPr>
          <p:cNvPr id="11" name="co google circle"/>
          <p:cNvSpPr/>
          <p:nvPr/>
        </p:nvSpPr>
        <p:spPr>
          <a:xfrm>
            <a:off x="3087563" y="19202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co googl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2155" y="208483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087563" y="2788920"/>
            <a:ext cx="14873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Google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3087563" y="3291840"/>
            <a:ext cx="14873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人事をデータで科学する会社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087563" y="4343400"/>
            <a:ext cx="1487363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構造化面接で「学ぶ力」を採る。成果（インパクト）を5段階で評価し、報酬に大きく差をつける</a:t>
            </a:r>
            <a:endParaRPr lang="en-US" sz="1300" dirty="0"/>
          </a:p>
        </p:txBody>
      </p:sp>
      <p:sp>
        <p:nvSpPr>
          <p:cNvPr id="16" name="co card nasa"/>
          <p:cNvSpPr/>
          <p:nvPr/>
        </p:nvSpPr>
        <p:spPr>
          <a:xfrm>
            <a:off x="5077846" y="1645920"/>
            <a:ext cx="2036003" cy="4526280"/>
          </a:xfrm>
          <a:prstGeom prst="roundRect">
            <a:avLst>
              <a:gd name="adj" fmla="val 4491"/>
            </a:avLst>
          </a:prstGeom>
          <a:solidFill>
            <a:schemeClr val="bg2"/>
          </a:solidFill>
          <a:ln/>
        </p:spPr>
      </p:sp>
      <p:sp>
        <p:nvSpPr>
          <p:cNvPr id="17" name="co nasa circle"/>
          <p:cNvSpPr/>
          <p:nvPr/>
        </p:nvSpPr>
        <p:spPr>
          <a:xfrm>
            <a:off x="5352166" y="19202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co nasa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758" y="2084832"/>
            <a:ext cx="356616" cy="35661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352166" y="2788920"/>
            <a:ext cx="14873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NASA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5352166" y="3291840"/>
            <a:ext cx="14873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使命感と「振り返り」で、失敗できない仕事をやり切る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352166" y="4343400"/>
            <a:ext cx="1487363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公募と適格審査で採用。年3回の面談で評価。節目ごとの振り返りと、異論を言える文化を重視</a:t>
            </a:r>
            <a:endParaRPr lang="en-US" sz="1300" dirty="0"/>
          </a:p>
        </p:txBody>
      </p:sp>
      <p:sp>
        <p:nvSpPr>
          <p:cNvPr id="22" name="co card meta"/>
          <p:cNvSpPr/>
          <p:nvPr/>
        </p:nvSpPr>
        <p:spPr>
          <a:xfrm>
            <a:off x="7342449" y="1645920"/>
            <a:ext cx="2036003" cy="4526280"/>
          </a:xfrm>
          <a:prstGeom prst="roundRect">
            <a:avLst>
              <a:gd name="adj" fmla="val 4491"/>
            </a:avLst>
          </a:prstGeom>
          <a:solidFill>
            <a:schemeClr val="bg2"/>
          </a:solidFill>
          <a:ln/>
        </p:spPr>
      </p:sp>
      <p:sp>
        <p:nvSpPr>
          <p:cNvPr id="23" name="co meta circle"/>
          <p:cNvSpPr/>
          <p:nvPr/>
        </p:nvSpPr>
        <p:spPr>
          <a:xfrm>
            <a:off x="7616769" y="19202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4" name="co meta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1361" y="2084832"/>
            <a:ext cx="356616" cy="35661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616769" y="2788920"/>
            <a:ext cx="14873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Meta</a:t>
            </a:r>
            <a:endParaRPr lang="en-US" sz="2200" dirty="0"/>
          </a:p>
        </p:txBody>
      </p:sp>
      <p:sp>
        <p:nvSpPr>
          <p:cNvPr id="26" name="Text 20"/>
          <p:cNvSpPr txBox="1"/>
          <p:nvPr/>
        </p:nvSpPr>
        <p:spPr>
          <a:xfrm>
            <a:off x="7616769" y="3291840"/>
            <a:ext cx="14873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「何を変えたか（Impact）」で測る、徹底した成果主義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7616769" y="4343400"/>
            <a:ext cx="1487363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評価軸は「Impact」。360度評価と校正会議で評価分布を決め、上位と下位で賞与に大差</a:t>
            </a:r>
            <a:endParaRPr lang="en-US" sz="1300" dirty="0"/>
          </a:p>
        </p:txBody>
      </p:sp>
      <p:sp>
        <p:nvSpPr>
          <p:cNvPr id="28" name="co card stanford"/>
          <p:cNvSpPr/>
          <p:nvPr/>
        </p:nvSpPr>
        <p:spPr>
          <a:xfrm>
            <a:off x="9607052" y="1645920"/>
            <a:ext cx="2036003" cy="4526280"/>
          </a:xfrm>
          <a:prstGeom prst="roundRect">
            <a:avLst>
              <a:gd name="adj" fmla="val 4491"/>
            </a:avLst>
          </a:prstGeom>
          <a:solidFill>
            <a:schemeClr val="bg2"/>
          </a:solidFill>
          <a:ln/>
        </p:spPr>
      </p:sp>
      <p:sp>
        <p:nvSpPr>
          <p:cNvPr id="29" name="co stanford circle"/>
          <p:cNvSpPr/>
          <p:nvPr/>
        </p:nvSpPr>
        <p:spPr>
          <a:xfrm>
            <a:off x="9881372" y="192024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co stanford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5964" y="2084832"/>
            <a:ext cx="356616" cy="35661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881372" y="2788920"/>
            <a:ext cx="14873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Stanford</a:t>
            </a:r>
            <a:endParaRPr lang="en-US" sz="2200" dirty="0"/>
          </a:p>
        </p:txBody>
      </p:sp>
      <p:sp>
        <p:nvSpPr>
          <p:cNvPr id="32" name="Text 25"/>
          <p:cNvSpPr txBox="1"/>
          <p:nvPr/>
        </p:nvSpPr>
        <p:spPr>
          <a:xfrm>
            <a:off x="9881372" y="3291840"/>
            <a:ext cx="14873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同じ物差しで採用と評価をつなぐ ＋ 研究の知見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9881372" y="4343400"/>
            <a:ext cx="1487363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職務ごとの能力基準（コンピテンシー）で面接も評価も行う。研究者からは成果を出す組織の知見を学ぶ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調査の観点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6つの観点で、各社の人事システムを調べる</a:t>
            </a:r>
            <a:endParaRPr lang="en-US" sz="3000" dirty="0"/>
          </a:p>
        </p:txBody>
      </p:sp>
      <p:sp>
        <p:nvSpPr>
          <p:cNvPr id="4" name="topic hire"/>
          <p:cNvSpPr/>
          <p:nvPr/>
        </p:nvSpPr>
        <p:spPr>
          <a:xfrm>
            <a:off x="548640" y="1691640"/>
            <a:ext cx="3515258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5" name="topic hire circle"/>
          <p:cNvSpPr/>
          <p:nvPr/>
        </p:nvSpPr>
        <p:spPr>
          <a:xfrm>
            <a:off x="868680" y="2011680"/>
            <a:ext cx="685800" cy="6858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topic hir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17627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83464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1. 採用基準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246120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採用基準は？</a:t>
            </a:r>
            <a:endParaRPr lang="en-US" sz="1300" dirty="0"/>
          </a:p>
        </p:txBody>
      </p:sp>
      <p:sp>
        <p:nvSpPr>
          <p:cNvPr id="9" name="topic onboard"/>
          <p:cNvSpPr/>
          <p:nvPr/>
        </p:nvSpPr>
        <p:spPr>
          <a:xfrm>
            <a:off x="4338218" y="1691640"/>
            <a:ext cx="3515258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10" name="topic onboard circle"/>
          <p:cNvSpPr/>
          <p:nvPr/>
        </p:nvSpPr>
        <p:spPr>
          <a:xfrm>
            <a:off x="4658258" y="201168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topic onboar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2850" y="2176272"/>
            <a:ext cx="356616" cy="3566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58258" y="283464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2. 入社後の教育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658258" y="3246120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最初、入職してから教育をどうするか？</a:t>
            </a:r>
            <a:endParaRPr lang="en-US" sz="1300" dirty="0"/>
          </a:p>
        </p:txBody>
      </p:sp>
      <p:sp>
        <p:nvSpPr>
          <p:cNvPr id="14" name="topic develop"/>
          <p:cNvSpPr/>
          <p:nvPr/>
        </p:nvSpPr>
        <p:spPr>
          <a:xfrm>
            <a:off x="8127797" y="1691640"/>
            <a:ext cx="3515258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15" name="topic develop circle"/>
          <p:cNvSpPr/>
          <p:nvPr/>
        </p:nvSpPr>
        <p:spPr>
          <a:xfrm>
            <a:off x="8447837" y="201168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topic develop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2429" y="2176272"/>
            <a:ext cx="356616" cy="35661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47837" y="283464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3. 成果を出す仕組み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447837" y="3246120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成果を出すためにやっている教育・仕組みは？</a:t>
            </a:r>
            <a:endParaRPr lang="en-US" sz="1300" dirty="0"/>
          </a:p>
        </p:txBody>
      </p:sp>
      <p:sp>
        <p:nvSpPr>
          <p:cNvPr id="19" name="topic eval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20" name="topic eval circle"/>
          <p:cNvSpPr/>
          <p:nvPr/>
        </p:nvSpPr>
        <p:spPr>
          <a:xfrm>
            <a:off x="868680" y="4389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topic eval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" y="4553712"/>
            <a:ext cx="356616" cy="35661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68680" y="521208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4. 評価システム</a:t>
            </a:r>
            <a:endParaRPr lang="en-US" sz="1900" dirty="0"/>
          </a:p>
        </p:txBody>
      </p:sp>
      <p:sp>
        <p:nvSpPr>
          <p:cNvPr id="23" name="Text 17"/>
          <p:cNvSpPr txBox="1"/>
          <p:nvPr/>
        </p:nvSpPr>
        <p:spPr>
          <a:xfrm>
            <a:off x="868680" y="5623560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評価されるには何が項目としてあるか？</a:t>
            </a:r>
            <a:endParaRPr lang="en-US" sz="1300" dirty="0"/>
          </a:p>
        </p:txBody>
      </p:sp>
      <p:sp>
        <p:nvSpPr>
          <p:cNvPr id="24" name="topic org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25" name="topic org circle"/>
          <p:cNvSpPr/>
          <p:nvPr/>
        </p:nvSpPr>
        <p:spPr>
          <a:xfrm>
            <a:off x="4658258" y="438912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topic org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2850" y="4553712"/>
            <a:ext cx="356616" cy="35661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658258" y="521208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5. 組織構造</a:t>
            </a:r>
            <a:endParaRPr lang="en-US" sz="1900" dirty="0"/>
          </a:p>
        </p:txBody>
      </p:sp>
      <p:sp>
        <p:nvSpPr>
          <p:cNvPr id="28" name="Text 21"/>
          <p:cNvSpPr txBox="1"/>
          <p:nvPr/>
        </p:nvSpPr>
        <p:spPr>
          <a:xfrm>
            <a:off x="4658258" y="5623560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成果を出すために組織構造はどうなっているか？</a:t>
            </a:r>
            <a:endParaRPr lang="en-US" sz="1300" dirty="0"/>
          </a:p>
        </p:txBody>
      </p:sp>
      <p:sp>
        <p:nvSpPr>
          <p:cNvPr id="29" name="topic pay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30" name="topic pay circle"/>
          <p:cNvSpPr/>
          <p:nvPr/>
        </p:nvSpPr>
        <p:spPr>
          <a:xfrm>
            <a:off x="8447837" y="438912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1" name="topic pay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12429" y="4553712"/>
            <a:ext cx="356616" cy="356616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447837" y="521208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6. 給与システム</a:t>
            </a:r>
            <a:endParaRPr lang="en-US" sz="1900" dirty="0"/>
          </a:p>
        </p:txBody>
      </p:sp>
      <p:sp>
        <p:nvSpPr>
          <p:cNvPr id="33" name="Text 25"/>
          <p:cNvSpPr txBox="1"/>
          <p:nvPr/>
        </p:nvSpPr>
        <p:spPr>
          <a:xfrm>
            <a:off x="8447837" y="5623560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給与はどう決まるのか？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5社比較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ひと目でわかる5社の違い</a:t>
            </a:r>
            <a:endParaRPr lang="en-US" sz="3000" dirty="0"/>
          </a:p>
        </p:txBody>
      </p:sp>
      <p:graphicFrame>
        <p:nvGraphicFramePr>
          <p:cNvPr id="11" name="compar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71411"/>
                <a:gridCol w="1871411"/>
                <a:gridCol w="1871411"/>
                <a:gridCol w="1871411"/>
                <a:gridCol w="1871411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Tesla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Google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NASA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Stanford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採用基準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学歴不問。能力の証拠を深掘り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学ぶ力重視の構造化面接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公募＋職務要件で適格審査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価値観適合＋AI活用力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能力基準に沿った行動面接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入社後の教育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短い行動宣言＋即現場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前日チェックリスト＋バディ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メンター＋全体像ワークショップ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Bootcamp＋初週から実務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毎週オリエン＋上司が計画説明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成果を出す仕組み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START養成・会議削減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OKR公開・社員が講師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振り返り・教訓DB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Impactが共通言語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研修補助＋研究の知見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評価システム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半年ごと1〜5。結果×やり方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年1回・成果5段階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年3回面談・4段階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360度＋校正会議・分布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目標＋能力基準・年1回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組織構造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指揮系統を飛ばしてよい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小さな自律チーム。上司はコーチ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事業×センターのマトリクス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フラット。上司も現場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方針は中央、運用は現場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給与システム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基本給＋株式。スポット付与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評価で賞与倍率に差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等級×号俸＋表彰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賞与倍率0〜200%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16等級レンジ・年1回昇給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見学先 1 / 5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87452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Tesla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749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学歴より「並外れた能力」、ルールより現場判断</a:t>
            </a:r>
            <a:endParaRPr lang="en-US" sz="2000" dirty="0"/>
          </a:p>
        </p:txBody>
      </p:sp>
      <p:sp>
        <p:nvSpPr>
          <p:cNvPr id="5" name="div tesla circle"/>
          <p:cNvSpPr/>
          <p:nvPr/>
        </p:nvSpPr>
        <p:spPr>
          <a:xfrm>
            <a:off x="548640" y="640080"/>
            <a:ext cx="685800" cy="6858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div tesla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80467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572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真似するならここ</a:t>
            </a:r>
            <a:endParaRPr lang="en-US" sz="1400" dirty="0"/>
          </a:p>
        </p:txBody>
      </p:sp>
      <p:sp>
        <p:nvSpPr>
          <p:cNvPr id="8" name="swipe tesla 0"/>
          <p:cNvSpPr/>
          <p:nvPr/>
        </p:nvSpPr>
        <p:spPr>
          <a:xfrm>
            <a:off x="548640" y="4983480"/>
            <a:ext cx="3515258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/>
        </p:spPr>
      </p:sp>
      <p:pic>
        <p:nvPicPr>
          <p:cNvPr id="9" name="bulb tesla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138928"/>
            <a:ext cx="320040" cy="320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5120640"/>
            <a:ext cx="26008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半年ごとの1〜5評価を、昇給・賞与に直結させる</a:t>
            </a:r>
            <a:endParaRPr lang="en-US" sz="1400" dirty="0"/>
          </a:p>
        </p:txBody>
      </p:sp>
      <p:sp>
        <p:nvSpPr>
          <p:cNvPr id="11" name="swipe tesla 1"/>
          <p:cNvSpPr/>
          <p:nvPr/>
        </p:nvSpPr>
        <p:spPr>
          <a:xfrm>
            <a:off x="4338218" y="4983480"/>
            <a:ext cx="3515258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/>
        </p:spPr>
      </p:sp>
      <p:pic>
        <p:nvPicPr>
          <p:cNvPr id="12" name="bulb tesla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6818" y="5138928"/>
            <a:ext cx="320040" cy="3200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24018" y="5120640"/>
            <a:ext cx="26008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規則集をやめ、2〜4ページの「行動宣言」にする</a:t>
            </a:r>
            <a:endParaRPr lang="en-US" sz="1400" dirty="0"/>
          </a:p>
        </p:txBody>
      </p:sp>
      <p:sp>
        <p:nvSpPr>
          <p:cNvPr id="14" name="swipe tesla 2"/>
          <p:cNvSpPr/>
          <p:nvPr/>
        </p:nvSpPr>
        <p:spPr>
          <a:xfrm>
            <a:off x="8127797" y="4983480"/>
            <a:ext cx="3515258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/>
        </p:spPr>
      </p:sp>
      <p:pic>
        <p:nvPicPr>
          <p:cNvPr id="15" name="bulb tesl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6397" y="5138928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813597" y="5120640"/>
            <a:ext cx="26008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際立った成果には、その場で出せるスポット賞与を用意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Tesla ｜ 1/6 採用基準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学歴は見ない。「並外れた能力の証拠」で採る</a:t>
            </a:r>
            <a:endParaRPr lang="en-US" sz="3000" dirty="0"/>
          </a:p>
        </p:txBody>
      </p:sp>
      <p:sp>
        <p:nvSpPr>
          <p:cNvPr id="4" name="tesla hire facts"/>
          <p:cNvSpPr/>
          <p:nvPr/>
        </p:nvSpPr>
        <p:spPr>
          <a:xfrm>
            <a:off x="548640" y="1645920"/>
            <a:ext cx="6720840" cy="4297680"/>
          </a:xfrm>
          <a:prstGeom prst="roundRect">
            <a:avLst>
              <a:gd name="adj" fmla="val 2128"/>
            </a:avLst>
          </a:prstGeom>
          <a:solidFill>
            <a:schemeClr val="bg2"/>
          </a:solidFill>
          <a:ln/>
        </p:spPr>
      </p:sp>
      <p:sp>
        <p:nvSpPr>
          <p:cNvPr id="5" name="tesla hire circle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tesla hir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856232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採用基準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採用基準は？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6080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学歴不問。「高卒資格も不要」とマスク氏が発言（2014年・2019年）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求めるのは学位ではなく「並外れた能力の証拠」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面接では「これまで解いた最も難しい問題」を語らせる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細部まで深掘りし、本当に本人がやった仕事かを確かめる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※実際の求人票には、今も学位要件が残る職種もある</a:t>
            </a:r>
            <a:endParaRPr lang="en-US" sz="1600" dirty="0"/>
          </a:p>
        </p:txBody>
      </p:sp>
      <p:sp>
        <p:nvSpPr>
          <p:cNvPr id="9" name="tesla hire apply"/>
          <p:cNvSpPr/>
          <p:nvPr/>
        </p:nvSpPr>
        <p:spPr>
          <a:xfrm>
            <a:off x="7543800" y="1645920"/>
            <a:ext cx="4099255" cy="2423160"/>
          </a:xfrm>
          <a:prstGeom prst="roundRect">
            <a:avLst>
              <a:gd name="adj" fmla="val 3774"/>
            </a:avLst>
          </a:prstGeom>
          <a:solidFill>
            <a:schemeClr val="tx1"/>
          </a:solidFill>
          <a:ln/>
        </p:spPr>
      </p:sp>
      <p:pic>
        <p:nvPicPr>
          <p:cNvPr id="10" name="tesla hire bulb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5623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75320" y="1828800"/>
            <a:ext cx="3184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自社で真似するなら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2377440"/>
            <a:ext cx="35506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資格・経歴より「成果を出した証拠」を面接で聞く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「一番難しかった症例」を話してもらい、細部まで深掘りする</a:t>
            </a:r>
            <a:endParaRPr lang="en-US" sz="1400" dirty="0"/>
          </a:p>
        </p:txBody>
      </p:sp>
      <p:sp>
        <p:nvSpPr>
          <p:cNvPr id="13" name="tesla hire q"/>
          <p:cNvSpPr/>
          <p:nvPr/>
        </p:nvSpPr>
        <p:spPr>
          <a:xfrm>
            <a:off x="7543800" y="4206240"/>
            <a:ext cx="4099255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tesla hire qicon circle"/>
          <p:cNvSpPr/>
          <p:nvPr/>
        </p:nvSpPr>
        <p:spPr>
          <a:xfrm>
            <a:off x="7818120" y="438912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5" name="tesla hire qic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0292" y="4481292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4389120"/>
            <a:ext cx="3184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現地で聞く質問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818120" y="4892040"/>
            <a:ext cx="35506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「並外れた能力」はどの質問で見極めていますか？不採用にした具体例も教えてください</a:t>
            </a:r>
            <a:endParaRPr lang="en-US" sz="1200" dirty="0"/>
          </a:p>
        </p:txBody>
      </p:sp>
      <p:sp>
        <p:nvSpPr>
          <p:cNvPr id="18" name="pill tesla hire 0"/>
          <p:cNvSpPr/>
          <p:nvPr/>
        </p:nvSpPr>
        <p:spPr>
          <a:xfrm>
            <a:off x="54864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4864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採用基準</a:t>
            </a:r>
            <a:endParaRPr lang="en-US" sz="1000" dirty="0"/>
          </a:p>
        </p:txBody>
      </p:sp>
      <p:sp>
        <p:nvSpPr>
          <p:cNvPr id="20" name="pill tesla hire 1"/>
          <p:cNvSpPr/>
          <p:nvPr/>
        </p:nvSpPr>
        <p:spPr>
          <a:xfrm>
            <a:off x="2029968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2029968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入社後の教育</a:t>
            </a:r>
            <a:endParaRPr lang="en-US" sz="1000" dirty="0"/>
          </a:p>
        </p:txBody>
      </p:sp>
      <p:sp>
        <p:nvSpPr>
          <p:cNvPr id="22" name="pill tesla hire 2"/>
          <p:cNvSpPr/>
          <p:nvPr/>
        </p:nvSpPr>
        <p:spPr>
          <a:xfrm>
            <a:off x="3511296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3511296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成果を出す仕組み</a:t>
            </a:r>
            <a:endParaRPr lang="en-US" sz="1000" dirty="0"/>
          </a:p>
        </p:txBody>
      </p:sp>
      <p:sp>
        <p:nvSpPr>
          <p:cNvPr id="24" name="pill tesla hire 3"/>
          <p:cNvSpPr/>
          <p:nvPr/>
        </p:nvSpPr>
        <p:spPr>
          <a:xfrm>
            <a:off x="4992624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992624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評価システム</a:t>
            </a:r>
            <a:endParaRPr lang="en-US" sz="1000" dirty="0"/>
          </a:p>
        </p:txBody>
      </p:sp>
      <p:sp>
        <p:nvSpPr>
          <p:cNvPr id="26" name="pill tesla hire 4"/>
          <p:cNvSpPr/>
          <p:nvPr/>
        </p:nvSpPr>
        <p:spPr>
          <a:xfrm>
            <a:off x="6473952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473952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組織構造</a:t>
            </a:r>
            <a:endParaRPr lang="en-US" sz="1000" dirty="0"/>
          </a:p>
        </p:txBody>
      </p:sp>
      <p:sp>
        <p:nvSpPr>
          <p:cNvPr id="28" name="pill tesla hire 5"/>
          <p:cNvSpPr/>
          <p:nvPr/>
        </p:nvSpPr>
        <p:spPr>
          <a:xfrm>
            <a:off x="795528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95528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給与システム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Tesla ｜ 2/6 入社後の教育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規則集は渡さない。行動基準だけ伝えて現場へ</a:t>
            </a:r>
            <a:endParaRPr lang="en-US" sz="3000" dirty="0"/>
          </a:p>
        </p:txBody>
      </p:sp>
      <p:sp>
        <p:nvSpPr>
          <p:cNvPr id="4" name="tesla onboard facts"/>
          <p:cNvSpPr/>
          <p:nvPr/>
        </p:nvSpPr>
        <p:spPr>
          <a:xfrm>
            <a:off x="548640" y="1645920"/>
            <a:ext cx="6720840" cy="4297680"/>
          </a:xfrm>
          <a:prstGeom prst="roundRect">
            <a:avLst>
              <a:gd name="adj" fmla="val 2128"/>
            </a:avLst>
          </a:prstGeom>
          <a:solidFill>
            <a:schemeClr val="bg2"/>
          </a:solidFill>
          <a:ln/>
        </p:spPr>
      </p:sp>
      <p:sp>
        <p:nvSpPr>
          <p:cNvPr id="5" name="tesla onboard circle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tesla onboard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856232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入社後の教育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最初、入職してから教育をどうするか？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6080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専任チームが新入社員オリエンテーション（NHO）を運営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入館証・IT設定・初日の段取りまで専任チームが準備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初日は全体説明と講話、その後すぐ現場に配属（※体験談ベース）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分厚い規則集の代わりに、約4ページの「Anti-Handbook Handbook」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伝えるのは細かいルールではなく「どう行動するか」の基準</a:t>
            </a:r>
            <a:endParaRPr lang="en-US" sz="1600" dirty="0"/>
          </a:p>
        </p:txBody>
      </p:sp>
      <p:sp>
        <p:nvSpPr>
          <p:cNvPr id="9" name="tesla onboard apply"/>
          <p:cNvSpPr/>
          <p:nvPr/>
        </p:nvSpPr>
        <p:spPr>
          <a:xfrm>
            <a:off x="7543800" y="1645920"/>
            <a:ext cx="4099255" cy="2423160"/>
          </a:xfrm>
          <a:prstGeom prst="roundRect">
            <a:avLst>
              <a:gd name="adj" fmla="val 3774"/>
            </a:avLst>
          </a:prstGeom>
          <a:solidFill>
            <a:schemeClr val="tx1"/>
          </a:solidFill>
          <a:ln/>
        </p:spPr>
      </p:sp>
      <p:pic>
        <p:nvPicPr>
          <p:cNvPr id="10" name="tesla onboard bulb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5623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75320" y="1828800"/>
            <a:ext cx="3184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自社で真似するなら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2377440"/>
            <a:ext cx="35506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就業規則とは別に、2〜4ページの「行動基準」を作り初日に渡す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初日の段取り（備品・アカウント・同行者）を事前に準備</a:t>
            </a:r>
            <a:endParaRPr lang="en-US" sz="1400" dirty="0"/>
          </a:p>
        </p:txBody>
      </p:sp>
      <p:sp>
        <p:nvSpPr>
          <p:cNvPr id="13" name="tesla onboard q"/>
          <p:cNvSpPr/>
          <p:nvPr/>
        </p:nvSpPr>
        <p:spPr>
          <a:xfrm>
            <a:off x="7543800" y="4206240"/>
            <a:ext cx="4099255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tesla onboard qicon circle"/>
          <p:cNvSpPr/>
          <p:nvPr/>
        </p:nvSpPr>
        <p:spPr>
          <a:xfrm>
            <a:off x="7818120" y="438912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5" name="tesla onboard qic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0292" y="4481292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4389120"/>
            <a:ext cx="3184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現地で聞く質問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818120" y="4892040"/>
            <a:ext cx="35506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入社後30日でやることは何ですか？独り立ちは何で判定していますか？</a:t>
            </a:r>
            <a:endParaRPr lang="en-US" sz="1200" dirty="0"/>
          </a:p>
        </p:txBody>
      </p:sp>
      <p:sp>
        <p:nvSpPr>
          <p:cNvPr id="18" name="pill tesla onboard 0"/>
          <p:cNvSpPr/>
          <p:nvPr/>
        </p:nvSpPr>
        <p:spPr>
          <a:xfrm>
            <a:off x="54864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4864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採用基準</a:t>
            </a:r>
            <a:endParaRPr lang="en-US" sz="1000" dirty="0"/>
          </a:p>
        </p:txBody>
      </p:sp>
      <p:sp>
        <p:nvSpPr>
          <p:cNvPr id="20" name="pill tesla onboard 1"/>
          <p:cNvSpPr/>
          <p:nvPr/>
        </p:nvSpPr>
        <p:spPr>
          <a:xfrm>
            <a:off x="2029968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2029968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入社後の教育</a:t>
            </a:r>
            <a:endParaRPr lang="en-US" sz="1000" dirty="0"/>
          </a:p>
        </p:txBody>
      </p:sp>
      <p:sp>
        <p:nvSpPr>
          <p:cNvPr id="22" name="pill tesla onboard 2"/>
          <p:cNvSpPr/>
          <p:nvPr/>
        </p:nvSpPr>
        <p:spPr>
          <a:xfrm>
            <a:off x="3511296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3511296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成果を出す仕組み</a:t>
            </a:r>
            <a:endParaRPr lang="en-US" sz="1000" dirty="0"/>
          </a:p>
        </p:txBody>
      </p:sp>
      <p:sp>
        <p:nvSpPr>
          <p:cNvPr id="24" name="pill tesla onboard 3"/>
          <p:cNvSpPr/>
          <p:nvPr/>
        </p:nvSpPr>
        <p:spPr>
          <a:xfrm>
            <a:off x="4992624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992624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評価システム</a:t>
            </a:r>
            <a:endParaRPr lang="en-US" sz="1000" dirty="0"/>
          </a:p>
        </p:txBody>
      </p:sp>
      <p:sp>
        <p:nvSpPr>
          <p:cNvPr id="26" name="pill tesla onboard 4"/>
          <p:cNvSpPr/>
          <p:nvPr/>
        </p:nvSpPr>
        <p:spPr>
          <a:xfrm>
            <a:off x="6473952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473952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組織構造</a:t>
            </a:r>
            <a:endParaRPr lang="en-US" sz="1000" dirty="0"/>
          </a:p>
        </p:txBody>
      </p:sp>
      <p:sp>
        <p:nvSpPr>
          <p:cNvPr id="28" name="pill tesla onboard 5"/>
          <p:cNvSpPr/>
          <p:nvPr/>
        </p:nvSpPr>
        <p:spPr>
          <a:xfrm>
            <a:off x="795528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95528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給与システム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Tesla ｜ 3/6 成果を出す仕組み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細かいルールを作らず、全員に改善を求める</a:t>
            </a:r>
            <a:endParaRPr lang="en-US" sz="3000" dirty="0"/>
          </a:p>
        </p:txBody>
      </p:sp>
      <p:sp>
        <p:nvSpPr>
          <p:cNvPr id="4" name="tesla develop facts"/>
          <p:cNvSpPr/>
          <p:nvPr/>
        </p:nvSpPr>
        <p:spPr>
          <a:xfrm>
            <a:off x="548640" y="1645920"/>
            <a:ext cx="6720840" cy="4297680"/>
          </a:xfrm>
          <a:prstGeom prst="roundRect">
            <a:avLst>
              <a:gd name="adj" fmla="val 2128"/>
            </a:avLst>
          </a:prstGeom>
          <a:solidFill>
            <a:schemeClr val="bg2"/>
          </a:solidFill>
          <a:ln/>
        </p:spPr>
      </p:sp>
      <p:sp>
        <p:nvSpPr>
          <p:cNvPr id="5" name="tesla develop circle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tesla develop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856232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成果を出す仕組み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成果を出すためにやっている教育・仕組みは？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6080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Tesla START：提携大学で最長12週の技術者養成。修了生を採用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「規則は最低ラインを示すだけ」。細則は作らない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自分の担当外でも、改善提案をすることを求める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大人数の会議は廃止。価値がなければ途中退席OK（2018年メール）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社内略語は禁止。上の役職ほど現場に姿を見せる</a:t>
            </a:r>
            <a:endParaRPr lang="en-US" sz="1600" dirty="0"/>
          </a:p>
        </p:txBody>
      </p:sp>
      <p:sp>
        <p:nvSpPr>
          <p:cNvPr id="9" name="tesla develop apply"/>
          <p:cNvSpPr/>
          <p:nvPr/>
        </p:nvSpPr>
        <p:spPr>
          <a:xfrm>
            <a:off x="7543800" y="1645920"/>
            <a:ext cx="4099255" cy="2423160"/>
          </a:xfrm>
          <a:prstGeom prst="roundRect">
            <a:avLst>
              <a:gd name="adj" fmla="val 3774"/>
            </a:avLst>
          </a:prstGeom>
          <a:solidFill>
            <a:schemeClr val="tx1"/>
          </a:solidFill>
          <a:ln/>
        </p:spPr>
      </p:sp>
      <p:pic>
        <p:nvPicPr>
          <p:cNvPr id="10" name="tesla develop bulb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5623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75320" y="1828800"/>
            <a:ext cx="3184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自社で真似するなら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2377440"/>
            <a:ext cx="35506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養成校と組んで「実習 → 採用」の流れを作る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会議は少人数・短時間。役に立たない会議は退席してよい</a:t>
            </a:r>
            <a:endParaRPr lang="en-US" sz="1400" dirty="0"/>
          </a:p>
        </p:txBody>
      </p:sp>
      <p:sp>
        <p:nvSpPr>
          <p:cNvPr id="13" name="tesla develop q"/>
          <p:cNvSpPr/>
          <p:nvPr/>
        </p:nvSpPr>
        <p:spPr>
          <a:xfrm>
            <a:off x="7543800" y="4206240"/>
            <a:ext cx="4099255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tesla develop qicon circle"/>
          <p:cNvSpPr/>
          <p:nvPr/>
        </p:nvSpPr>
        <p:spPr>
          <a:xfrm>
            <a:off x="7818120" y="438912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5" name="tesla develop qic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0292" y="4481292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4389120"/>
            <a:ext cx="3184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現地で聞く質問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818120" y="4892040"/>
            <a:ext cx="35506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STARTの修了生は、入社1年後に中途社員と比べて生産性がどう違いますか？</a:t>
            </a:r>
            <a:endParaRPr lang="en-US" sz="1200" dirty="0"/>
          </a:p>
        </p:txBody>
      </p:sp>
      <p:sp>
        <p:nvSpPr>
          <p:cNvPr id="18" name="pill tesla develop 0"/>
          <p:cNvSpPr/>
          <p:nvPr/>
        </p:nvSpPr>
        <p:spPr>
          <a:xfrm>
            <a:off x="54864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4864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採用基準</a:t>
            </a:r>
            <a:endParaRPr lang="en-US" sz="1000" dirty="0"/>
          </a:p>
        </p:txBody>
      </p:sp>
      <p:sp>
        <p:nvSpPr>
          <p:cNvPr id="20" name="pill tesla develop 1"/>
          <p:cNvSpPr/>
          <p:nvPr/>
        </p:nvSpPr>
        <p:spPr>
          <a:xfrm>
            <a:off x="2029968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2029968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入社後の教育</a:t>
            </a:r>
            <a:endParaRPr lang="en-US" sz="1000" dirty="0"/>
          </a:p>
        </p:txBody>
      </p:sp>
      <p:sp>
        <p:nvSpPr>
          <p:cNvPr id="22" name="pill tesla develop 2"/>
          <p:cNvSpPr/>
          <p:nvPr/>
        </p:nvSpPr>
        <p:spPr>
          <a:xfrm>
            <a:off x="3511296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3511296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成果を出す仕組み</a:t>
            </a:r>
            <a:endParaRPr lang="en-US" sz="1000" dirty="0"/>
          </a:p>
        </p:txBody>
      </p:sp>
      <p:sp>
        <p:nvSpPr>
          <p:cNvPr id="24" name="pill tesla develop 3"/>
          <p:cNvSpPr/>
          <p:nvPr/>
        </p:nvSpPr>
        <p:spPr>
          <a:xfrm>
            <a:off x="4992624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992624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評価システム</a:t>
            </a:r>
            <a:endParaRPr lang="en-US" sz="1000" dirty="0"/>
          </a:p>
        </p:txBody>
      </p:sp>
      <p:sp>
        <p:nvSpPr>
          <p:cNvPr id="26" name="pill tesla develop 4"/>
          <p:cNvSpPr/>
          <p:nvPr/>
        </p:nvSpPr>
        <p:spPr>
          <a:xfrm>
            <a:off x="6473952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473952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組織構造</a:t>
            </a:r>
            <a:endParaRPr lang="en-US" sz="1000" dirty="0"/>
          </a:p>
        </p:txBody>
      </p:sp>
      <p:sp>
        <p:nvSpPr>
          <p:cNvPr id="28" name="pill tesla develop 5"/>
          <p:cNvSpPr/>
          <p:nvPr/>
        </p:nvSpPr>
        <p:spPr>
          <a:xfrm>
            <a:off x="795528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95528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給与システム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Tesla ｜ 4/6 評価システム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半年ごとに1〜5。「結果」と「やり方」の2軸</a:t>
            </a:r>
            <a:endParaRPr lang="en-US" sz="3000" dirty="0"/>
          </a:p>
        </p:txBody>
      </p:sp>
      <p:sp>
        <p:nvSpPr>
          <p:cNvPr id="4" name="tesla eval facts"/>
          <p:cNvSpPr/>
          <p:nvPr/>
        </p:nvSpPr>
        <p:spPr>
          <a:xfrm>
            <a:off x="548640" y="1645920"/>
            <a:ext cx="6720840" cy="4297680"/>
          </a:xfrm>
          <a:prstGeom prst="roundRect">
            <a:avLst>
              <a:gd name="adj" fmla="val 2128"/>
            </a:avLst>
          </a:prstGeom>
          <a:solidFill>
            <a:schemeClr val="bg2"/>
          </a:solidFill>
          <a:ln/>
        </p:spPr>
      </p:sp>
      <p:sp>
        <p:nvSpPr>
          <p:cNvPr id="5" name="tesla eval circle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tesla eva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856232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評価システム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評価されるには何が項目としてあるか？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6080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半年ごとに1〜5の評点をつける（2023年の同社声明）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評価軸は「結果」と「どう達成したか」の2つ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低評価者は退職。2017年に約400〜700人が評価を理由に退職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無断欠勤や手抜き仕事は、1回で信頼を失う扱い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※評価の周期はこの10年で何度か変わっている</a:t>
            </a:r>
            <a:endParaRPr lang="en-US" sz="1600" dirty="0"/>
          </a:p>
        </p:txBody>
      </p:sp>
      <p:sp>
        <p:nvSpPr>
          <p:cNvPr id="9" name="tesla eval apply"/>
          <p:cNvSpPr/>
          <p:nvPr/>
        </p:nvSpPr>
        <p:spPr>
          <a:xfrm>
            <a:off x="7543800" y="1645920"/>
            <a:ext cx="4099255" cy="2423160"/>
          </a:xfrm>
          <a:prstGeom prst="roundRect">
            <a:avLst>
              <a:gd name="adj" fmla="val 3774"/>
            </a:avLst>
          </a:prstGeom>
          <a:solidFill>
            <a:schemeClr val="tx1"/>
          </a:solidFill>
          <a:ln/>
        </p:spPr>
      </p:sp>
      <p:pic>
        <p:nvPicPr>
          <p:cNvPr id="10" name="tesla eval bulb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5623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75320" y="1828800"/>
            <a:ext cx="3184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自社で真似するなら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2377440"/>
            <a:ext cx="35506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半年ごとに1〜5で評価。結果（売上・稼働率）とやり方の2軸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低評価が続いた時のルール（改善期間・面談）を先に決める</a:t>
            </a:r>
            <a:endParaRPr lang="en-US" sz="1400" dirty="0"/>
          </a:p>
        </p:txBody>
      </p:sp>
      <p:sp>
        <p:nvSpPr>
          <p:cNvPr id="13" name="tesla eval q"/>
          <p:cNvSpPr/>
          <p:nvPr/>
        </p:nvSpPr>
        <p:spPr>
          <a:xfrm>
            <a:off x="7543800" y="4206240"/>
            <a:ext cx="4099255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tesla eval qicon circle"/>
          <p:cNvSpPr/>
          <p:nvPr/>
        </p:nvSpPr>
        <p:spPr>
          <a:xfrm>
            <a:off x="7818120" y="438912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5" name="tesla eval qic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0292" y="4481292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4389120"/>
            <a:ext cx="3184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現地で聞く質問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818120" y="4892040"/>
            <a:ext cx="35506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1〜5評価の基準は何ですか？数値と行動の配分はどうなっていますか？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何をしたら高く評価され、何をしたら評価されないのですか？現場の例で教えてください</a:t>
            </a:r>
            <a:endParaRPr lang="en-US" sz="1200" dirty="0"/>
          </a:p>
        </p:txBody>
      </p:sp>
      <p:sp>
        <p:nvSpPr>
          <p:cNvPr id="18" name="pill tesla eval 0"/>
          <p:cNvSpPr/>
          <p:nvPr/>
        </p:nvSpPr>
        <p:spPr>
          <a:xfrm>
            <a:off x="54864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4864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採用基準</a:t>
            </a:r>
            <a:endParaRPr lang="en-US" sz="1000" dirty="0"/>
          </a:p>
        </p:txBody>
      </p:sp>
      <p:sp>
        <p:nvSpPr>
          <p:cNvPr id="20" name="pill tesla eval 1"/>
          <p:cNvSpPr/>
          <p:nvPr/>
        </p:nvSpPr>
        <p:spPr>
          <a:xfrm>
            <a:off x="2029968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2029968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入社後の教育</a:t>
            </a:r>
            <a:endParaRPr lang="en-US" sz="1000" dirty="0"/>
          </a:p>
        </p:txBody>
      </p:sp>
      <p:sp>
        <p:nvSpPr>
          <p:cNvPr id="22" name="pill tesla eval 2"/>
          <p:cNvSpPr/>
          <p:nvPr/>
        </p:nvSpPr>
        <p:spPr>
          <a:xfrm>
            <a:off x="3511296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3511296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成果を出す仕組み</a:t>
            </a:r>
            <a:endParaRPr lang="en-US" sz="1000" dirty="0"/>
          </a:p>
        </p:txBody>
      </p:sp>
      <p:sp>
        <p:nvSpPr>
          <p:cNvPr id="24" name="pill tesla eval 3"/>
          <p:cNvSpPr/>
          <p:nvPr/>
        </p:nvSpPr>
        <p:spPr>
          <a:xfrm>
            <a:off x="4992624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992624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評価システム</a:t>
            </a:r>
            <a:endParaRPr lang="en-US" sz="1000" dirty="0"/>
          </a:p>
        </p:txBody>
      </p:sp>
      <p:sp>
        <p:nvSpPr>
          <p:cNvPr id="26" name="pill tesla eval 4"/>
          <p:cNvSpPr/>
          <p:nvPr/>
        </p:nvSpPr>
        <p:spPr>
          <a:xfrm>
            <a:off x="6473952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473952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組織構造</a:t>
            </a:r>
            <a:endParaRPr lang="en-US" sz="1000" dirty="0"/>
          </a:p>
        </p:txBody>
      </p:sp>
      <p:sp>
        <p:nvSpPr>
          <p:cNvPr id="28" name="pill tesla eval 5"/>
          <p:cNvSpPr/>
          <p:nvPr/>
        </p:nvSpPr>
        <p:spPr>
          <a:xfrm>
            <a:off x="795528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95528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給与システム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Tesla ｜ 5/6 組織構造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指揮系統を飛ばして、誰とでも直接話してよい</a:t>
            </a:r>
            <a:endParaRPr lang="en-US" sz="3000" dirty="0"/>
          </a:p>
        </p:txBody>
      </p:sp>
      <p:sp>
        <p:nvSpPr>
          <p:cNvPr id="4" name="tesla org facts"/>
          <p:cNvSpPr/>
          <p:nvPr/>
        </p:nvSpPr>
        <p:spPr>
          <a:xfrm>
            <a:off x="548640" y="1645920"/>
            <a:ext cx="6720840" cy="4297680"/>
          </a:xfrm>
          <a:prstGeom prst="roundRect">
            <a:avLst>
              <a:gd name="adj" fmla="val 2128"/>
            </a:avLst>
          </a:prstGeom>
          <a:solidFill>
            <a:schemeClr val="bg2"/>
          </a:solidFill>
          <a:ln/>
        </p:spPr>
      </p:sp>
      <p:sp>
        <p:nvSpPr>
          <p:cNvPr id="5" name="tesla org circle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tesla org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856232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組織構造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成果を出すために組織構造はどうなっているか？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6080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上司を通さず「最短経路」で誰とでも話してよい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それを妨げる管理職は、会社を去ることになる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階層はあるが、全体の利益になるなら飛び越えてよい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上の役職ほど現場にいることを求める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※2024年の10%超の人員削減で、管理階層もスリム化と報道</a:t>
            </a:r>
            <a:endParaRPr lang="en-US" sz="1600" dirty="0"/>
          </a:p>
        </p:txBody>
      </p:sp>
      <p:sp>
        <p:nvSpPr>
          <p:cNvPr id="9" name="tesla org apply"/>
          <p:cNvSpPr/>
          <p:nvPr/>
        </p:nvSpPr>
        <p:spPr>
          <a:xfrm>
            <a:off x="7543800" y="1645920"/>
            <a:ext cx="4099255" cy="2423160"/>
          </a:xfrm>
          <a:prstGeom prst="roundRect">
            <a:avLst>
              <a:gd name="adj" fmla="val 3774"/>
            </a:avLst>
          </a:prstGeom>
          <a:solidFill>
            <a:schemeClr val="tx1"/>
          </a:solidFill>
          <a:ln/>
        </p:spPr>
      </p:sp>
      <p:pic>
        <p:nvPicPr>
          <p:cNvPr id="10" name="tesla org bulb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5623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75320" y="1828800"/>
            <a:ext cx="3184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自社で真似するなら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2377440"/>
            <a:ext cx="35506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「誰にでも直接相談してよい」を行動基準に明記する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経営層・管理職は週に一度は現場に出る</a:t>
            </a:r>
            <a:endParaRPr lang="en-US" sz="1400" dirty="0"/>
          </a:p>
        </p:txBody>
      </p:sp>
      <p:sp>
        <p:nvSpPr>
          <p:cNvPr id="13" name="tesla org q"/>
          <p:cNvSpPr/>
          <p:nvPr/>
        </p:nvSpPr>
        <p:spPr>
          <a:xfrm>
            <a:off x="7543800" y="4206240"/>
            <a:ext cx="4099255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tesla org qicon circle"/>
          <p:cNvSpPr/>
          <p:nvPr/>
        </p:nvSpPr>
        <p:spPr>
          <a:xfrm>
            <a:off x="7818120" y="438912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5" name="tesla org qic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0292" y="4481292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4389120"/>
            <a:ext cx="3184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現地で聞く質問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818120" y="4892040"/>
            <a:ext cx="35506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指揮系統を飛ばして相談された時、直属の上司にはどう共有していますか？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会議を減らした後、意思決定はどの場で、何日で行っていますか？</a:t>
            </a:r>
            <a:endParaRPr lang="en-US" sz="1200" dirty="0"/>
          </a:p>
        </p:txBody>
      </p:sp>
      <p:sp>
        <p:nvSpPr>
          <p:cNvPr id="18" name="pill tesla org 0"/>
          <p:cNvSpPr/>
          <p:nvPr/>
        </p:nvSpPr>
        <p:spPr>
          <a:xfrm>
            <a:off x="54864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4864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採用基準</a:t>
            </a:r>
            <a:endParaRPr lang="en-US" sz="1000" dirty="0"/>
          </a:p>
        </p:txBody>
      </p:sp>
      <p:sp>
        <p:nvSpPr>
          <p:cNvPr id="20" name="pill tesla org 1"/>
          <p:cNvSpPr/>
          <p:nvPr/>
        </p:nvSpPr>
        <p:spPr>
          <a:xfrm>
            <a:off x="2029968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2029968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入社後の教育</a:t>
            </a:r>
            <a:endParaRPr lang="en-US" sz="1000" dirty="0"/>
          </a:p>
        </p:txBody>
      </p:sp>
      <p:sp>
        <p:nvSpPr>
          <p:cNvPr id="22" name="pill tesla org 2"/>
          <p:cNvSpPr/>
          <p:nvPr/>
        </p:nvSpPr>
        <p:spPr>
          <a:xfrm>
            <a:off x="3511296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3511296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成果を出す仕組み</a:t>
            </a:r>
            <a:endParaRPr lang="en-US" sz="1000" dirty="0"/>
          </a:p>
        </p:txBody>
      </p:sp>
      <p:sp>
        <p:nvSpPr>
          <p:cNvPr id="24" name="pill tesla org 3"/>
          <p:cNvSpPr/>
          <p:nvPr/>
        </p:nvSpPr>
        <p:spPr>
          <a:xfrm>
            <a:off x="4992624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992624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評価システム</a:t>
            </a:r>
            <a:endParaRPr lang="en-US" sz="1000" dirty="0"/>
          </a:p>
        </p:txBody>
      </p:sp>
      <p:sp>
        <p:nvSpPr>
          <p:cNvPr id="26" name="pill tesla org 4"/>
          <p:cNvSpPr/>
          <p:nvPr/>
        </p:nvSpPr>
        <p:spPr>
          <a:xfrm>
            <a:off x="6473952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473952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組織構造</a:t>
            </a:r>
            <a:endParaRPr lang="en-US" sz="1000" dirty="0"/>
          </a:p>
        </p:txBody>
      </p:sp>
      <p:sp>
        <p:nvSpPr>
          <p:cNvPr id="28" name="pill tesla org 5"/>
          <p:cNvSpPr/>
          <p:nvPr/>
        </p:nvSpPr>
        <p:spPr>
          <a:xfrm>
            <a:off x="795528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95528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給与システム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Tesla ｜ 6/6 給与システム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基本給＋株式。際立った成果にはその場で報いる</a:t>
            </a:r>
            <a:endParaRPr lang="en-US" sz="3000" dirty="0"/>
          </a:p>
        </p:txBody>
      </p:sp>
      <p:sp>
        <p:nvSpPr>
          <p:cNvPr id="4" name="tesla pay facts"/>
          <p:cNvSpPr/>
          <p:nvPr/>
        </p:nvSpPr>
        <p:spPr>
          <a:xfrm>
            <a:off x="548640" y="1645920"/>
            <a:ext cx="6720840" cy="4297680"/>
          </a:xfrm>
          <a:prstGeom prst="roundRect">
            <a:avLst>
              <a:gd name="adj" fmla="val 2128"/>
            </a:avLst>
          </a:prstGeom>
          <a:solidFill>
            <a:schemeClr val="bg2"/>
          </a:solidFill>
          <a:ln/>
        </p:spPr>
      </p:sp>
      <p:sp>
        <p:nvSpPr>
          <p:cNvPr id="5" name="tesla pay circle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tesla p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856232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給与システム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給与はどう決まるのか？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6080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報酬は基本給と株式が中心。現金賞与はほぼない（※自己申告データ）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株式は4年で付与。1年目に25%、以降は四半期ごと（※同上）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評価時に、昇給と業績連動の株式付与を決める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2023年は見送り、2024年に再開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際立った成果には、即時の「スポット株式付与」も導入</a:t>
            </a:r>
            <a:endParaRPr lang="en-US" sz="1600" dirty="0"/>
          </a:p>
        </p:txBody>
      </p:sp>
      <p:sp>
        <p:nvSpPr>
          <p:cNvPr id="9" name="tesla pay apply"/>
          <p:cNvSpPr/>
          <p:nvPr/>
        </p:nvSpPr>
        <p:spPr>
          <a:xfrm>
            <a:off x="7543800" y="1645920"/>
            <a:ext cx="4099255" cy="2423160"/>
          </a:xfrm>
          <a:prstGeom prst="roundRect">
            <a:avLst>
              <a:gd name="adj" fmla="val 3774"/>
            </a:avLst>
          </a:prstGeom>
          <a:solidFill>
            <a:schemeClr val="tx1"/>
          </a:solidFill>
          <a:ln/>
        </p:spPr>
      </p:sp>
      <p:pic>
        <p:nvPicPr>
          <p:cNvPr id="10" name="tesla pay bulb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5623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75320" y="1828800"/>
            <a:ext cx="3184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自社で真似するなら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2377440"/>
            <a:ext cx="35506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評価（1〜5）と昇給率・賞与の対応表を作る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際立った成果に即日出せる「スポット賞与」の枠を用意</a:t>
            </a:r>
            <a:endParaRPr lang="en-US" sz="1400" dirty="0"/>
          </a:p>
        </p:txBody>
      </p:sp>
      <p:sp>
        <p:nvSpPr>
          <p:cNvPr id="13" name="tesla pay q"/>
          <p:cNvSpPr/>
          <p:nvPr/>
        </p:nvSpPr>
        <p:spPr>
          <a:xfrm>
            <a:off x="7543800" y="4206240"/>
            <a:ext cx="4099255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tesla pay qicon circle"/>
          <p:cNvSpPr/>
          <p:nvPr/>
        </p:nvSpPr>
        <p:spPr>
          <a:xfrm>
            <a:off x="7818120" y="438912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5" name="tesla pay qic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0292" y="4481292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4389120"/>
            <a:ext cx="3184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現地で聞く質問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818120" y="4892040"/>
            <a:ext cx="35506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評価点と昇給率・株式付与額の対応表はありますか？スポット付与の決裁者は誰ですか？</a:t>
            </a:r>
            <a:endParaRPr lang="en-US" sz="1200" dirty="0"/>
          </a:p>
        </p:txBody>
      </p:sp>
      <p:sp>
        <p:nvSpPr>
          <p:cNvPr id="18" name="pill tesla pay 0"/>
          <p:cNvSpPr/>
          <p:nvPr/>
        </p:nvSpPr>
        <p:spPr>
          <a:xfrm>
            <a:off x="54864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4864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採用基準</a:t>
            </a:r>
            <a:endParaRPr lang="en-US" sz="1000" dirty="0"/>
          </a:p>
        </p:txBody>
      </p:sp>
      <p:sp>
        <p:nvSpPr>
          <p:cNvPr id="20" name="pill tesla pay 1"/>
          <p:cNvSpPr/>
          <p:nvPr/>
        </p:nvSpPr>
        <p:spPr>
          <a:xfrm>
            <a:off x="2029968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2029968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入社後の教育</a:t>
            </a:r>
            <a:endParaRPr lang="en-US" sz="1000" dirty="0"/>
          </a:p>
        </p:txBody>
      </p:sp>
      <p:sp>
        <p:nvSpPr>
          <p:cNvPr id="22" name="pill tesla pay 2"/>
          <p:cNvSpPr/>
          <p:nvPr/>
        </p:nvSpPr>
        <p:spPr>
          <a:xfrm>
            <a:off x="3511296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3511296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成果を出す仕組み</a:t>
            </a:r>
            <a:endParaRPr lang="en-US" sz="1000" dirty="0"/>
          </a:p>
        </p:txBody>
      </p:sp>
      <p:sp>
        <p:nvSpPr>
          <p:cNvPr id="24" name="pill tesla pay 3"/>
          <p:cNvSpPr/>
          <p:nvPr/>
        </p:nvSpPr>
        <p:spPr>
          <a:xfrm>
            <a:off x="4992624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992624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評価システム</a:t>
            </a:r>
            <a:endParaRPr lang="en-US" sz="1000" dirty="0"/>
          </a:p>
        </p:txBody>
      </p:sp>
      <p:sp>
        <p:nvSpPr>
          <p:cNvPr id="26" name="pill tesla pay 4"/>
          <p:cNvSpPr/>
          <p:nvPr/>
        </p:nvSpPr>
        <p:spPr>
          <a:xfrm>
            <a:off x="6473952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473952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組織構造</a:t>
            </a:r>
            <a:endParaRPr lang="en-US" sz="1000" dirty="0"/>
          </a:p>
        </p:txBody>
      </p:sp>
      <p:sp>
        <p:nvSpPr>
          <p:cNvPr id="28" name="pill tesla pay 5"/>
          <p:cNvSpPr/>
          <p:nvPr/>
        </p:nvSpPr>
        <p:spPr>
          <a:xfrm>
            <a:off x="795528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95528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給与システム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Tesla ｜ 現地で聞く質問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Teslaに聞くべき質問 10選</a:t>
            </a:r>
            <a:endParaRPr lang="en-US" sz="3000" dirty="0"/>
          </a:p>
        </p:txBody>
      </p:sp>
      <p:sp>
        <p:nvSpPr>
          <p:cNvPr id="4" name="qtag tesla 0"/>
          <p:cNvSpPr/>
          <p:nvPr/>
        </p:nvSpPr>
        <p:spPr>
          <a:xfrm>
            <a:off x="548640" y="1673352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7335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採用基準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1600200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Q1.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「並外れた能力」はどの質問で見極めていますか？不採用にした具体例も教えてください</a:t>
            </a:r>
            <a:endParaRPr lang="en-US" sz="1400" dirty="0"/>
          </a:p>
        </p:txBody>
      </p:sp>
      <p:sp>
        <p:nvSpPr>
          <p:cNvPr id="7" name="qtag tesla 1"/>
          <p:cNvSpPr/>
          <p:nvPr/>
        </p:nvSpPr>
        <p:spPr>
          <a:xfrm>
            <a:off x="548640" y="2569464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694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入社後の教育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496312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Q2.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入社後30日でやることは何ですか？独り立ちは何で判定していますか？</a:t>
            </a:r>
            <a:endParaRPr lang="en-US" sz="1400" dirty="0"/>
          </a:p>
        </p:txBody>
      </p:sp>
      <p:sp>
        <p:nvSpPr>
          <p:cNvPr id="10" name="qtag tesla 2"/>
          <p:cNvSpPr/>
          <p:nvPr/>
        </p:nvSpPr>
        <p:spPr>
          <a:xfrm>
            <a:off x="548640" y="3465576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46557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成果を出す仕組み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011680" y="3392424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Q3.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STARTの修了生は、入社1年後に中途社員と比べて生産性がどう違いますか？</a:t>
            </a:r>
            <a:endParaRPr lang="en-US" sz="1400" dirty="0"/>
          </a:p>
        </p:txBody>
      </p:sp>
      <p:sp>
        <p:nvSpPr>
          <p:cNvPr id="13" name="qtag tesla 3"/>
          <p:cNvSpPr/>
          <p:nvPr/>
        </p:nvSpPr>
        <p:spPr>
          <a:xfrm>
            <a:off x="548640" y="4361688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6168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評価システム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4288536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Q4.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1〜5評価の基準は何ですか？数値と行動の配分はどうなっていますか？</a:t>
            </a:r>
            <a:endParaRPr lang="en-US" sz="1400" dirty="0"/>
          </a:p>
        </p:txBody>
      </p:sp>
      <p:sp>
        <p:nvSpPr>
          <p:cNvPr id="16" name="qtag tesla 4"/>
          <p:cNvSpPr/>
          <p:nvPr/>
        </p:nvSpPr>
        <p:spPr>
          <a:xfrm>
            <a:off x="548640" y="5257800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25780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評価システム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5184648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Q5.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何をしたら高く評価され、何をしたら評価されないのですか？現場の例で教えてください</a:t>
            </a:r>
            <a:endParaRPr lang="en-US" sz="1400" dirty="0"/>
          </a:p>
        </p:txBody>
      </p:sp>
      <p:sp>
        <p:nvSpPr>
          <p:cNvPr id="19" name="qtag tesla 5"/>
          <p:cNvSpPr/>
          <p:nvPr/>
        </p:nvSpPr>
        <p:spPr>
          <a:xfrm>
            <a:off x="6278728" y="1673352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78728" y="167335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評価システム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41768" y="1600200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Q6.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評価は誰が付け、どう調整していますか？本人へのフィードバックは何回ですか？</a:t>
            </a:r>
            <a:endParaRPr lang="en-US" sz="1400" dirty="0"/>
          </a:p>
        </p:txBody>
      </p:sp>
      <p:sp>
        <p:nvSpPr>
          <p:cNvPr id="22" name="qtag tesla 6"/>
          <p:cNvSpPr/>
          <p:nvPr/>
        </p:nvSpPr>
        <p:spPr>
          <a:xfrm>
            <a:off x="6278728" y="2569464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78728" y="25694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組織構造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741768" y="2496312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Q7.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指揮系統を飛ばして相談された時、直属の上司にはどう共有していますか？</a:t>
            </a:r>
            <a:endParaRPr lang="en-US" sz="1400" dirty="0"/>
          </a:p>
        </p:txBody>
      </p:sp>
      <p:sp>
        <p:nvSpPr>
          <p:cNvPr id="25" name="qtag tesla 7"/>
          <p:cNvSpPr/>
          <p:nvPr/>
        </p:nvSpPr>
        <p:spPr>
          <a:xfrm>
            <a:off x="6278728" y="3465576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78728" y="346557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組織構造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741768" y="3392424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Q8.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会議を減らした後、意思決定はどの場で、何日で行っていますか？</a:t>
            </a:r>
            <a:endParaRPr lang="en-US" sz="1400" dirty="0"/>
          </a:p>
        </p:txBody>
      </p:sp>
      <p:sp>
        <p:nvSpPr>
          <p:cNvPr id="28" name="qtag tesla 8"/>
          <p:cNvSpPr/>
          <p:nvPr/>
        </p:nvSpPr>
        <p:spPr>
          <a:xfrm>
            <a:off x="6278728" y="4361688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78728" y="436168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給与システム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41768" y="4288536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Q9.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評価点と昇給率・株式付与額の対応表はありますか？スポット付与の決裁者は誰ですか？</a:t>
            </a:r>
            <a:endParaRPr lang="en-US" sz="1400" dirty="0"/>
          </a:p>
        </p:txBody>
      </p:sp>
      <p:sp>
        <p:nvSpPr>
          <p:cNvPr id="31" name="qtag tesla 9"/>
          <p:cNvSpPr/>
          <p:nvPr/>
        </p:nvSpPr>
        <p:spPr>
          <a:xfrm>
            <a:off x="6278728" y="5257800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278728" y="525780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組織構造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741768" y="5184648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Q10.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上司1人あたりの部下は何人ですか？チームの成果指標は何ですか？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見学先 2 / 5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87452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Google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749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人事をデータで科学する会社</a:t>
            </a:r>
            <a:endParaRPr lang="en-US" sz="2000" dirty="0"/>
          </a:p>
        </p:txBody>
      </p:sp>
      <p:sp>
        <p:nvSpPr>
          <p:cNvPr id="5" name="div google circle"/>
          <p:cNvSpPr/>
          <p:nvPr/>
        </p:nvSpPr>
        <p:spPr>
          <a:xfrm>
            <a:off x="548640" y="6400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div googl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80467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572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真似するならここ</a:t>
            </a:r>
            <a:endParaRPr lang="en-US" sz="1400" dirty="0"/>
          </a:p>
        </p:txBody>
      </p:sp>
      <p:sp>
        <p:nvSpPr>
          <p:cNvPr id="8" name="swipe google 0"/>
          <p:cNvSpPr/>
          <p:nvPr/>
        </p:nvSpPr>
        <p:spPr>
          <a:xfrm>
            <a:off x="548640" y="4983480"/>
            <a:ext cx="3515258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/>
        </p:spPr>
      </p:sp>
      <p:pic>
        <p:nvPicPr>
          <p:cNvPr id="9" name="bulb googl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138928"/>
            <a:ext cx="320040" cy="320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5120640"/>
            <a:ext cx="26008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構造化面接：全員に同じ質問・同じ採点基準</a:t>
            </a:r>
            <a:endParaRPr lang="en-US" sz="1400" dirty="0"/>
          </a:p>
        </p:txBody>
      </p:sp>
      <p:sp>
        <p:nvSpPr>
          <p:cNvPr id="11" name="swipe google 1"/>
          <p:cNvSpPr/>
          <p:nvPr/>
        </p:nvSpPr>
        <p:spPr>
          <a:xfrm>
            <a:off x="4338218" y="4983480"/>
            <a:ext cx="3515258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/>
        </p:spPr>
      </p:sp>
      <p:pic>
        <p:nvPicPr>
          <p:cNvPr id="12" name="bulb googl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6818" y="5138928"/>
            <a:ext cx="320040" cy="3200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24018" y="5120640"/>
            <a:ext cx="26008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入社前日、上司に「5項目チェックリスト」を送る</a:t>
            </a:r>
            <a:endParaRPr lang="en-US" sz="1400" dirty="0"/>
          </a:p>
        </p:txBody>
      </p:sp>
      <p:sp>
        <p:nvSpPr>
          <p:cNvPr id="14" name="swipe google 2"/>
          <p:cNvSpPr/>
          <p:nvPr/>
        </p:nvSpPr>
        <p:spPr>
          <a:xfrm>
            <a:off x="8127797" y="4983480"/>
            <a:ext cx="3515258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/>
        </p:spPr>
      </p:sp>
      <p:pic>
        <p:nvPicPr>
          <p:cNvPr id="15" name="bulb googl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6397" y="5138928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813597" y="5120640"/>
            <a:ext cx="26008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成果5段階 × 賞与倍率で、報酬に差をつける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Google ｜ 1/6 採用基準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専門スキルより「学ぶ力」。全員に同じ質問で採る</a:t>
            </a:r>
            <a:endParaRPr lang="en-US" sz="3000" dirty="0"/>
          </a:p>
        </p:txBody>
      </p:sp>
      <p:sp>
        <p:nvSpPr>
          <p:cNvPr id="4" name="google hire facts"/>
          <p:cNvSpPr/>
          <p:nvPr/>
        </p:nvSpPr>
        <p:spPr>
          <a:xfrm>
            <a:off x="548640" y="1645920"/>
            <a:ext cx="6720840" cy="4297680"/>
          </a:xfrm>
          <a:prstGeom prst="roundRect">
            <a:avLst>
              <a:gd name="adj" fmla="val 2128"/>
            </a:avLst>
          </a:prstGeom>
          <a:solidFill>
            <a:schemeClr val="bg2"/>
          </a:solidFill>
          <a:ln/>
        </p:spPr>
      </p:sp>
      <p:sp>
        <p:nvSpPr>
          <p:cNvPr id="5" name="google hire circle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google hir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856232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採用基準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採用基準は？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6080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評価軸は4つ：学習力・リーダーシップ・Googleらしさ・職務知識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最も重視するのは「学ぶ力」。専門スキルの優先度は最も低い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構造化面接：全員に同じ質問をし、同じ基準で採点する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過去の行動を聞く面接と、仮の場面を聞く面接を組み合わせる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合否は面接官ではなく、採用委員会が判断する</a:t>
            </a:r>
            <a:endParaRPr lang="en-US" sz="1600" dirty="0"/>
          </a:p>
        </p:txBody>
      </p:sp>
      <p:sp>
        <p:nvSpPr>
          <p:cNvPr id="9" name="google hire apply"/>
          <p:cNvSpPr/>
          <p:nvPr/>
        </p:nvSpPr>
        <p:spPr>
          <a:xfrm>
            <a:off x="7543800" y="1645920"/>
            <a:ext cx="4099255" cy="2423160"/>
          </a:xfrm>
          <a:prstGeom prst="roundRect">
            <a:avLst>
              <a:gd name="adj" fmla="val 3774"/>
            </a:avLst>
          </a:prstGeom>
          <a:solidFill>
            <a:schemeClr val="tx1"/>
          </a:solidFill>
          <a:ln/>
        </p:spPr>
      </p:sp>
      <p:pic>
        <p:nvPicPr>
          <p:cNvPr id="10" name="google hire bulb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5623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75320" y="1828800"/>
            <a:ext cx="3184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自社で真似するなら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2377440"/>
            <a:ext cx="35506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面接の質問と採点表を統一し、誰が面接しても同じ基準に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合否は1人で決めず、複数人で判断する</a:t>
            </a:r>
            <a:endParaRPr lang="en-US" sz="1400" dirty="0"/>
          </a:p>
        </p:txBody>
      </p:sp>
      <p:sp>
        <p:nvSpPr>
          <p:cNvPr id="13" name="google hire q"/>
          <p:cNvSpPr/>
          <p:nvPr/>
        </p:nvSpPr>
        <p:spPr>
          <a:xfrm>
            <a:off x="7543800" y="4206240"/>
            <a:ext cx="4099255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google hire qicon circle"/>
          <p:cNvSpPr/>
          <p:nvPr/>
        </p:nvSpPr>
        <p:spPr>
          <a:xfrm>
            <a:off x="7818120" y="43891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google hire qic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0292" y="4481292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4389120"/>
            <a:ext cx="3184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現地で聞く質問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818120" y="4892040"/>
            <a:ext cx="35506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職務知識より「学習力」を見抜くために使う質問の例を教えてください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面接官の評価がぶれないよう、どんな訓練と仕組みがありますか？</a:t>
            </a:r>
            <a:endParaRPr lang="en-US" sz="1200" dirty="0"/>
          </a:p>
        </p:txBody>
      </p:sp>
      <p:sp>
        <p:nvSpPr>
          <p:cNvPr id="18" name="pill google hire 0"/>
          <p:cNvSpPr/>
          <p:nvPr/>
        </p:nvSpPr>
        <p:spPr>
          <a:xfrm>
            <a:off x="54864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4864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採用基準</a:t>
            </a:r>
            <a:endParaRPr lang="en-US" sz="1000" dirty="0"/>
          </a:p>
        </p:txBody>
      </p:sp>
      <p:sp>
        <p:nvSpPr>
          <p:cNvPr id="20" name="pill google hire 1"/>
          <p:cNvSpPr/>
          <p:nvPr/>
        </p:nvSpPr>
        <p:spPr>
          <a:xfrm>
            <a:off x="2029968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2029968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入社後の教育</a:t>
            </a:r>
            <a:endParaRPr lang="en-US" sz="1000" dirty="0"/>
          </a:p>
        </p:txBody>
      </p:sp>
      <p:sp>
        <p:nvSpPr>
          <p:cNvPr id="22" name="pill google hire 2"/>
          <p:cNvSpPr/>
          <p:nvPr/>
        </p:nvSpPr>
        <p:spPr>
          <a:xfrm>
            <a:off x="3511296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3511296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成果を出す仕組み</a:t>
            </a:r>
            <a:endParaRPr lang="en-US" sz="1000" dirty="0"/>
          </a:p>
        </p:txBody>
      </p:sp>
      <p:sp>
        <p:nvSpPr>
          <p:cNvPr id="24" name="pill google hire 3"/>
          <p:cNvSpPr/>
          <p:nvPr/>
        </p:nvSpPr>
        <p:spPr>
          <a:xfrm>
            <a:off x="4992624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992624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評価システム</a:t>
            </a:r>
            <a:endParaRPr lang="en-US" sz="1000" dirty="0"/>
          </a:p>
        </p:txBody>
      </p:sp>
      <p:sp>
        <p:nvSpPr>
          <p:cNvPr id="26" name="pill google hire 4"/>
          <p:cNvSpPr/>
          <p:nvPr/>
        </p:nvSpPr>
        <p:spPr>
          <a:xfrm>
            <a:off x="6473952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473952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組織構造</a:t>
            </a:r>
            <a:endParaRPr lang="en-US" sz="1000" dirty="0"/>
          </a:p>
        </p:txBody>
      </p:sp>
      <p:sp>
        <p:nvSpPr>
          <p:cNvPr id="28" name="pill google hire 5"/>
          <p:cNvSpPr/>
          <p:nvPr/>
        </p:nvSpPr>
        <p:spPr>
          <a:xfrm>
            <a:off x="795528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95528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給与システム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Google ｜ 2/6 入社後の教育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入社前日、上司に「5項目チェックリスト」を送る</a:t>
            </a:r>
            <a:endParaRPr lang="en-US" sz="3000" dirty="0"/>
          </a:p>
        </p:txBody>
      </p:sp>
      <p:sp>
        <p:nvSpPr>
          <p:cNvPr id="4" name="google onboard facts"/>
          <p:cNvSpPr/>
          <p:nvPr/>
        </p:nvSpPr>
        <p:spPr>
          <a:xfrm>
            <a:off x="548640" y="1645920"/>
            <a:ext cx="6720840" cy="4297680"/>
          </a:xfrm>
          <a:prstGeom prst="roundRect">
            <a:avLst>
              <a:gd name="adj" fmla="val 2128"/>
            </a:avLst>
          </a:prstGeom>
          <a:solidFill>
            <a:schemeClr val="bg2"/>
          </a:solidFill>
          <a:ln/>
        </p:spPr>
      </p:sp>
      <p:sp>
        <p:nvSpPr>
          <p:cNvPr id="5" name="google onboard circle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google onboard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856232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入社後の教育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最初、入職してから教育をどうするか？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6080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新入社員は「Noogler」と呼ばれ、オリエンテーションを受ける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入社前日に、上司へチェックリストをメールで送る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① 役割を説明 ② バディをつける ③ 人脈づくりを手伝う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④ 半年間、毎月面談する ⑤ 率直な対話を促す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この仕組みで、一人前になるまでの期間が約25%短縮</a:t>
            </a:r>
            <a:endParaRPr lang="en-US" sz="1600" dirty="0"/>
          </a:p>
        </p:txBody>
      </p:sp>
      <p:sp>
        <p:nvSpPr>
          <p:cNvPr id="9" name="google onboard apply"/>
          <p:cNvSpPr/>
          <p:nvPr/>
        </p:nvSpPr>
        <p:spPr>
          <a:xfrm>
            <a:off x="7543800" y="1645920"/>
            <a:ext cx="4099255" cy="2423160"/>
          </a:xfrm>
          <a:prstGeom prst="roundRect">
            <a:avLst>
              <a:gd name="adj" fmla="val 3774"/>
            </a:avLst>
          </a:prstGeom>
          <a:solidFill>
            <a:schemeClr val="tx1"/>
          </a:solidFill>
          <a:ln/>
        </p:spPr>
      </p:sp>
      <p:pic>
        <p:nvPicPr>
          <p:cNvPr id="10" name="google onboard bulb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5623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75320" y="1828800"/>
            <a:ext cx="3184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自社で真似するなら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2377440"/>
            <a:ext cx="35506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入社前日に上司へ「5項目チェックリスト」を送る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新人全員にバディ（先輩）をつけ、半年間は毎月面談</a:t>
            </a:r>
            <a:endParaRPr lang="en-US" sz="1400" dirty="0"/>
          </a:p>
        </p:txBody>
      </p:sp>
      <p:sp>
        <p:nvSpPr>
          <p:cNvPr id="13" name="google onboard q"/>
          <p:cNvSpPr/>
          <p:nvPr/>
        </p:nvSpPr>
        <p:spPr>
          <a:xfrm>
            <a:off x="7543800" y="4206240"/>
            <a:ext cx="4099255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google onboard qicon circle"/>
          <p:cNvSpPr/>
          <p:nvPr/>
        </p:nvSpPr>
        <p:spPr>
          <a:xfrm>
            <a:off x="7818120" y="43891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google onboard qic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0292" y="4481292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4389120"/>
            <a:ext cx="3184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現地で聞く質問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818120" y="4892040"/>
            <a:ext cx="35506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入社90日で一人前にするために、上司は週ごとに何をしますか？</a:t>
            </a:r>
            <a:endParaRPr lang="en-US" sz="1200" dirty="0"/>
          </a:p>
        </p:txBody>
      </p:sp>
      <p:sp>
        <p:nvSpPr>
          <p:cNvPr id="18" name="pill google onboard 0"/>
          <p:cNvSpPr/>
          <p:nvPr/>
        </p:nvSpPr>
        <p:spPr>
          <a:xfrm>
            <a:off x="54864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4864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採用基準</a:t>
            </a:r>
            <a:endParaRPr lang="en-US" sz="1000" dirty="0"/>
          </a:p>
        </p:txBody>
      </p:sp>
      <p:sp>
        <p:nvSpPr>
          <p:cNvPr id="20" name="pill google onboard 1"/>
          <p:cNvSpPr/>
          <p:nvPr/>
        </p:nvSpPr>
        <p:spPr>
          <a:xfrm>
            <a:off x="2029968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2029968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入社後の教育</a:t>
            </a:r>
            <a:endParaRPr lang="en-US" sz="1000" dirty="0"/>
          </a:p>
        </p:txBody>
      </p:sp>
      <p:sp>
        <p:nvSpPr>
          <p:cNvPr id="22" name="pill google onboard 2"/>
          <p:cNvSpPr/>
          <p:nvPr/>
        </p:nvSpPr>
        <p:spPr>
          <a:xfrm>
            <a:off x="3511296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3511296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成果を出す仕組み</a:t>
            </a:r>
            <a:endParaRPr lang="en-US" sz="1000" dirty="0"/>
          </a:p>
        </p:txBody>
      </p:sp>
      <p:sp>
        <p:nvSpPr>
          <p:cNvPr id="24" name="pill google onboard 3"/>
          <p:cNvSpPr/>
          <p:nvPr/>
        </p:nvSpPr>
        <p:spPr>
          <a:xfrm>
            <a:off x="4992624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992624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評価システム</a:t>
            </a:r>
            <a:endParaRPr lang="en-US" sz="1000" dirty="0"/>
          </a:p>
        </p:txBody>
      </p:sp>
      <p:sp>
        <p:nvSpPr>
          <p:cNvPr id="26" name="pill google onboard 4"/>
          <p:cNvSpPr/>
          <p:nvPr/>
        </p:nvSpPr>
        <p:spPr>
          <a:xfrm>
            <a:off x="6473952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473952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組織構造</a:t>
            </a:r>
            <a:endParaRPr lang="en-US" sz="1000" dirty="0"/>
          </a:p>
        </p:txBody>
      </p:sp>
      <p:sp>
        <p:nvSpPr>
          <p:cNvPr id="28" name="pill google onboard 5"/>
          <p:cNvSpPr/>
          <p:nvPr/>
        </p:nvSpPr>
        <p:spPr>
          <a:xfrm>
            <a:off x="795528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95528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給与システム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Google ｜ 3/6 成果を出す仕組み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目標を全社に公開し、社員同士が教え合う</a:t>
            </a:r>
            <a:endParaRPr lang="en-US" sz="3000" dirty="0"/>
          </a:p>
        </p:txBody>
      </p:sp>
      <p:sp>
        <p:nvSpPr>
          <p:cNvPr id="4" name="google develop facts"/>
          <p:cNvSpPr/>
          <p:nvPr/>
        </p:nvSpPr>
        <p:spPr>
          <a:xfrm>
            <a:off x="548640" y="1645920"/>
            <a:ext cx="6720840" cy="4297680"/>
          </a:xfrm>
          <a:prstGeom prst="roundRect">
            <a:avLst>
              <a:gd name="adj" fmla="val 2128"/>
            </a:avLst>
          </a:prstGeom>
          <a:solidFill>
            <a:schemeClr val="bg2"/>
          </a:solidFill>
          <a:ln/>
        </p:spPr>
      </p:sp>
      <p:sp>
        <p:nvSpPr>
          <p:cNvPr id="5" name="google develop circle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google develop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856232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成果を出す仕組み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成果を出すためにやっている教育・仕組みは？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6080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OKR：四半期ごとに目標を立てて全社に公開。達成度0.7が健全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g2g：社員が講師になり、社員同士で教え合う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Project Oxygen：良い上司の8つの行動を特定し、研修と評価に使う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Project Aristotle：成果を出すチームの第一条件は「心理的安全性」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※有名な「20%ルール」は、現在ほぼ形骸化との報道が多い</a:t>
            </a:r>
            <a:endParaRPr lang="en-US" sz="1600" dirty="0"/>
          </a:p>
        </p:txBody>
      </p:sp>
      <p:sp>
        <p:nvSpPr>
          <p:cNvPr id="9" name="google develop apply"/>
          <p:cNvSpPr/>
          <p:nvPr/>
        </p:nvSpPr>
        <p:spPr>
          <a:xfrm>
            <a:off x="7543800" y="1645920"/>
            <a:ext cx="4099255" cy="2423160"/>
          </a:xfrm>
          <a:prstGeom prst="roundRect">
            <a:avLst>
              <a:gd name="adj" fmla="val 3774"/>
            </a:avLst>
          </a:prstGeom>
          <a:solidFill>
            <a:schemeClr val="tx1"/>
          </a:solidFill>
          <a:ln/>
        </p:spPr>
      </p:sp>
      <p:pic>
        <p:nvPicPr>
          <p:cNvPr id="10" name="google develop bulb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5623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75320" y="1828800"/>
            <a:ext cx="3184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自社で真似するなら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2377440"/>
            <a:ext cx="35506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四半期の目標を全員が公開し、月1回進捗を共有する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療法士同士の症例勉強会を月1回、社員が講師を担う</a:t>
            </a:r>
            <a:endParaRPr lang="en-US" sz="1400" dirty="0"/>
          </a:p>
        </p:txBody>
      </p:sp>
      <p:sp>
        <p:nvSpPr>
          <p:cNvPr id="13" name="google develop q"/>
          <p:cNvSpPr/>
          <p:nvPr/>
        </p:nvSpPr>
        <p:spPr>
          <a:xfrm>
            <a:off x="7543800" y="4206240"/>
            <a:ext cx="4099255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google develop qicon circle"/>
          <p:cNvSpPr/>
          <p:nvPr/>
        </p:nvSpPr>
        <p:spPr>
          <a:xfrm>
            <a:off x="7818120" y="43891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google develop qic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0292" y="4481292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4389120"/>
            <a:ext cx="3184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現地で聞く質問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818120" y="4892040"/>
            <a:ext cx="35506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OKRは個人の評価と連動していますか？連動させない理由は何ですか？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社員講師（g2g）への報酬は？学び合いの時間はどう確保していますか？</a:t>
            </a:r>
            <a:endParaRPr lang="en-US" sz="1200" dirty="0"/>
          </a:p>
        </p:txBody>
      </p:sp>
      <p:sp>
        <p:nvSpPr>
          <p:cNvPr id="18" name="pill google develop 0"/>
          <p:cNvSpPr/>
          <p:nvPr/>
        </p:nvSpPr>
        <p:spPr>
          <a:xfrm>
            <a:off x="54864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4864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採用基準</a:t>
            </a:r>
            <a:endParaRPr lang="en-US" sz="1000" dirty="0"/>
          </a:p>
        </p:txBody>
      </p:sp>
      <p:sp>
        <p:nvSpPr>
          <p:cNvPr id="20" name="pill google develop 1"/>
          <p:cNvSpPr/>
          <p:nvPr/>
        </p:nvSpPr>
        <p:spPr>
          <a:xfrm>
            <a:off x="2029968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2029968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入社後の教育</a:t>
            </a:r>
            <a:endParaRPr lang="en-US" sz="1000" dirty="0"/>
          </a:p>
        </p:txBody>
      </p:sp>
      <p:sp>
        <p:nvSpPr>
          <p:cNvPr id="22" name="pill google develop 2"/>
          <p:cNvSpPr/>
          <p:nvPr/>
        </p:nvSpPr>
        <p:spPr>
          <a:xfrm>
            <a:off x="3511296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3511296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成果を出す仕組み</a:t>
            </a:r>
            <a:endParaRPr lang="en-US" sz="1000" dirty="0"/>
          </a:p>
        </p:txBody>
      </p:sp>
      <p:sp>
        <p:nvSpPr>
          <p:cNvPr id="24" name="pill google develop 3"/>
          <p:cNvSpPr/>
          <p:nvPr/>
        </p:nvSpPr>
        <p:spPr>
          <a:xfrm>
            <a:off x="4992624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992624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評価システム</a:t>
            </a:r>
            <a:endParaRPr lang="en-US" sz="1000" dirty="0"/>
          </a:p>
        </p:txBody>
      </p:sp>
      <p:sp>
        <p:nvSpPr>
          <p:cNvPr id="26" name="pill google develop 4"/>
          <p:cNvSpPr/>
          <p:nvPr/>
        </p:nvSpPr>
        <p:spPr>
          <a:xfrm>
            <a:off x="6473952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473952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組織構造</a:t>
            </a:r>
            <a:endParaRPr lang="en-US" sz="1000" dirty="0"/>
          </a:p>
        </p:txBody>
      </p:sp>
      <p:sp>
        <p:nvSpPr>
          <p:cNvPr id="28" name="pill google develop 5"/>
          <p:cNvSpPr/>
          <p:nvPr/>
        </p:nvSpPr>
        <p:spPr>
          <a:xfrm>
            <a:off x="795528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95528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給与システム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Google ｜ 4/6 評価システム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評価するのは「インパクト（成果）」— 5段階で</a:t>
            </a:r>
            <a:endParaRPr lang="en-US" sz="3000" dirty="0"/>
          </a:p>
        </p:txBody>
      </p:sp>
      <p:sp>
        <p:nvSpPr>
          <p:cNvPr id="4" name="google eval facts"/>
          <p:cNvSpPr/>
          <p:nvPr/>
        </p:nvSpPr>
        <p:spPr>
          <a:xfrm>
            <a:off x="548640" y="1645920"/>
            <a:ext cx="6720840" cy="4297680"/>
          </a:xfrm>
          <a:prstGeom prst="roundRect">
            <a:avLst>
              <a:gd name="adj" fmla="val 2128"/>
            </a:avLst>
          </a:prstGeom>
          <a:solidFill>
            <a:schemeClr val="bg2"/>
          </a:solidFill>
          <a:ln/>
        </p:spPr>
      </p:sp>
      <p:sp>
        <p:nvSpPr>
          <p:cNvPr id="5" name="google eval circle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google eva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856232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評価システム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評価されるには何が項目としてあるか？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6080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評価制度「GRAD」（2022年〜）：年1回の評価＋随時の面談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随時の面談のうち1回は、キャリアについての面談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5段階：Not Enough／Moderate／Significant／Outstanding／Transformative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評価するのは「インパクト（成果）」。多くの社員はSignificant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昇進は上司主導に変更。昇進の申請は年2回できる</a:t>
            </a:r>
            <a:endParaRPr lang="en-US" sz="1600" dirty="0"/>
          </a:p>
        </p:txBody>
      </p:sp>
      <p:sp>
        <p:nvSpPr>
          <p:cNvPr id="9" name="google eval apply"/>
          <p:cNvSpPr/>
          <p:nvPr/>
        </p:nvSpPr>
        <p:spPr>
          <a:xfrm>
            <a:off x="7543800" y="1645920"/>
            <a:ext cx="4099255" cy="2423160"/>
          </a:xfrm>
          <a:prstGeom prst="roundRect">
            <a:avLst>
              <a:gd name="adj" fmla="val 3774"/>
            </a:avLst>
          </a:prstGeom>
          <a:solidFill>
            <a:schemeClr val="tx1"/>
          </a:solidFill>
          <a:ln/>
        </p:spPr>
      </p:sp>
      <p:pic>
        <p:nvPicPr>
          <p:cNvPr id="10" name="google eval bulb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5623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75320" y="1828800"/>
            <a:ext cx="3184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自社で真似するなら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2377440"/>
            <a:ext cx="35506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「成果」の定義を数字で決める（売上・稼働率・患者の改善）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年1回の評価＋随時の面談。うち1回はキャリアの話</a:t>
            </a:r>
            <a:endParaRPr lang="en-US" sz="1400" dirty="0"/>
          </a:p>
        </p:txBody>
      </p:sp>
      <p:sp>
        <p:nvSpPr>
          <p:cNvPr id="13" name="google eval q"/>
          <p:cNvSpPr/>
          <p:nvPr/>
        </p:nvSpPr>
        <p:spPr>
          <a:xfrm>
            <a:off x="7543800" y="4206240"/>
            <a:ext cx="4099255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google eval qicon circle"/>
          <p:cNvSpPr/>
          <p:nvPr/>
        </p:nvSpPr>
        <p:spPr>
          <a:xfrm>
            <a:off x="7818120" y="43891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google eval qic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0292" y="4481292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4389120"/>
            <a:ext cx="3184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現地で聞く質問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818120" y="4892040"/>
            <a:ext cx="35506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最高評価と最低評価を分けた行動は？何をしたら評価され、何をしたら評価されないか実例で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努力は大きかったが成果が出なかった人は、どう評価しますか？</a:t>
            </a:r>
            <a:endParaRPr lang="en-US" sz="1200" dirty="0"/>
          </a:p>
        </p:txBody>
      </p:sp>
      <p:sp>
        <p:nvSpPr>
          <p:cNvPr id="18" name="pill google eval 0"/>
          <p:cNvSpPr/>
          <p:nvPr/>
        </p:nvSpPr>
        <p:spPr>
          <a:xfrm>
            <a:off x="54864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4864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採用基準</a:t>
            </a:r>
            <a:endParaRPr lang="en-US" sz="1000" dirty="0"/>
          </a:p>
        </p:txBody>
      </p:sp>
      <p:sp>
        <p:nvSpPr>
          <p:cNvPr id="20" name="pill google eval 1"/>
          <p:cNvSpPr/>
          <p:nvPr/>
        </p:nvSpPr>
        <p:spPr>
          <a:xfrm>
            <a:off x="2029968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2029968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入社後の教育</a:t>
            </a:r>
            <a:endParaRPr lang="en-US" sz="1000" dirty="0"/>
          </a:p>
        </p:txBody>
      </p:sp>
      <p:sp>
        <p:nvSpPr>
          <p:cNvPr id="22" name="pill google eval 2"/>
          <p:cNvSpPr/>
          <p:nvPr/>
        </p:nvSpPr>
        <p:spPr>
          <a:xfrm>
            <a:off x="3511296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3511296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成果を出す仕組み</a:t>
            </a:r>
            <a:endParaRPr lang="en-US" sz="1000" dirty="0"/>
          </a:p>
        </p:txBody>
      </p:sp>
      <p:sp>
        <p:nvSpPr>
          <p:cNvPr id="24" name="pill google eval 3"/>
          <p:cNvSpPr/>
          <p:nvPr/>
        </p:nvSpPr>
        <p:spPr>
          <a:xfrm>
            <a:off x="4992624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992624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評価システム</a:t>
            </a:r>
            <a:endParaRPr lang="en-US" sz="1000" dirty="0"/>
          </a:p>
        </p:txBody>
      </p:sp>
      <p:sp>
        <p:nvSpPr>
          <p:cNvPr id="26" name="pill google eval 4"/>
          <p:cNvSpPr/>
          <p:nvPr/>
        </p:nvSpPr>
        <p:spPr>
          <a:xfrm>
            <a:off x="6473952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473952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組織構造</a:t>
            </a:r>
            <a:endParaRPr lang="en-US" sz="1000" dirty="0"/>
          </a:p>
        </p:txBody>
      </p:sp>
      <p:sp>
        <p:nvSpPr>
          <p:cNvPr id="28" name="pill google eval 5"/>
          <p:cNvSpPr/>
          <p:nvPr/>
        </p:nvSpPr>
        <p:spPr>
          <a:xfrm>
            <a:off x="795528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95528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給与システム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Google ｜ 5/6 組織構造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小さな自律チーム。上司の役割は「コーチ」</a:t>
            </a:r>
            <a:endParaRPr lang="en-US" sz="3000" dirty="0"/>
          </a:p>
        </p:txBody>
      </p:sp>
      <p:sp>
        <p:nvSpPr>
          <p:cNvPr id="4" name="google org facts"/>
          <p:cNvSpPr/>
          <p:nvPr/>
        </p:nvSpPr>
        <p:spPr>
          <a:xfrm>
            <a:off x="548640" y="1645920"/>
            <a:ext cx="6720840" cy="4297680"/>
          </a:xfrm>
          <a:prstGeom prst="roundRect">
            <a:avLst>
              <a:gd name="adj" fmla="val 2128"/>
            </a:avLst>
          </a:prstGeom>
          <a:solidFill>
            <a:schemeClr val="bg2"/>
          </a:solidFill>
          <a:ln/>
        </p:spPr>
      </p:sp>
      <p:sp>
        <p:nvSpPr>
          <p:cNvPr id="5" name="google org circle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google org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856232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組織構造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成果を出すために組織構造はどうなっているか？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6080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小さな自律チームが基本。OKRで全社の方向をそろえる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2025年、部下3人未満の小チームのマネージャーを35%削減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上司の役割は管理ではなく「コーチ」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部下アンケートで、上司も評価される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People Analytics部門が、人事の判断をデータで検証する</a:t>
            </a:r>
            <a:endParaRPr lang="en-US" sz="1600" dirty="0"/>
          </a:p>
        </p:txBody>
      </p:sp>
      <p:sp>
        <p:nvSpPr>
          <p:cNvPr id="9" name="google org apply"/>
          <p:cNvSpPr/>
          <p:nvPr/>
        </p:nvSpPr>
        <p:spPr>
          <a:xfrm>
            <a:off x="7543800" y="1645920"/>
            <a:ext cx="4099255" cy="2423160"/>
          </a:xfrm>
          <a:prstGeom prst="roundRect">
            <a:avLst>
              <a:gd name="adj" fmla="val 3774"/>
            </a:avLst>
          </a:prstGeom>
          <a:solidFill>
            <a:schemeClr val="tx1"/>
          </a:solidFill>
          <a:ln/>
        </p:spPr>
      </p:sp>
      <p:pic>
        <p:nvPicPr>
          <p:cNvPr id="10" name="google org bulb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5623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75320" y="1828800"/>
            <a:ext cx="3184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自社で真似するなら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2377440"/>
            <a:ext cx="35506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上司の役割を「コーチ」と定義し、良い上司の行動を明文化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年2回、部下が上司を評価するアンケートを取る</a:t>
            </a:r>
            <a:endParaRPr lang="en-US" sz="1400" dirty="0"/>
          </a:p>
        </p:txBody>
      </p:sp>
      <p:sp>
        <p:nvSpPr>
          <p:cNvPr id="13" name="google org q"/>
          <p:cNvSpPr/>
          <p:nvPr/>
        </p:nvSpPr>
        <p:spPr>
          <a:xfrm>
            <a:off x="7543800" y="4206240"/>
            <a:ext cx="4099255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google org qicon circle"/>
          <p:cNvSpPr/>
          <p:nvPr/>
        </p:nvSpPr>
        <p:spPr>
          <a:xfrm>
            <a:off x="7818120" y="43891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google org qic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0292" y="4481292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4389120"/>
            <a:ext cx="3184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現地で聞く質問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818120" y="4892040"/>
            <a:ext cx="35506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上司1人が持つ部下の上限と、上司自身の評価項目は何ですか？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その制度で生産性が上がったことを、どの指標で検証しましたか？</a:t>
            </a:r>
            <a:endParaRPr lang="en-US" sz="1200" dirty="0"/>
          </a:p>
        </p:txBody>
      </p:sp>
      <p:sp>
        <p:nvSpPr>
          <p:cNvPr id="18" name="pill google org 0"/>
          <p:cNvSpPr/>
          <p:nvPr/>
        </p:nvSpPr>
        <p:spPr>
          <a:xfrm>
            <a:off x="54864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4864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採用基準</a:t>
            </a:r>
            <a:endParaRPr lang="en-US" sz="1000" dirty="0"/>
          </a:p>
        </p:txBody>
      </p:sp>
      <p:sp>
        <p:nvSpPr>
          <p:cNvPr id="20" name="pill google org 1"/>
          <p:cNvSpPr/>
          <p:nvPr/>
        </p:nvSpPr>
        <p:spPr>
          <a:xfrm>
            <a:off x="2029968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2029968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入社後の教育</a:t>
            </a:r>
            <a:endParaRPr lang="en-US" sz="1000" dirty="0"/>
          </a:p>
        </p:txBody>
      </p:sp>
      <p:sp>
        <p:nvSpPr>
          <p:cNvPr id="22" name="pill google org 2"/>
          <p:cNvSpPr/>
          <p:nvPr/>
        </p:nvSpPr>
        <p:spPr>
          <a:xfrm>
            <a:off x="3511296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3511296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成果を出す仕組み</a:t>
            </a:r>
            <a:endParaRPr lang="en-US" sz="1000" dirty="0"/>
          </a:p>
        </p:txBody>
      </p:sp>
      <p:sp>
        <p:nvSpPr>
          <p:cNvPr id="24" name="pill google org 3"/>
          <p:cNvSpPr/>
          <p:nvPr/>
        </p:nvSpPr>
        <p:spPr>
          <a:xfrm>
            <a:off x="4992624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992624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評価システム</a:t>
            </a:r>
            <a:endParaRPr lang="en-US" sz="1000" dirty="0"/>
          </a:p>
        </p:txBody>
      </p:sp>
      <p:sp>
        <p:nvSpPr>
          <p:cNvPr id="26" name="pill google org 4"/>
          <p:cNvSpPr/>
          <p:nvPr/>
        </p:nvSpPr>
        <p:spPr>
          <a:xfrm>
            <a:off x="6473952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473952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組織構造</a:t>
            </a:r>
            <a:endParaRPr lang="en-US" sz="1000" dirty="0"/>
          </a:p>
        </p:txBody>
      </p:sp>
      <p:sp>
        <p:nvSpPr>
          <p:cNvPr id="28" name="pill google org 5"/>
          <p:cNvSpPr/>
          <p:nvPr/>
        </p:nvSpPr>
        <p:spPr>
          <a:xfrm>
            <a:off x="795528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95528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給与システム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Google ｜ 6/6 給与システム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同じ職務でも、成果しだいで報酬に大きく差をつける</a:t>
            </a:r>
            <a:endParaRPr lang="en-US" sz="3000" dirty="0"/>
          </a:p>
        </p:txBody>
      </p:sp>
      <p:sp>
        <p:nvSpPr>
          <p:cNvPr id="4" name="google pay facts"/>
          <p:cNvSpPr/>
          <p:nvPr/>
        </p:nvSpPr>
        <p:spPr>
          <a:xfrm>
            <a:off x="548640" y="1645920"/>
            <a:ext cx="6720840" cy="4297680"/>
          </a:xfrm>
          <a:prstGeom prst="roundRect">
            <a:avLst>
              <a:gd name="adj" fmla="val 2128"/>
            </a:avLst>
          </a:prstGeom>
          <a:solidFill>
            <a:schemeClr val="bg2"/>
          </a:solidFill>
          <a:ln/>
        </p:spPr>
      </p:sp>
      <p:sp>
        <p:nvSpPr>
          <p:cNvPr id="5" name="google pay circle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google p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856232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給与システム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給与はどう決まるのか？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6080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報酬＝基本給＋賞与＋株式。等級と市場水準で決まる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株式は4年かけて権利が確定する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2026年から、高評価ほど賞与・株式の倍率が上がる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総額は据え置き、上位の配分を増やし中位の倍率を下げた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「同じ職務でも成果次第で報酬が大きく違ってよい」（『ワーク・ルールズ!』）</a:t>
            </a:r>
            <a:endParaRPr lang="en-US" sz="1600" dirty="0"/>
          </a:p>
        </p:txBody>
      </p:sp>
      <p:sp>
        <p:nvSpPr>
          <p:cNvPr id="9" name="google pay apply"/>
          <p:cNvSpPr/>
          <p:nvPr/>
        </p:nvSpPr>
        <p:spPr>
          <a:xfrm>
            <a:off x="7543800" y="1645920"/>
            <a:ext cx="4099255" cy="2423160"/>
          </a:xfrm>
          <a:prstGeom prst="roundRect">
            <a:avLst>
              <a:gd name="adj" fmla="val 3774"/>
            </a:avLst>
          </a:prstGeom>
          <a:solidFill>
            <a:schemeClr val="tx1"/>
          </a:solidFill>
          <a:ln/>
        </p:spPr>
      </p:sp>
      <p:pic>
        <p:nvPicPr>
          <p:cNvPr id="10" name="google pay bulb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5623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75320" y="1828800"/>
            <a:ext cx="3184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自社で真似するなら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2377440"/>
            <a:ext cx="35506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賞与に「評価倍率」を導入（例：上位150%・中位100%・下位50%）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等級ごとの給与レンジを決め、市場相場を毎年確認</a:t>
            </a:r>
            <a:endParaRPr lang="en-US" sz="1400" dirty="0"/>
          </a:p>
        </p:txBody>
      </p:sp>
      <p:sp>
        <p:nvSpPr>
          <p:cNvPr id="13" name="google pay q"/>
          <p:cNvSpPr/>
          <p:nvPr/>
        </p:nvSpPr>
        <p:spPr>
          <a:xfrm>
            <a:off x="7543800" y="4206240"/>
            <a:ext cx="4099255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google pay qicon circle"/>
          <p:cNvSpPr/>
          <p:nvPr/>
        </p:nvSpPr>
        <p:spPr>
          <a:xfrm>
            <a:off x="7818120" y="43891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google pay qic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0292" y="4481292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4389120"/>
            <a:ext cx="3184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現地で聞く質問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818120" y="4892040"/>
            <a:ext cx="35506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評価ごとの賞与倍率の差はどの程度ですか？昇進と昇給はどう分けていますか？</a:t>
            </a:r>
            <a:endParaRPr lang="en-US" sz="1200" dirty="0"/>
          </a:p>
        </p:txBody>
      </p:sp>
      <p:sp>
        <p:nvSpPr>
          <p:cNvPr id="18" name="pill google pay 0"/>
          <p:cNvSpPr/>
          <p:nvPr/>
        </p:nvSpPr>
        <p:spPr>
          <a:xfrm>
            <a:off x="54864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4864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採用基準</a:t>
            </a:r>
            <a:endParaRPr lang="en-US" sz="1000" dirty="0"/>
          </a:p>
        </p:txBody>
      </p:sp>
      <p:sp>
        <p:nvSpPr>
          <p:cNvPr id="20" name="pill google pay 1"/>
          <p:cNvSpPr/>
          <p:nvPr/>
        </p:nvSpPr>
        <p:spPr>
          <a:xfrm>
            <a:off x="2029968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2029968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入社後の教育</a:t>
            </a:r>
            <a:endParaRPr lang="en-US" sz="1000" dirty="0"/>
          </a:p>
        </p:txBody>
      </p:sp>
      <p:sp>
        <p:nvSpPr>
          <p:cNvPr id="22" name="pill google pay 2"/>
          <p:cNvSpPr/>
          <p:nvPr/>
        </p:nvSpPr>
        <p:spPr>
          <a:xfrm>
            <a:off x="3511296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3511296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成果を出す仕組み</a:t>
            </a:r>
            <a:endParaRPr lang="en-US" sz="1000" dirty="0"/>
          </a:p>
        </p:txBody>
      </p:sp>
      <p:sp>
        <p:nvSpPr>
          <p:cNvPr id="24" name="pill google pay 3"/>
          <p:cNvSpPr/>
          <p:nvPr/>
        </p:nvSpPr>
        <p:spPr>
          <a:xfrm>
            <a:off x="4992624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992624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評価システム</a:t>
            </a:r>
            <a:endParaRPr lang="en-US" sz="1000" dirty="0"/>
          </a:p>
        </p:txBody>
      </p:sp>
      <p:sp>
        <p:nvSpPr>
          <p:cNvPr id="26" name="pill google pay 4"/>
          <p:cNvSpPr/>
          <p:nvPr/>
        </p:nvSpPr>
        <p:spPr>
          <a:xfrm>
            <a:off x="6473952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473952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組織構造</a:t>
            </a:r>
            <a:endParaRPr lang="en-US" sz="1000" dirty="0"/>
          </a:p>
        </p:txBody>
      </p:sp>
      <p:sp>
        <p:nvSpPr>
          <p:cNvPr id="28" name="pill google pay 5"/>
          <p:cNvSpPr/>
          <p:nvPr/>
        </p:nvSpPr>
        <p:spPr>
          <a:xfrm>
            <a:off x="795528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95528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給与システム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Google ｜ 現地で聞く質問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Googleに聞くべき質問 10選</a:t>
            </a:r>
            <a:endParaRPr lang="en-US" sz="3000" dirty="0"/>
          </a:p>
        </p:txBody>
      </p:sp>
      <p:sp>
        <p:nvSpPr>
          <p:cNvPr id="4" name="qtag google 0"/>
          <p:cNvSpPr/>
          <p:nvPr/>
        </p:nvSpPr>
        <p:spPr>
          <a:xfrm>
            <a:off x="548640" y="1673352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7335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評価システム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1600200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Q1.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最高評価と最低評価を分けた行動は？何をしたら評価され、何をしたら評価されないか実例で</a:t>
            </a:r>
            <a:endParaRPr lang="en-US" sz="1400" dirty="0"/>
          </a:p>
        </p:txBody>
      </p:sp>
      <p:sp>
        <p:nvSpPr>
          <p:cNvPr id="7" name="qtag google 1"/>
          <p:cNvSpPr/>
          <p:nvPr/>
        </p:nvSpPr>
        <p:spPr>
          <a:xfrm>
            <a:off x="548640" y="2569464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694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評価システム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496312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Q2.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努力は大きかったが成果が出なかった人は、どう評価しますか？</a:t>
            </a:r>
            <a:endParaRPr lang="en-US" sz="1400" dirty="0"/>
          </a:p>
        </p:txBody>
      </p:sp>
      <p:sp>
        <p:nvSpPr>
          <p:cNvPr id="10" name="qtag google 2"/>
          <p:cNvSpPr/>
          <p:nvPr/>
        </p:nvSpPr>
        <p:spPr>
          <a:xfrm>
            <a:off x="548640" y="3465576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46557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採用基準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011680" y="3392424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Q3.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職務知識より「学習力」を見抜くために使う質問の例を教えてください</a:t>
            </a:r>
            <a:endParaRPr lang="en-US" sz="1400" dirty="0"/>
          </a:p>
        </p:txBody>
      </p:sp>
      <p:sp>
        <p:nvSpPr>
          <p:cNvPr id="13" name="qtag google 3"/>
          <p:cNvSpPr/>
          <p:nvPr/>
        </p:nvSpPr>
        <p:spPr>
          <a:xfrm>
            <a:off x="548640" y="4361688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6168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採用基準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4288536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Q4.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面接官の評価がぶれないよう、どんな訓練と仕組みがありますか？</a:t>
            </a:r>
            <a:endParaRPr lang="en-US" sz="1400" dirty="0"/>
          </a:p>
        </p:txBody>
      </p:sp>
      <p:sp>
        <p:nvSpPr>
          <p:cNvPr id="16" name="qtag google 4"/>
          <p:cNvSpPr/>
          <p:nvPr/>
        </p:nvSpPr>
        <p:spPr>
          <a:xfrm>
            <a:off x="548640" y="5257800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25780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入社後の教育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5184648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Q5.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入社90日で一人前にするために、上司は週ごとに何をしますか？</a:t>
            </a:r>
            <a:endParaRPr lang="en-US" sz="1400" dirty="0"/>
          </a:p>
        </p:txBody>
      </p:sp>
      <p:sp>
        <p:nvSpPr>
          <p:cNvPr id="19" name="qtag google 5"/>
          <p:cNvSpPr/>
          <p:nvPr/>
        </p:nvSpPr>
        <p:spPr>
          <a:xfrm>
            <a:off x="6278728" y="1673352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78728" y="167335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成果を出す仕組み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41768" y="1600200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Q6.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OKRは個人の評価と連動していますか？連動させない理由は何ですか？</a:t>
            </a:r>
            <a:endParaRPr lang="en-US" sz="1400" dirty="0"/>
          </a:p>
        </p:txBody>
      </p:sp>
      <p:sp>
        <p:nvSpPr>
          <p:cNvPr id="22" name="qtag google 6"/>
          <p:cNvSpPr/>
          <p:nvPr/>
        </p:nvSpPr>
        <p:spPr>
          <a:xfrm>
            <a:off x="6278728" y="2569464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78728" y="25694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成果を出す仕組み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741768" y="2496312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Q7.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社員講師（g2g）への報酬は？学び合いの時間はどう確保していますか？</a:t>
            </a:r>
            <a:endParaRPr lang="en-US" sz="1400" dirty="0"/>
          </a:p>
        </p:txBody>
      </p:sp>
      <p:sp>
        <p:nvSpPr>
          <p:cNvPr id="25" name="qtag google 7"/>
          <p:cNvSpPr/>
          <p:nvPr/>
        </p:nvSpPr>
        <p:spPr>
          <a:xfrm>
            <a:off x="6278728" y="3465576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78728" y="346557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組織構造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741768" y="3392424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Q8.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上司1人が持つ部下の上限と、上司自身の評価項目は何ですか？</a:t>
            </a:r>
            <a:endParaRPr lang="en-US" sz="1400" dirty="0"/>
          </a:p>
        </p:txBody>
      </p:sp>
      <p:sp>
        <p:nvSpPr>
          <p:cNvPr id="28" name="qtag google 8"/>
          <p:cNvSpPr/>
          <p:nvPr/>
        </p:nvSpPr>
        <p:spPr>
          <a:xfrm>
            <a:off x="6278728" y="4361688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78728" y="436168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給与システム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41768" y="4288536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Q9.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評価ごとの賞与倍率の差はどの程度ですか？昇進と昇給はどう分けていますか？</a:t>
            </a:r>
            <a:endParaRPr lang="en-US" sz="1400" dirty="0"/>
          </a:p>
        </p:txBody>
      </p:sp>
      <p:sp>
        <p:nvSpPr>
          <p:cNvPr id="31" name="qtag google 9"/>
          <p:cNvSpPr/>
          <p:nvPr/>
        </p:nvSpPr>
        <p:spPr>
          <a:xfrm>
            <a:off x="6278728" y="5257800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278728" y="525780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組織構造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741768" y="5184648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Q10.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その制度で生産性が上がったことを、どの指標で検証しましたか？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見学先 3 / 5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87452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NASA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749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使命感と「振り返り」で、失敗できない仕事をやり切る</a:t>
            </a:r>
            <a:endParaRPr lang="en-US" sz="2000" dirty="0"/>
          </a:p>
        </p:txBody>
      </p:sp>
      <p:sp>
        <p:nvSpPr>
          <p:cNvPr id="5" name="div nasa circle"/>
          <p:cNvSpPr/>
          <p:nvPr/>
        </p:nvSpPr>
        <p:spPr>
          <a:xfrm>
            <a:off x="548640" y="64008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div nasa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80467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572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真似するならここ</a:t>
            </a:r>
            <a:endParaRPr lang="en-US" sz="1400" dirty="0"/>
          </a:p>
        </p:txBody>
      </p:sp>
      <p:sp>
        <p:nvSpPr>
          <p:cNvPr id="8" name="swipe nasa 0"/>
          <p:cNvSpPr/>
          <p:nvPr/>
        </p:nvSpPr>
        <p:spPr>
          <a:xfrm>
            <a:off x="548640" y="4983480"/>
            <a:ext cx="3515258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/>
        </p:spPr>
      </p:sp>
      <p:pic>
        <p:nvPicPr>
          <p:cNvPr id="9" name="bulb nasa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138928"/>
            <a:ext cx="320040" cy="320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5120640"/>
            <a:ext cx="26008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上位1%の表彰を、同僚の前で手渡しする</a:t>
            </a:r>
            <a:endParaRPr lang="en-US" sz="1400" dirty="0"/>
          </a:p>
        </p:txBody>
      </p:sp>
      <p:sp>
        <p:nvSpPr>
          <p:cNvPr id="11" name="swipe nasa 1"/>
          <p:cNvSpPr/>
          <p:nvPr/>
        </p:nvSpPr>
        <p:spPr>
          <a:xfrm>
            <a:off x="4338218" y="4983480"/>
            <a:ext cx="3515258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/>
        </p:spPr>
      </p:sp>
      <p:pic>
        <p:nvPicPr>
          <p:cNvPr id="12" name="bulb nasa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6818" y="5138928"/>
            <a:ext cx="320040" cy="3200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24018" y="5120640"/>
            <a:ext cx="26008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案件の節目ごとに15分の「振り返り」を定例化</a:t>
            </a:r>
            <a:endParaRPr lang="en-US" sz="1400" dirty="0"/>
          </a:p>
        </p:txBody>
      </p:sp>
      <p:sp>
        <p:nvSpPr>
          <p:cNvPr id="14" name="swipe nasa 2"/>
          <p:cNvSpPr/>
          <p:nvPr/>
        </p:nvSpPr>
        <p:spPr>
          <a:xfrm>
            <a:off x="8127797" y="4983480"/>
            <a:ext cx="3515258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/>
        </p:spPr>
      </p:sp>
      <p:pic>
        <p:nvPicPr>
          <p:cNvPr id="15" name="bulb nas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6397" y="5138928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813597" y="5120640"/>
            <a:ext cx="26008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年3回の評価面談＋「異論を歓迎する」ルール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NASA ｜ 人事システム 1/2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要件で採り、振り返りと教訓の共有で育てる</a:t>
            </a:r>
            <a:endParaRPr lang="en-US" sz="3000" dirty="0"/>
          </a:p>
        </p:txBody>
      </p:sp>
      <p:sp>
        <p:nvSpPr>
          <p:cNvPr id="4" name="nasa hire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/>
        </p:spPr>
      </p:sp>
      <p:sp>
        <p:nvSpPr>
          <p:cNvPr id="5" name="nasa hire circle"/>
          <p:cNvSpPr/>
          <p:nvPr/>
        </p:nvSpPr>
        <p:spPr>
          <a:xfrm>
            <a:off x="822960" y="187452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nasa hir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200619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874520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採用基準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51760"/>
            <a:ext cx="296661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一般職員は公募（USAJOBS）。職務要件と経験で適格審査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2025年から政府共通の採用計画。短文エッセイ4問（任意）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宇宙飛行士：STEM修士相当＋実務3年 or 飛行1,000時間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2025年組は8,000人超から10人。約2年訓練する</a:t>
            </a:r>
            <a:endParaRPr lang="en-US" sz="1400" dirty="0"/>
          </a:p>
        </p:txBody>
      </p:sp>
      <p:sp>
        <p:nvSpPr>
          <p:cNvPr id="9" name="nasa onboard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/>
        </p:spPr>
      </p:sp>
      <p:sp>
        <p:nvSpPr>
          <p:cNvPr id="10" name="nasa onboard circle"/>
          <p:cNvSpPr/>
          <p:nvPr/>
        </p:nvSpPr>
        <p:spPr>
          <a:xfrm>
            <a:off x="4612538" y="18745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nasa onboar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212" y="200619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98338" y="1874520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入社後の教育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2651760"/>
            <a:ext cx="296661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新人に経験者のスポンサー・メンターを付ける（※古い資料）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入庁1〜3年目向けに全体像を学ぶワークショップ（2022年試行）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若手リーダー育成「NASA FIRST」（※現状は要確認）</a:t>
            </a:r>
            <a:endParaRPr lang="en-US" sz="1400" dirty="0"/>
          </a:p>
        </p:txBody>
      </p:sp>
      <p:sp>
        <p:nvSpPr>
          <p:cNvPr id="14" name="nasa develop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/>
        </p:spPr>
      </p:sp>
      <p:sp>
        <p:nvSpPr>
          <p:cNvPr id="15" name="nasa develop circle"/>
          <p:cNvSpPr/>
          <p:nvPr/>
        </p:nvSpPr>
        <p:spPr>
          <a:xfrm>
            <a:off x="8402117" y="18745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nasa develop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3790" y="200619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87917" y="1874520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成果を出す仕組み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2651760"/>
            <a:ext cx="296661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APPEL：プロジェクト管理・技術者の研修機関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Pause and Learn：節目の直後にチームで振り返る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教訓データベース（LLIS）を計画段階で必ず確認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事故の教訓から「データがなくても異論を出せる」経路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NASA ｜ 人事システム 2/2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年3回の面談、マトリクス組織、等級×号俸の給与</a:t>
            </a:r>
            <a:endParaRPr lang="en-US" sz="3000" dirty="0"/>
          </a:p>
        </p:txBody>
      </p:sp>
      <p:sp>
        <p:nvSpPr>
          <p:cNvPr id="4" name="nasa eval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/>
        </p:spPr>
      </p:sp>
      <p:sp>
        <p:nvSpPr>
          <p:cNvPr id="5" name="nasa eval circle"/>
          <p:cNvSpPr/>
          <p:nvPr/>
        </p:nvSpPr>
        <p:spPr>
          <a:xfrm>
            <a:off x="822960" y="1874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nasa eva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200619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874520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評価システム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51760"/>
            <a:ext cx="296661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評価期間は毎年5/1〜4/30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面談は年3回以上：期初の計画・中間・期末の評定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要素ごとに3段階、総合は4段階で評定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1要素でも最低なら総合も最低（※詳細は要確認）</a:t>
            </a:r>
            <a:endParaRPr lang="en-US" sz="1400" dirty="0"/>
          </a:p>
        </p:txBody>
      </p:sp>
      <p:sp>
        <p:nvSpPr>
          <p:cNvPr id="9" name="nasa org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/>
        </p:spPr>
      </p:sp>
      <p:sp>
        <p:nvSpPr>
          <p:cNvPr id="10" name="nasa org circle"/>
          <p:cNvSpPr/>
          <p:nvPr/>
        </p:nvSpPr>
        <p:spPr>
          <a:xfrm>
            <a:off x="4612538" y="187452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1" name="nasa org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212" y="200619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98338" y="1874520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組織構造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2651760"/>
            <a:ext cx="296661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本部の下に5つのミッション本部＋支援部門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10のセンター（Ames等）が実務。事業×人材のマトリクス型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技術・安全の判断は事業から独立した部門が持つ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2025年に約2割が自主退職（約1.8万→1.4万人）</a:t>
            </a:r>
            <a:endParaRPr lang="en-US" sz="1400" dirty="0"/>
          </a:p>
        </p:txBody>
      </p:sp>
      <p:sp>
        <p:nvSpPr>
          <p:cNvPr id="14" name="nasa pay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/>
        </p:spPr>
      </p:sp>
      <p:sp>
        <p:nvSpPr>
          <p:cNvPr id="15" name="nasa pay circle"/>
          <p:cNvSpPr/>
          <p:nvPr/>
        </p:nvSpPr>
        <p:spPr>
          <a:xfrm>
            <a:off x="8402117" y="187452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6" name="nasa pay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3790" y="200619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87917" y="1874520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給与システム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2651760"/>
            <a:ext cx="296661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連邦職員共通のGS等級（1〜15）× 10号俸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号俸は1〜4号が毎年、以降2〜3年ごとに上がる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高評価には号俸の前倒しや賞与（※運用は要確認）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安全功労賞「Silver Snoopy」は全職員の1%以内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NASA ｜ 現地で聞く質問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NASAに聞くべき質問 10選</a:t>
            </a:r>
            <a:endParaRPr lang="en-US" sz="3000" dirty="0"/>
          </a:p>
        </p:txBody>
      </p:sp>
      <p:sp>
        <p:nvSpPr>
          <p:cNvPr id="4" name="qtag nasa 0"/>
          <p:cNvSpPr/>
          <p:nvPr/>
        </p:nvSpPr>
        <p:spPr>
          <a:xfrm>
            <a:off x="548640" y="1673352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7335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採用基準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1600200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Q1.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採用面接で、スキル以外に見る資質は何ですか？不採用にした典型例も教えてください</a:t>
            </a:r>
            <a:endParaRPr lang="en-US" sz="1400" dirty="0"/>
          </a:p>
        </p:txBody>
      </p:sp>
      <p:sp>
        <p:nvSpPr>
          <p:cNvPr id="7" name="qtag nasa 1"/>
          <p:cNvSpPr/>
          <p:nvPr/>
        </p:nvSpPr>
        <p:spPr>
          <a:xfrm>
            <a:off x="548640" y="2569464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694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入社後の教育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496312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Q2.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入庁初日から90日間のメニューと、メンターの選び方を教えてください</a:t>
            </a:r>
            <a:endParaRPr lang="en-US" sz="1400" dirty="0"/>
          </a:p>
        </p:txBody>
      </p:sp>
      <p:sp>
        <p:nvSpPr>
          <p:cNvPr id="10" name="qtag nasa 2"/>
          <p:cNvSpPr/>
          <p:nvPr/>
        </p:nvSpPr>
        <p:spPr>
          <a:xfrm>
            <a:off x="548640" y="3465576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46557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評価システム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011680" y="3392424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Q3.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何をしたら最高評価がつき、何をしたら評価されないか、実例で教えてください</a:t>
            </a:r>
            <a:endParaRPr lang="en-US" sz="1400" dirty="0"/>
          </a:p>
        </p:txBody>
      </p:sp>
      <p:sp>
        <p:nvSpPr>
          <p:cNvPr id="13" name="qtag nasa 3"/>
          <p:cNvSpPr/>
          <p:nvPr/>
        </p:nvSpPr>
        <p:spPr>
          <a:xfrm>
            <a:off x="548640" y="4361688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6168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評価システム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4288536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Q4.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中間レビューでは、上司と部下が具体的に何を話しますか？</a:t>
            </a:r>
            <a:endParaRPr lang="en-US" sz="1400" dirty="0"/>
          </a:p>
        </p:txBody>
      </p:sp>
      <p:sp>
        <p:nvSpPr>
          <p:cNvPr id="16" name="qtag nasa 4"/>
          <p:cNvSpPr/>
          <p:nvPr/>
        </p:nvSpPr>
        <p:spPr>
          <a:xfrm>
            <a:off x="548640" y="5257800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25780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評価システム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5184648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Q5.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チームの成果と個人の評価は、どう配分していますか？</a:t>
            </a:r>
            <a:endParaRPr lang="en-US" sz="1400" dirty="0"/>
          </a:p>
        </p:txBody>
      </p:sp>
      <p:sp>
        <p:nvSpPr>
          <p:cNvPr id="19" name="qtag nasa 5"/>
          <p:cNvSpPr/>
          <p:nvPr/>
        </p:nvSpPr>
        <p:spPr>
          <a:xfrm>
            <a:off x="6278728" y="1673352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78728" y="167335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成果を出す仕組み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41768" y="1600200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Q6.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「Pause and Learn」の進め方と所要時間を教えてください</a:t>
            </a:r>
            <a:endParaRPr lang="en-US" sz="1400" dirty="0"/>
          </a:p>
        </p:txBody>
      </p:sp>
      <p:sp>
        <p:nvSpPr>
          <p:cNvPr id="22" name="qtag nasa 6"/>
          <p:cNvSpPr/>
          <p:nvPr/>
        </p:nvSpPr>
        <p:spPr>
          <a:xfrm>
            <a:off x="6278728" y="2569464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78728" y="25694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成果を出す仕組み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741768" y="2496312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Q7.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若手が上司に異論を出せた最近の例は？その人はどう扱われましたか？</a:t>
            </a:r>
            <a:endParaRPr lang="en-US" sz="1400" dirty="0"/>
          </a:p>
        </p:txBody>
      </p:sp>
      <p:sp>
        <p:nvSpPr>
          <p:cNvPr id="25" name="qtag nasa 7"/>
          <p:cNvSpPr/>
          <p:nvPr/>
        </p:nvSpPr>
        <p:spPr>
          <a:xfrm>
            <a:off x="6278728" y="3465576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78728" y="346557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組織構造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741768" y="3392424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Q8.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センターとミッション本部の両方に上司がいる場合、評価は誰がしますか？</a:t>
            </a:r>
            <a:endParaRPr lang="en-US" sz="1400" dirty="0"/>
          </a:p>
        </p:txBody>
      </p:sp>
      <p:sp>
        <p:nvSpPr>
          <p:cNvPr id="28" name="qtag nasa 8"/>
          <p:cNvSpPr/>
          <p:nvPr/>
        </p:nvSpPr>
        <p:spPr>
          <a:xfrm>
            <a:off x="6278728" y="4361688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78728" y="436168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給与システム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41768" y="4288536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Q9.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給与が民間より低い中で、優秀な人を引き留める工夫は何ですか？</a:t>
            </a:r>
            <a:endParaRPr lang="en-US" sz="1400" dirty="0"/>
          </a:p>
        </p:txBody>
      </p:sp>
      <p:sp>
        <p:nvSpPr>
          <p:cNvPr id="31" name="qtag nasa 9"/>
          <p:cNvSpPr/>
          <p:nvPr/>
        </p:nvSpPr>
        <p:spPr>
          <a:xfrm>
            <a:off x="6278728" y="5257800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278728" y="525780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組織構造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741768" y="5184648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Q10.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2割が退職した後、知識の流出をどう防いでいますか？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見学先 4 / 5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87452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Meta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749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「何を変えたか（Impact）」で測る、徹底した成果主義</a:t>
            </a:r>
            <a:endParaRPr lang="en-US" sz="2000" dirty="0"/>
          </a:p>
        </p:txBody>
      </p:sp>
      <p:sp>
        <p:nvSpPr>
          <p:cNvPr id="5" name="div meta circle"/>
          <p:cNvSpPr/>
          <p:nvPr/>
        </p:nvSpPr>
        <p:spPr>
          <a:xfrm>
            <a:off x="548640" y="64008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div meta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80467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572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真似するならここ</a:t>
            </a:r>
            <a:endParaRPr lang="en-US" sz="1400" dirty="0"/>
          </a:p>
        </p:txBody>
      </p:sp>
      <p:sp>
        <p:nvSpPr>
          <p:cNvPr id="8" name="swipe meta 0"/>
          <p:cNvSpPr/>
          <p:nvPr/>
        </p:nvSpPr>
        <p:spPr>
          <a:xfrm>
            <a:off x="548640" y="4983480"/>
            <a:ext cx="3515258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/>
        </p:spPr>
      </p:sp>
      <p:pic>
        <p:nvPicPr>
          <p:cNvPr id="9" name="bulb meta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138928"/>
            <a:ext cx="320040" cy="320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5120640"/>
            <a:ext cx="26008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評価軸を「Impact（何を変えたか）」に一本化</a:t>
            </a:r>
            <a:endParaRPr lang="en-US" sz="1400" dirty="0"/>
          </a:p>
        </p:txBody>
      </p:sp>
      <p:sp>
        <p:nvSpPr>
          <p:cNvPr id="11" name="swipe meta 1"/>
          <p:cNvSpPr/>
          <p:nvPr/>
        </p:nvSpPr>
        <p:spPr>
          <a:xfrm>
            <a:off x="4338218" y="4983480"/>
            <a:ext cx="3515258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/>
        </p:spPr>
      </p:sp>
      <p:pic>
        <p:nvPicPr>
          <p:cNvPr id="12" name="bulb meta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6818" y="5138928"/>
            <a:ext cx="320040" cy="3200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24018" y="5120640"/>
            <a:ext cx="26008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上位20%・中位70%・下位10%を目安に校正会議</a:t>
            </a:r>
            <a:endParaRPr lang="en-US" sz="1400" dirty="0"/>
          </a:p>
        </p:txBody>
      </p:sp>
      <p:sp>
        <p:nvSpPr>
          <p:cNvPr id="14" name="swipe meta 2"/>
          <p:cNvSpPr/>
          <p:nvPr/>
        </p:nvSpPr>
        <p:spPr>
          <a:xfrm>
            <a:off x="8127797" y="4983480"/>
            <a:ext cx="3515258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/>
        </p:spPr>
      </p:sp>
      <p:pic>
        <p:nvPicPr>
          <p:cNvPr id="15" name="bulb m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6397" y="5138928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813597" y="5120640"/>
            <a:ext cx="26008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上司1人に部下5〜10人。上司も現場を続ける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Meta ｜ 1/6 採用基準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6つの価値観と「AIを使いこなす力」で採る</a:t>
            </a:r>
            <a:endParaRPr lang="en-US" sz="3000" dirty="0"/>
          </a:p>
        </p:txBody>
      </p:sp>
      <p:sp>
        <p:nvSpPr>
          <p:cNvPr id="4" name="meta hire facts"/>
          <p:cNvSpPr/>
          <p:nvPr/>
        </p:nvSpPr>
        <p:spPr>
          <a:xfrm>
            <a:off x="548640" y="1645920"/>
            <a:ext cx="6720840" cy="4297680"/>
          </a:xfrm>
          <a:prstGeom prst="roundRect">
            <a:avLst>
              <a:gd name="adj" fmla="val 2128"/>
            </a:avLst>
          </a:prstGeom>
          <a:solidFill>
            <a:schemeClr val="bg2"/>
          </a:solidFill>
          <a:ln/>
        </p:spPr>
      </p:sp>
      <p:sp>
        <p:nvSpPr>
          <p:cNvPr id="5" name="meta hire circle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meta hir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856232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採用基準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採用基準は？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6080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6つのコアバリューへの適合を見る（Move fast、Be direct など）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技術職はコーディング・設計・行動面接の3本立て（※外部情報）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2025年から、AI使用OKのコーディング面接を試行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「AIを使いこなして成果を出せるか」も見る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2023年以降は採用数を絞り、5,000件の募集を取りやめた</a:t>
            </a:r>
            <a:endParaRPr lang="en-US" sz="1600" dirty="0"/>
          </a:p>
        </p:txBody>
      </p:sp>
      <p:sp>
        <p:nvSpPr>
          <p:cNvPr id="9" name="meta hire apply"/>
          <p:cNvSpPr/>
          <p:nvPr/>
        </p:nvSpPr>
        <p:spPr>
          <a:xfrm>
            <a:off x="7543800" y="1645920"/>
            <a:ext cx="4099255" cy="2423160"/>
          </a:xfrm>
          <a:prstGeom prst="roundRect">
            <a:avLst>
              <a:gd name="adj" fmla="val 3774"/>
            </a:avLst>
          </a:prstGeom>
          <a:solidFill>
            <a:schemeClr val="tx1"/>
          </a:solidFill>
          <a:ln/>
        </p:spPr>
      </p:sp>
      <p:pic>
        <p:nvPicPr>
          <p:cNvPr id="10" name="meta hire bulb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5623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75320" y="1828800"/>
            <a:ext cx="3184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自社で真似するなら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2377440"/>
            <a:ext cx="35506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自社の価値観を3〜6個に絞り、面接で1つずつ確かめる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採用数を増やすより、基準に合う人だけを採る</a:t>
            </a:r>
            <a:endParaRPr lang="en-US" sz="1400" dirty="0"/>
          </a:p>
        </p:txBody>
      </p:sp>
      <p:sp>
        <p:nvSpPr>
          <p:cNvPr id="13" name="meta hire q"/>
          <p:cNvSpPr/>
          <p:nvPr/>
        </p:nvSpPr>
        <p:spPr>
          <a:xfrm>
            <a:off x="7543800" y="4206240"/>
            <a:ext cx="4099255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meta hire qicon circle"/>
          <p:cNvSpPr/>
          <p:nvPr/>
        </p:nvSpPr>
        <p:spPr>
          <a:xfrm>
            <a:off x="7818120" y="43891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meta hire qic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0292" y="4481292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4389120"/>
            <a:ext cx="3184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現地で聞く質問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818120" y="4892040"/>
            <a:ext cx="35506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採用面接で一番「不合格の決め手」になるのは、どんな言動ですか？</a:t>
            </a:r>
            <a:endParaRPr lang="en-US" sz="1200" dirty="0"/>
          </a:p>
        </p:txBody>
      </p:sp>
      <p:sp>
        <p:nvSpPr>
          <p:cNvPr id="18" name="pill meta hire 0"/>
          <p:cNvSpPr/>
          <p:nvPr/>
        </p:nvSpPr>
        <p:spPr>
          <a:xfrm>
            <a:off x="54864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4864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採用基準</a:t>
            </a:r>
            <a:endParaRPr lang="en-US" sz="1000" dirty="0"/>
          </a:p>
        </p:txBody>
      </p:sp>
      <p:sp>
        <p:nvSpPr>
          <p:cNvPr id="20" name="pill meta hire 1"/>
          <p:cNvSpPr/>
          <p:nvPr/>
        </p:nvSpPr>
        <p:spPr>
          <a:xfrm>
            <a:off x="2029968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2029968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入社後の教育</a:t>
            </a:r>
            <a:endParaRPr lang="en-US" sz="1000" dirty="0"/>
          </a:p>
        </p:txBody>
      </p:sp>
      <p:sp>
        <p:nvSpPr>
          <p:cNvPr id="22" name="pill meta hire 2"/>
          <p:cNvSpPr/>
          <p:nvPr/>
        </p:nvSpPr>
        <p:spPr>
          <a:xfrm>
            <a:off x="3511296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3511296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成果を出す仕組み</a:t>
            </a:r>
            <a:endParaRPr lang="en-US" sz="1000" dirty="0"/>
          </a:p>
        </p:txBody>
      </p:sp>
      <p:sp>
        <p:nvSpPr>
          <p:cNvPr id="24" name="pill meta hire 3"/>
          <p:cNvSpPr/>
          <p:nvPr/>
        </p:nvSpPr>
        <p:spPr>
          <a:xfrm>
            <a:off x="4992624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992624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評価システム</a:t>
            </a:r>
            <a:endParaRPr lang="en-US" sz="1000" dirty="0"/>
          </a:p>
        </p:txBody>
      </p:sp>
      <p:sp>
        <p:nvSpPr>
          <p:cNvPr id="26" name="pill meta hire 4"/>
          <p:cNvSpPr/>
          <p:nvPr/>
        </p:nvSpPr>
        <p:spPr>
          <a:xfrm>
            <a:off x="6473952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473952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組織構造</a:t>
            </a:r>
            <a:endParaRPr lang="en-US" sz="1000" dirty="0"/>
          </a:p>
        </p:txBody>
      </p:sp>
      <p:sp>
        <p:nvSpPr>
          <p:cNvPr id="28" name="pill meta hire 5"/>
          <p:cNvSpPr/>
          <p:nvPr/>
        </p:nvSpPr>
        <p:spPr>
          <a:xfrm>
            <a:off x="795528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95528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給与システム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Meta ｜ 2/6 入社後の教育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数週間のBootcampで、初週から本番の仕事に触れる</a:t>
            </a:r>
            <a:endParaRPr lang="en-US" sz="3000" dirty="0"/>
          </a:p>
        </p:txBody>
      </p:sp>
      <p:sp>
        <p:nvSpPr>
          <p:cNvPr id="4" name="meta onboard facts"/>
          <p:cNvSpPr/>
          <p:nvPr/>
        </p:nvSpPr>
        <p:spPr>
          <a:xfrm>
            <a:off x="548640" y="1645920"/>
            <a:ext cx="6720840" cy="4297680"/>
          </a:xfrm>
          <a:prstGeom prst="roundRect">
            <a:avLst>
              <a:gd name="adj" fmla="val 2128"/>
            </a:avLst>
          </a:prstGeom>
          <a:solidFill>
            <a:schemeClr val="bg2"/>
          </a:solidFill>
          <a:ln/>
        </p:spPr>
      </p:sp>
      <p:sp>
        <p:nvSpPr>
          <p:cNvPr id="5" name="meta onboard circle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meta onboard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856232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入社後の教育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最初、入職してから教育をどうするか？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6080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技術職は数週間の「Bootcamp」で開発環境と文化を学ぶ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以前は研修中に、配属チームを自分で選べた（※2023年以降は変更）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初週から本番の仕事に触れ、小さな成果を出す文化（※体験談）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※Bootcampの詳細は、社員の体験談や外部ガイドによる</a:t>
            </a:r>
            <a:endParaRPr lang="en-US" sz="1600" dirty="0"/>
          </a:p>
        </p:txBody>
      </p:sp>
      <p:sp>
        <p:nvSpPr>
          <p:cNvPr id="9" name="meta onboard apply"/>
          <p:cNvSpPr/>
          <p:nvPr/>
        </p:nvSpPr>
        <p:spPr>
          <a:xfrm>
            <a:off x="7543800" y="1645920"/>
            <a:ext cx="4099255" cy="2423160"/>
          </a:xfrm>
          <a:prstGeom prst="roundRect">
            <a:avLst>
              <a:gd name="adj" fmla="val 3774"/>
            </a:avLst>
          </a:prstGeom>
          <a:solidFill>
            <a:schemeClr val="tx1"/>
          </a:solidFill>
          <a:ln/>
        </p:spPr>
      </p:sp>
      <p:pic>
        <p:nvPicPr>
          <p:cNvPr id="10" name="meta onboard bulb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5623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75320" y="1828800"/>
            <a:ext cx="3184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自社で真似するなら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2377440"/>
            <a:ext cx="35506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入社1週目から、先輩と一緒に実際の施術・業務に入る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最初の1か月で「小さな成果」を出せるメニューを用意</a:t>
            </a:r>
            <a:endParaRPr lang="en-US" sz="1400" dirty="0"/>
          </a:p>
        </p:txBody>
      </p:sp>
      <p:sp>
        <p:nvSpPr>
          <p:cNvPr id="13" name="meta onboard q"/>
          <p:cNvSpPr/>
          <p:nvPr/>
        </p:nvSpPr>
        <p:spPr>
          <a:xfrm>
            <a:off x="7543800" y="4206240"/>
            <a:ext cx="4099255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meta onboard qicon circle"/>
          <p:cNvSpPr/>
          <p:nvPr/>
        </p:nvSpPr>
        <p:spPr>
          <a:xfrm>
            <a:off x="7818120" y="43891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meta onboard qic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0292" y="4481292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4389120"/>
            <a:ext cx="3184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現地で聞く質問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818120" y="4892040"/>
            <a:ext cx="35506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入社後90日で何ができれば「順調」と判断しますか？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Bootcampを縮小して、立ち上がりの速さは変わりましたか？</a:t>
            </a:r>
            <a:endParaRPr lang="en-US" sz="1200" dirty="0"/>
          </a:p>
        </p:txBody>
      </p:sp>
      <p:sp>
        <p:nvSpPr>
          <p:cNvPr id="18" name="pill meta onboard 0"/>
          <p:cNvSpPr/>
          <p:nvPr/>
        </p:nvSpPr>
        <p:spPr>
          <a:xfrm>
            <a:off x="54864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4864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採用基準</a:t>
            </a:r>
            <a:endParaRPr lang="en-US" sz="1000" dirty="0"/>
          </a:p>
        </p:txBody>
      </p:sp>
      <p:sp>
        <p:nvSpPr>
          <p:cNvPr id="20" name="pill meta onboard 1"/>
          <p:cNvSpPr/>
          <p:nvPr/>
        </p:nvSpPr>
        <p:spPr>
          <a:xfrm>
            <a:off x="2029968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2029968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入社後の教育</a:t>
            </a:r>
            <a:endParaRPr lang="en-US" sz="1000" dirty="0"/>
          </a:p>
        </p:txBody>
      </p:sp>
      <p:sp>
        <p:nvSpPr>
          <p:cNvPr id="22" name="pill meta onboard 2"/>
          <p:cNvSpPr/>
          <p:nvPr/>
        </p:nvSpPr>
        <p:spPr>
          <a:xfrm>
            <a:off x="3511296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3511296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成果を出す仕組み</a:t>
            </a:r>
            <a:endParaRPr lang="en-US" sz="1000" dirty="0"/>
          </a:p>
        </p:txBody>
      </p:sp>
      <p:sp>
        <p:nvSpPr>
          <p:cNvPr id="24" name="pill meta onboard 3"/>
          <p:cNvSpPr/>
          <p:nvPr/>
        </p:nvSpPr>
        <p:spPr>
          <a:xfrm>
            <a:off x="4992624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992624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評価システム</a:t>
            </a:r>
            <a:endParaRPr lang="en-US" sz="1000" dirty="0"/>
          </a:p>
        </p:txBody>
      </p:sp>
      <p:sp>
        <p:nvSpPr>
          <p:cNvPr id="26" name="pill meta onboard 4"/>
          <p:cNvSpPr/>
          <p:nvPr/>
        </p:nvSpPr>
        <p:spPr>
          <a:xfrm>
            <a:off x="6473952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473952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組織構造</a:t>
            </a:r>
            <a:endParaRPr lang="en-US" sz="1000" dirty="0"/>
          </a:p>
        </p:txBody>
      </p:sp>
      <p:sp>
        <p:nvSpPr>
          <p:cNvPr id="28" name="pill meta onboard 5"/>
          <p:cNvSpPr/>
          <p:nvPr/>
        </p:nvSpPr>
        <p:spPr>
          <a:xfrm>
            <a:off x="795528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95528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給与システム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Meta ｜ 3/6 成果を出す仕組み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共通言語は「Impact」— 何をしたかより何を変えたか</a:t>
            </a:r>
            <a:endParaRPr lang="en-US" sz="3000" dirty="0"/>
          </a:p>
        </p:txBody>
      </p:sp>
      <p:sp>
        <p:nvSpPr>
          <p:cNvPr id="4" name="meta develop facts"/>
          <p:cNvSpPr/>
          <p:nvPr/>
        </p:nvSpPr>
        <p:spPr>
          <a:xfrm>
            <a:off x="548640" y="1645920"/>
            <a:ext cx="6720840" cy="4297680"/>
          </a:xfrm>
          <a:prstGeom prst="roundRect">
            <a:avLst>
              <a:gd name="adj" fmla="val 2128"/>
            </a:avLst>
          </a:prstGeom>
          <a:solidFill>
            <a:schemeClr val="bg2"/>
          </a:solidFill>
          <a:ln/>
        </p:spPr>
      </p:sp>
      <p:sp>
        <p:nvSpPr>
          <p:cNvPr id="5" name="meta develop circle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meta develop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856232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成果を出す仕組み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成果を出すためにやっている教育・仕組みは？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6080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全社の共通言語は「Impact（事業への影響）」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問われるのは「何をしたか」ではなく「何を変えたか」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2025年11月、全職種に「AIを使った成果」を求める方針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評価ツール「Checkpoint」が成果の証拠を自動で集める（2026年〜）</a:t>
            </a:r>
            <a:endParaRPr lang="en-US" sz="1600" dirty="0"/>
          </a:p>
        </p:txBody>
      </p:sp>
      <p:sp>
        <p:nvSpPr>
          <p:cNvPr id="9" name="meta develop apply"/>
          <p:cNvSpPr/>
          <p:nvPr/>
        </p:nvSpPr>
        <p:spPr>
          <a:xfrm>
            <a:off x="7543800" y="1645920"/>
            <a:ext cx="4099255" cy="2423160"/>
          </a:xfrm>
          <a:prstGeom prst="roundRect">
            <a:avLst>
              <a:gd name="adj" fmla="val 3774"/>
            </a:avLst>
          </a:prstGeom>
          <a:solidFill>
            <a:schemeClr val="tx1"/>
          </a:solidFill>
          <a:ln/>
        </p:spPr>
      </p:sp>
      <p:pic>
        <p:nvPicPr>
          <p:cNvPr id="10" name="meta develop bulb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5623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75320" y="1828800"/>
            <a:ext cx="3184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自社で真似するなら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2377440"/>
            <a:ext cx="35506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面談で「今月何を変えたか」を1行で書く習慣をつける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業務の効率化（AI・ツール活用）も評価の対象にする</a:t>
            </a:r>
            <a:endParaRPr lang="en-US" sz="1400" dirty="0"/>
          </a:p>
        </p:txBody>
      </p:sp>
      <p:sp>
        <p:nvSpPr>
          <p:cNvPr id="13" name="meta develop q"/>
          <p:cNvSpPr/>
          <p:nvPr/>
        </p:nvSpPr>
        <p:spPr>
          <a:xfrm>
            <a:off x="7543800" y="4206240"/>
            <a:ext cx="4099255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meta develop qicon circle"/>
          <p:cNvSpPr/>
          <p:nvPr/>
        </p:nvSpPr>
        <p:spPr>
          <a:xfrm>
            <a:off x="7818120" y="43891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meta develop qic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0292" y="4481292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4389120"/>
            <a:ext cx="3184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現地で聞く質問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818120" y="4892040"/>
            <a:ext cx="35506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AIの活用度を評価に入れて、生産性は数字でどれだけ上がりましたか？</a:t>
            </a:r>
            <a:endParaRPr lang="en-US" sz="1200" dirty="0"/>
          </a:p>
        </p:txBody>
      </p:sp>
      <p:sp>
        <p:nvSpPr>
          <p:cNvPr id="18" name="pill meta develop 0"/>
          <p:cNvSpPr/>
          <p:nvPr/>
        </p:nvSpPr>
        <p:spPr>
          <a:xfrm>
            <a:off x="54864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4864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採用基準</a:t>
            </a:r>
            <a:endParaRPr lang="en-US" sz="1000" dirty="0"/>
          </a:p>
        </p:txBody>
      </p:sp>
      <p:sp>
        <p:nvSpPr>
          <p:cNvPr id="20" name="pill meta develop 1"/>
          <p:cNvSpPr/>
          <p:nvPr/>
        </p:nvSpPr>
        <p:spPr>
          <a:xfrm>
            <a:off x="2029968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2029968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入社後の教育</a:t>
            </a:r>
            <a:endParaRPr lang="en-US" sz="1000" dirty="0"/>
          </a:p>
        </p:txBody>
      </p:sp>
      <p:sp>
        <p:nvSpPr>
          <p:cNvPr id="22" name="pill meta develop 2"/>
          <p:cNvSpPr/>
          <p:nvPr/>
        </p:nvSpPr>
        <p:spPr>
          <a:xfrm>
            <a:off x="3511296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3511296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成果を出す仕組み</a:t>
            </a:r>
            <a:endParaRPr lang="en-US" sz="1000" dirty="0"/>
          </a:p>
        </p:txBody>
      </p:sp>
      <p:sp>
        <p:nvSpPr>
          <p:cNvPr id="24" name="pill meta develop 3"/>
          <p:cNvSpPr/>
          <p:nvPr/>
        </p:nvSpPr>
        <p:spPr>
          <a:xfrm>
            <a:off x="4992624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992624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評価システム</a:t>
            </a:r>
            <a:endParaRPr lang="en-US" sz="1000" dirty="0"/>
          </a:p>
        </p:txBody>
      </p:sp>
      <p:sp>
        <p:nvSpPr>
          <p:cNvPr id="26" name="pill meta develop 4"/>
          <p:cNvSpPr/>
          <p:nvPr/>
        </p:nvSpPr>
        <p:spPr>
          <a:xfrm>
            <a:off x="6473952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473952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組織構造</a:t>
            </a:r>
            <a:endParaRPr lang="en-US" sz="1000" dirty="0"/>
          </a:p>
        </p:txBody>
      </p:sp>
      <p:sp>
        <p:nvSpPr>
          <p:cNvPr id="28" name="pill meta develop 5"/>
          <p:cNvSpPr/>
          <p:nvPr/>
        </p:nvSpPr>
        <p:spPr>
          <a:xfrm>
            <a:off x="795528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95528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給与システム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Meta ｜ 4/6 評価システム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360度評価＋校正会議で、評価のばらつきをなくす</a:t>
            </a:r>
            <a:endParaRPr lang="en-US" sz="3000" dirty="0"/>
          </a:p>
        </p:txBody>
      </p:sp>
      <p:sp>
        <p:nvSpPr>
          <p:cNvPr id="4" name="meta eval facts"/>
          <p:cNvSpPr/>
          <p:nvPr/>
        </p:nvSpPr>
        <p:spPr>
          <a:xfrm>
            <a:off x="548640" y="1645920"/>
            <a:ext cx="6720840" cy="4297680"/>
          </a:xfrm>
          <a:prstGeom prst="roundRect">
            <a:avLst>
              <a:gd name="adj" fmla="val 2128"/>
            </a:avLst>
          </a:prstGeom>
          <a:solidFill>
            <a:schemeClr val="bg2"/>
          </a:solidFill>
          <a:ln/>
        </p:spPr>
      </p:sp>
      <p:sp>
        <p:nvSpPr>
          <p:cNvPr id="5" name="meta eval circle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meta eva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856232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評価システム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評価されるには何が項目としてあるか？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6080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評価サイクル「PSC」：本人・同僚・上司の360度評価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校正会議で、上司同士が評価の甘い・辛いをそろえる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年1回の本評価＋年央の確認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2025年は下位約5%（約3,600人）を解雇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2026年から4段階：最上位約20%、次が約70%、残りが低評価（※報道）</a:t>
            </a:r>
            <a:endParaRPr lang="en-US" sz="1600" dirty="0"/>
          </a:p>
        </p:txBody>
      </p:sp>
      <p:sp>
        <p:nvSpPr>
          <p:cNvPr id="9" name="meta eval apply"/>
          <p:cNvSpPr/>
          <p:nvPr/>
        </p:nvSpPr>
        <p:spPr>
          <a:xfrm>
            <a:off x="7543800" y="1645920"/>
            <a:ext cx="4099255" cy="2423160"/>
          </a:xfrm>
          <a:prstGeom prst="roundRect">
            <a:avLst>
              <a:gd name="adj" fmla="val 3774"/>
            </a:avLst>
          </a:prstGeom>
          <a:solidFill>
            <a:schemeClr val="tx1"/>
          </a:solidFill>
          <a:ln/>
        </p:spPr>
      </p:sp>
      <p:pic>
        <p:nvPicPr>
          <p:cNvPr id="10" name="meta eval bulb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5623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75320" y="1828800"/>
            <a:ext cx="3184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自社で真似するなら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2377440"/>
            <a:ext cx="35506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上司が集まる「校正会議」で評価のばらつきをなくす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上位20%・中位70%・下位10%を目安にする</a:t>
            </a:r>
            <a:endParaRPr lang="en-US" sz="1400" dirty="0"/>
          </a:p>
        </p:txBody>
      </p:sp>
      <p:sp>
        <p:nvSpPr>
          <p:cNvPr id="13" name="meta eval q"/>
          <p:cNvSpPr/>
          <p:nvPr/>
        </p:nvSpPr>
        <p:spPr>
          <a:xfrm>
            <a:off x="7543800" y="4206240"/>
            <a:ext cx="4099255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meta eval qicon circle"/>
          <p:cNvSpPr/>
          <p:nvPr/>
        </p:nvSpPr>
        <p:spPr>
          <a:xfrm>
            <a:off x="7818120" y="43891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meta eval qic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0292" y="4481292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4389120"/>
            <a:ext cx="3184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現地で聞く質問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818120" y="4892040"/>
            <a:ext cx="35506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何をしたら高く評価され、何をしたら（頑張っていても）評価されないのか、実例で教えてください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「Impact」を数字で示しにくい職種は、どう評価していますか？</a:t>
            </a:r>
            <a:endParaRPr lang="en-US" sz="1200" dirty="0"/>
          </a:p>
        </p:txBody>
      </p:sp>
      <p:sp>
        <p:nvSpPr>
          <p:cNvPr id="18" name="pill meta eval 0"/>
          <p:cNvSpPr/>
          <p:nvPr/>
        </p:nvSpPr>
        <p:spPr>
          <a:xfrm>
            <a:off x="54864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4864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採用基準</a:t>
            </a:r>
            <a:endParaRPr lang="en-US" sz="1000" dirty="0"/>
          </a:p>
        </p:txBody>
      </p:sp>
      <p:sp>
        <p:nvSpPr>
          <p:cNvPr id="20" name="pill meta eval 1"/>
          <p:cNvSpPr/>
          <p:nvPr/>
        </p:nvSpPr>
        <p:spPr>
          <a:xfrm>
            <a:off x="2029968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2029968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入社後の教育</a:t>
            </a:r>
            <a:endParaRPr lang="en-US" sz="1000" dirty="0"/>
          </a:p>
        </p:txBody>
      </p:sp>
      <p:sp>
        <p:nvSpPr>
          <p:cNvPr id="22" name="pill meta eval 2"/>
          <p:cNvSpPr/>
          <p:nvPr/>
        </p:nvSpPr>
        <p:spPr>
          <a:xfrm>
            <a:off x="3511296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3511296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成果を出す仕組み</a:t>
            </a:r>
            <a:endParaRPr lang="en-US" sz="1000" dirty="0"/>
          </a:p>
        </p:txBody>
      </p:sp>
      <p:sp>
        <p:nvSpPr>
          <p:cNvPr id="24" name="pill meta eval 3"/>
          <p:cNvSpPr/>
          <p:nvPr/>
        </p:nvSpPr>
        <p:spPr>
          <a:xfrm>
            <a:off x="4992624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992624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評価システム</a:t>
            </a:r>
            <a:endParaRPr lang="en-US" sz="1000" dirty="0"/>
          </a:p>
        </p:txBody>
      </p:sp>
      <p:sp>
        <p:nvSpPr>
          <p:cNvPr id="26" name="pill meta eval 4"/>
          <p:cNvSpPr/>
          <p:nvPr/>
        </p:nvSpPr>
        <p:spPr>
          <a:xfrm>
            <a:off x="6473952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473952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組織構造</a:t>
            </a:r>
            <a:endParaRPr lang="en-US" sz="1000" dirty="0"/>
          </a:p>
        </p:txBody>
      </p:sp>
      <p:sp>
        <p:nvSpPr>
          <p:cNvPr id="28" name="pill meta eval 5"/>
          <p:cNvSpPr/>
          <p:nvPr/>
        </p:nvSpPr>
        <p:spPr>
          <a:xfrm>
            <a:off x="795528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95528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給与システム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Meta ｜ 5/6 組織構造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階層を削ってフラットに。上司も現場で働く</a:t>
            </a:r>
            <a:endParaRPr lang="en-US" sz="3000" dirty="0"/>
          </a:p>
        </p:txBody>
      </p:sp>
      <p:sp>
        <p:nvSpPr>
          <p:cNvPr id="4" name="meta org facts"/>
          <p:cNvSpPr/>
          <p:nvPr/>
        </p:nvSpPr>
        <p:spPr>
          <a:xfrm>
            <a:off x="548640" y="1645920"/>
            <a:ext cx="6720840" cy="4297680"/>
          </a:xfrm>
          <a:prstGeom prst="roundRect">
            <a:avLst>
              <a:gd name="adj" fmla="val 2128"/>
            </a:avLst>
          </a:prstGeom>
          <a:solidFill>
            <a:schemeClr val="bg2"/>
          </a:solidFill>
          <a:ln/>
        </p:spPr>
      </p:sp>
      <p:sp>
        <p:nvSpPr>
          <p:cNvPr id="5" name="meta org circle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meta org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856232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組織構造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成果を出すために組織構造はどうなっているか？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6080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2023年「効率化の年」で、管理職の階層を複数削減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上司1人の部下は最大10人程度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少人数しか持たない管理者は減らす方針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上司も現場（プレイヤー）の業務を担う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「管理者を管理する管理者」を減らした</a:t>
            </a:r>
            <a:endParaRPr lang="en-US" sz="1600" dirty="0"/>
          </a:p>
        </p:txBody>
      </p:sp>
      <p:sp>
        <p:nvSpPr>
          <p:cNvPr id="9" name="meta org apply"/>
          <p:cNvSpPr/>
          <p:nvPr/>
        </p:nvSpPr>
        <p:spPr>
          <a:xfrm>
            <a:off x="7543800" y="1645920"/>
            <a:ext cx="4099255" cy="2423160"/>
          </a:xfrm>
          <a:prstGeom prst="roundRect">
            <a:avLst>
              <a:gd name="adj" fmla="val 3774"/>
            </a:avLst>
          </a:prstGeom>
          <a:solidFill>
            <a:schemeClr val="tx1"/>
          </a:solidFill>
          <a:ln/>
        </p:spPr>
      </p:sp>
      <p:pic>
        <p:nvPicPr>
          <p:cNvPr id="10" name="meta org bulb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5623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75320" y="1828800"/>
            <a:ext cx="3184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自社で真似するなら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2377440"/>
            <a:ext cx="35506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上司1人に部下5〜10人。少人数の管理職は置かない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管理職も現場の施術を続ける</a:t>
            </a:r>
            <a:endParaRPr lang="en-US" sz="1400" dirty="0"/>
          </a:p>
        </p:txBody>
      </p:sp>
      <p:sp>
        <p:nvSpPr>
          <p:cNvPr id="13" name="meta org q"/>
          <p:cNvSpPr/>
          <p:nvPr/>
        </p:nvSpPr>
        <p:spPr>
          <a:xfrm>
            <a:off x="7543800" y="4206240"/>
            <a:ext cx="4099255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meta org qicon circle"/>
          <p:cNvSpPr/>
          <p:nvPr/>
        </p:nvSpPr>
        <p:spPr>
          <a:xfrm>
            <a:off x="7818120" y="43891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meta org qic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0292" y="4481292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4389120"/>
            <a:ext cx="3184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現地で聞く質問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818120" y="4892040"/>
            <a:ext cx="35506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階層を減らした後、上司1人の部下数と、上司の現場業務の割合は？</a:t>
            </a:r>
            <a:endParaRPr lang="en-US" sz="1200" dirty="0"/>
          </a:p>
        </p:txBody>
      </p:sp>
      <p:sp>
        <p:nvSpPr>
          <p:cNvPr id="18" name="pill meta org 0"/>
          <p:cNvSpPr/>
          <p:nvPr/>
        </p:nvSpPr>
        <p:spPr>
          <a:xfrm>
            <a:off x="54864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4864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採用基準</a:t>
            </a:r>
            <a:endParaRPr lang="en-US" sz="1000" dirty="0"/>
          </a:p>
        </p:txBody>
      </p:sp>
      <p:sp>
        <p:nvSpPr>
          <p:cNvPr id="20" name="pill meta org 1"/>
          <p:cNvSpPr/>
          <p:nvPr/>
        </p:nvSpPr>
        <p:spPr>
          <a:xfrm>
            <a:off x="2029968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2029968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入社後の教育</a:t>
            </a:r>
            <a:endParaRPr lang="en-US" sz="1000" dirty="0"/>
          </a:p>
        </p:txBody>
      </p:sp>
      <p:sp>
        <p:nvSpPr>
          <p:cNvPr id="22" name="pill meta org 2"/>
          <p:cNvSpPr/>
          <p:nvPr/>
        </p:nvSpPr>
        <p:spPr>
          <a:xfrm>
            <a:off x="3511296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3511296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成果を出す仕組み</a:t>
            </a:r>
            <a:endParaRPr lang="en-US" sz="1000" dirty="0"/>
          </a:p>
        </p:txBody>
      </p:sp>
      <p:sp>
        <p:nvSpPr>
          <p:cNvPr id="24" name="pill meta org 3"/>
          <p:cNvSpPr/>
          <p:nvPr/>
        </p:nvSpPr>
        <p:spPr>
          <a:xfrm>
            <a:off x="4992624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992624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評価システム</a:t>
            </a:r>
            <a:endParaRPr lang="en-US" sz="1000" dirty="0"/>
          </a:p>
        </p:txBody>
      </p:sp>
      <p:sp>
        <p:nvSpPr>
          <p:cNvPr id="26" name="pill meta org 4"/>
          <p:cNvSpPr/>
          <p:nvPr/>
        </p:nvSpPr>
        <p:spPr>
          <a:xfrm>
            <a:off x="6473952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473952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組織構造</a:t>
            </a:r>
            <a:endParaRPr lang="en-US" sz="1000" dirty="0"/>
          </a:p>
        </p:txBody>
      </p:sp>
      <p:sp>
        <p:nvSpPr>
          <p:cNvPr id="28" name="pill meta org 5"/>
          <p:cNvSpPr/>
          <p:nvPr/>
        </p:nvSpPr>
        <p:spPr>
          <a:xfrm>
            <a:off x="795528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95528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給与システム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Meta ｜ 6/6 給与システム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賞与は評価で0〜200%。上位と下位で大きく差</a:t>
            </a:r>
            <a:endParaRPr lang="en-US" sz="3000" dirty="0"/>
          </a:p>
        </p:txBody>
      </p:sp>
      <p:sp>
        <p:nvSpPr>
          <p:cNvPr id="4" name="meta pay facts"/>
          <p:cNvSpPr/>
          <p:nvPr/>
        </p:nvSpPr>
        <p:spPr>
          <a:xfrm>
            <a:off x="548640" y="1645920"/>
            <a:ext cx="6720840" cy="4297680"/>
          </a:xfrm>
          <a:prstGeom prst="roundRect">
            <a:avLst>
              <a:gd name="adj" fmla="val 2128"/>
            </a:avLst>
          </a:prstGeom>
          <a:solidFill>
            <a:schemeClr val="bg2"/>
          </a:solidFill>
          <a:ln/>
        </p:spPr>
      </p:sp>
      <p:sp>
        <p:nvSpPr>
          <p:cNvPr id="5" name="meta pay circle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meta p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856232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給与システム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給与はどう決まるのか？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6080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年収＝基本給＋賞与＋株式。等級ごとに相場が決まる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賞与＝目標％ × 評価の倍率 × 会社業績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2026年案：最上位200%、次115%、低評価は50%か0%（※報道）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株式は4年で付与。評価に応じて追加付与がある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2025年は株式付与を約10%削減（※報道）</a:t>
            </a:r>
            <a:endParaRPr lang="en-US" sz="1600" dirty="0"/>
          </a:p>
        </p:txBody>
      </p:sp>
      <p:sp>
        <p:nvSpPr>
          <p:cNvPr id="9" name="meta pay apply"/>
          <p:cNvSpPr/>
          <p:nvPr/>
        </p:nvSpPr>
        <p:spPr>
          <a:xfrm>
            <a:off x="7543800" y="1645920"/>
            <a:ext cx="4099255" cy="2423160"/>
          </a:xfrm>
          <a:prstGeom prst="roundRect">
            <a:avLst>
              <a:gd name="adj" fmla="val 3774"/>
            </a:avLst>
          </a:prstGeom>
          <a:solidFill>
            <a:schemeClr val="tx1"/>
          </a:solidFill>
          <a:ln/>
        </p:spPr>
      </p:sp>
      <p:pic>
        <p:nvPicPr>
          <p:cNvPr id="10" name="meta pay bulb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5623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75320" y="1828800"/>
            <a:ext cx="3184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自社で真似するなら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2377440"/>
            <a:ext cx="35506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賞与＝基準額 × 評価倍率 × 会社業績、の式にする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倍率表を全員に公開し、何をすれば上がるかを明確に</a:t>
            </a:r>
            <a:endParaRPr lang="en-US" sz="1400" dirty="0"/>
          </a:p>
        </p:txBody>
      </p:sp>
      <p:sp>
        <p:nvSpPr>
          <p:cNvPr id="13" name="meta pay q"/>
          <p:cNvSpPr/>
          <p:nvPr/>
        </p:nvSpPr>
        <p:spPr>
          <a:xfrm>
            <a:off x="7543800" y="4206240"/>
            <a:ext cx="4099255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meta pay qicon circle"/>
          <p:cNvSpPr/>
          <p:nvPr/>
        </p:nvSpPr>
        <p:spPr>
          <a:xfrm>
            <a:off x="7818120" y="43891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meta pay qic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0292" y="4481292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4389120"/>
            <a:ext cx="3184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現地で聞く質問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818120" y="4892040"/>
            <a:ext cx="35506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Q. 上位層と中位層で賞与・株式の差はどれくらい？それで納得感は保てていますか？</a:t>
            </a:r>
            <a:endParaRPr lang="en-US" sz="1200" dirty="0"/>
          </a:p>
        </p:txBody>
      </p:sp>
      <p:sp>
        <p:nvSpPr>
          <p:cNvPr id="18" name="pill meta pay 0"/>
          <p:cNvSpPr/>
          <p:nvPr/>
        </p:nvSpPr>
        <p:spPr>
          <a:xfrm>
            <a:off x="54864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4864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採用基準</a:t>
            </a:r>
            <a:endParaRPr lang="en-US" sz="1000" dirty="0"/>
          </a:p>
        </p:txBody>
      </p:sp>
      <p:sp>
        <p:nvSpPr>
          <p:cNvPr id="20" name="pill meta pay 1"/>
          <p:cNvSpPr/>
          <p:nvPr/>
        </p:nvSpPr>
        <p:spPr>
          <a:xfrm>
            <a:off x="2029968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2029968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入社後の教育</a:t>
            </a:r>
            <a:endParaRPr lang="en-US" sz="1000" dirty="0"/>
          </a:p>
        </p:txBody>
      </p:sp>
      <p:sp>
        <p:nvSpPr>
          <p:cNvPr id="22" name="pill meta pay 2"/>
          <p:cNvSpPr/>
          <p:nvPr/>
        </p:nvSpPr>
        <p:spPr>
          <a:xfrm>
            <a:off x="3511296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3511296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成果を出す仕組み</a:t>
            </a:r>
            <a:endParaRPr lang="en-US" sz="1000" dirty="0"/>
          </a:p>
        </p:txBody>
      </p:sp>
      <p:sp>
        <p:nvSpPr>
          <p:cNvPr id="24" name="pill meta pay 3"/>
          <p:cNvSpPr/>
          <p:nvPr/>
        </p:nvSpPr>
        <p:spPr>
          <a:xfrm>
            <a:off x="4992624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992624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評価システム</a:t>
            </a:r>
            <a:endParaRPr lang="en-US" sz="1000" dirty="0"/>
          </a:p>
        </p:txBody>
      </p:sp>
      <p:sp>
        <p:nvSpPr>
          <p:cNvPr id="26" name="pill meta pay 4"/>
          <p:cNvSpPr/>
          <p:nvPr/>
        </p:nvSpPr>
        <p:spPr>
          <a:xfrm>
            <a:off x="6473952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473952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組織構造</a:t>
            </a:r>
            <a:endParaRPr lang="en-US" sz="1000" dirty="0"/>
          </a:p>
        </p:txBody>
      </p:sp>
      <p:sp>
        <p:nvSpPr>
          <p:cNvPr id="28" name="pill meta pay 5"/>
          <p:cNvSpPr/>
          <p:nvPr/>
        </p:nvSpPr>
        <p:spPr>
          <a:xfrm>
            <a:off x="7955280" y="6172200"/>
            <a:ext cx="1389888" cy="29260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955280" y="617220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給与システム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Meta ｜ 現地で聞く質問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Metaに聞くべき質問 10選</a:t>
            </a:r>
            <a:endParaRPr lang="en-US" sz="3000" dirty="0"/>
          </a:p>
        </p:txBody>
      </p:sp>
      <p:sp>
        <p:nvSpPr>
          <p:cNvPr id="4" name="qtag meta 0"/>
          <p:cNvSpPr/>
          <p:nvPr/>
        </p:nvSpPr>
        <p:spPr>
          <a:xfrm>
            <a:off x="548640" y="1673352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7335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採用基準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1600200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Q1.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採用面接で一番「不合格の決め手」になるのは、どんな言動ですか？</a:t>
            </a:r>
            <a:endParaRPr lang="en-US" sz="1400" dirty="0"/>
          </a:p>
        </p:txBody>
      </p:sp>
      <p:sp>
        <p:nvSpPr>
          <p:cNvPr id="7" name="qtag meta 1"/>
          <p:cNvSpPr/>
          <p:nvPr/>
        </p:nvSpPr>
        <p:spPr>
          <a:xfrm>
            <a:off x="548640" y="2569464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694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入社後の教育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496312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Q2.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入社後90日で何ができれば「順調」と判断しますか？</a:t>
            </a:r>
            <a:endParaRPr lang="en-US" sz="1400" dirty="0"/>
          </a:p>
        </p:txBody>
      </p:sp>
      <p:sp>
        <p:nvSpPr>
          <p:cNvPr id="10" name="qtag meta 2"/>
          <p:cNvSpPr/>
          <p:nvPr/>
        </p:nvSpPr>
        <p:spPr>
          <a:xfrm>
            <a:off x="548640" y="3465576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46557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入社後の教育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011680" y="3392424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Q3.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Bootcampを縮小して、立ち上がりの速さは変わりましたか？</a:t>
            </a:r>
            <a:endParaRPr lang="en-US" sz="1400" dirty="0"/>
          </a:p>
        </p:txBody>
      </p:sp>
      <p:sp>
        <p:nvSpPr>
          <p:cNvPr id="13" name="qtag meta 3"/>
          <p:cNvSpPr/>
          <p:nvPr/>
        </p:nvSpPr>
        <p:spPr>
          <a:xfrm>
            <a:off x="548640" y="4361688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6168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評価システム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4288536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Q4.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何をしたら高く評価され、何をしたら（頑張っていても）評価されないのか、実例で教えてください</a:t>
            </a:r>
            <a:endParaRPr lang="en-US" sz="1400" dirty="0"/>
          </a:p>
        </p:txBody>
      </p:sp>
      <p:sp>
        <p:nvSpPr>
          <p:cNvPr id="16" name="qtag meta 4"/>
          <p:cNvSpPr/>
          <p:nvPr/>
        </p:nvSpPr>
        <p:spPr>
          <a:xfrm>
            <a:off x="548640" y="5257800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25780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評価システム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5184648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Q5.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「Impact」を数字で示しにくい職種は、どう評価していますか？</a:t>
            </a:r>
            <a:endParaRPr lang="en-US" sz="1400" dirty="0"/>
          </a:p>
        </p:txBody>
      </p:sp>
      <p:sp>
        <p:nvSpPr>
          <p:cNvPr id="19" name="qtag meta 5"/>
          <p:cNvSpPr/>
          <p:nvPr/>
        </p:nvSpPr>
        <p:spPr>
          <a:xfrm>
            <a:off x="6278728" y="1673352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78728" y="167335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評価システム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41768" y="1600200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Q6.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校正会議には誰が何時間かけ、評価が覆るのはどんな場合ですか？</a:t>
            </a:r>
            <a:endParaRPr lang="en-US" sz="1400" dirty="0"/>
          </a:p>
        </p:txBody>
      </p:sp>
      <p:sp>
        <p:nvSpPr>
          <p:cNvPr id="22" name="qtag meta 6"/>
          <p:cNvSpPr/>
          <p:nvPr/>
        </p:nvSpPr>
        <p:spPr>
          <a:xfrm>
            <a:off x="6278728" y="2569464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78728" y="25694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評価システム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741768" y="2496312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Q7.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低評価者には改善の機会をどれだけ与え、どの時点で退職を判断しますか？</a:t>
            </a:r>
            <a:endParaRPr lang="en-US" sz="1400" dirty="0"/>
          </a:p>
        </p:txBody>
      </p:sp>
      <p:sp>
        <p:nvSpPr>
          <p:cNvPr id="25" name="qtag meta 7"/>
          <p:cNvSpPr/>
          <p:nvPr/>
        </p:nvSpPr>
        <p:spPr>
          <a:xfrm>
            <a:off x="6278728" y="3465576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78728" y="346557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組織構造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741768" y="3392424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Q8.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階層を減らした後、上司1人の部下数と、上司の現場業務の割合は？</a:t>
            </a:r>
            <a:endParaRPr lang="en-US" sz="1400" dirty="0"/>
          </a:p>
        </p:txBody>
      </p:sp>
      <p:sp>
        <p:nvSpPr>
          <p:cNvPr id="28" name="qtag meta 8"/>
          <p:cNvSpPr/>
          <p:nvPr/>
        </p:nvSpPr>
        <p:spPr>
          <a:xfrm>
            <a:off x="6278728" y="4361688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78728" y="436168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給与システム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41768" y="4288536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Q9.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上位層と中位層で賞与・株式の差はどれくらい？それで納得感は保てていますか？</a:t>
            </a:r>
            <a:endParaRPr lang="en-US" sz="1400" dirty="0"/>
          </a:p>
        </p:txBody>
      </p:sp>
      <p:sp>
        <p:nvSpPr>
          <p:cNvPr id="31" name="qtag meta 9"/>
          <p:cNvSpPr/>
          <p:nvPr/>
        </p:nvSpPr>
        <p:spPr>
          <a:xfrm>
            <a:off x="6278728" y="5257800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278728" y="525780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成果を出す仕組み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741768" y="5184648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Q10.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AIの活用度を評価に入れて、生産性は数字でどれだけ上がりましたか？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見学先 5 / 5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87452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Stanford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749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同じ物差しで採用と評価をつなぐ ＋ 研究の知見</a:t>
            </a:r>
            <a:endParaRPr lang="en-US" sz="2000" dirty="0"/>
          </a:p>
        </p:txBody>
      </p:sp>
      <p:sp>
        <p:nvSpPr>
          <p:cNvPr id="5" name="div stanford circle"/>
          <p:cNvSpPr/>
          <p:nvPr/>
        </p:nvSpPr>
        <p:spPr>
          <a:xfrm>
            <a:off x="548640" y="64008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div stanford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80467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572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真似するならここ</a:t>
            </a:r>
            <a:endParaRPr lang="en-US" sz="1400" dirty="0"/>
          </a:p>
        </p:txBody>
      </p:sp>
      <p:sp>
        <p:nvSpPr>
          <p:cNvPr id="8" name="swipe stanford 0"/>
          <p:cNvSpPr/>
          <p:nvPr/>
        </p:nvSpPr>
        <p:spPr>
          <a:xfrm>
            <a:off x="548640" y="4983480"/>
            <a:ext cx="3515258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/>
        </p:spPr>
      </p:sp>
      <p:pic>
        <p:nvPicPr>
          <p:cNvPr id="9" name="bulb stanford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138928"/>
            <a:ext cx="320040" cy="320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5120640"/>
            <a:ext cx="26008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等級ごとに能力基準3〜5個を決め、採用と評価で共用</a:t>
            </a:r>
            <a:endParaRPr lang="en-US" sz="1400" dirty="0"/>
          </a:p>
        </p:txBody>
      </p:sp>
      <p:sp>
        <p:nvSpPr>
          <p:cNvPr id="11" name="swipe stanford 1"/>
          <p:cNvSpPr/>
          <p:nvPr/>
        </p:nvSpPr>
        <p:spPr>
          <a:xfrm>
            <a:off x="4338218" y="4983480"/>
            <a:ext cx="3515258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/>
        </p:spPr>
      </p:sp>
      <p:pic>
        <p:nvPicPr>
          <p:cNvPr id="12" name="bulb stanford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6818" y="5138928"/>
            <a:ext cx="320040" cy="3200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24018" y="5120640"/>
            <a:ext cx="26008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年1回の評価に加え、月1回の面談で目標を修正</a:t>
            </a:r>
            <a:endParaRPr lang="en-US" sz="1400" dirty="0"/>
          </a:p>
        </p:txBody>
      </p:sp>
      <p:sp>
        <p:nvSpPr>
          <p:cNvPr id="14" name="swipe stanford 2"/>
          <p:cNvSpPr/>
          <p:nvPr/>
        </p:nvSpPr>
        <p:spPr>
          <a:xfrm>
            <a:off x="8127797" y="4983480"/>
            <a:ext cx="3515258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/>
        </p:spPr>
      </p:sp>
      <p:pic>
        <p:nvPicPr>
          <p:cNvPr id="15" name="bulb stanford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6397" y="5138928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813597" y="5120640"/>
            <a:ext cx="26008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昇給の根拠を「業績・相場・公平」の3つに絞り説明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Stanford ｜ 人事システム 1/2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同じ物差しで採り、育てる — 研究が示す「成果の出る育成」</a:t>
            </a:r>
            <a:endParaRPr lang="en-US" sz="3000" dirty="0"/>
          </a:p>
        </p:txBody>
      </p:sp>
      <p:sp>
        <p:nvSpPr>
          <p:cNvPr id="4" name="stanford hire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/>
        </p:spPr>
      </p:sp>
      <p:sp>
        <p:nvSpPr>
          <p:cNvPr id="5" name="stanford hire circle"/>
          <p:cNvSpPr/>
          <p:nvPr/>
        </p:nvSpPr>
        <p:spPr>
          <a:xfrm>
            <a:off x="822960" y="187452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stanford hir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200619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874520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採用基準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51760"/>
            <a:ext cx="296661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職員：職務ごとの能力基準に沿った行動面接（STAR法）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数値の評価表で比べる。面接官はバイアス対策研修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教員の終身在職権は「分野で最高水準の研究」が条件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【研究】スキルは後から教えられる。姿勢と文化で選ぶ</a:t>
            </a:r>
            <a:endParaRPr lang="en-US" sz="1400" dirty="0"/>
          </a:p>
        </p:txBody>
      </p:sp>
      <p:sp>
        <p:nvSpPr>
          <p:cNvPr id="9" name="stanford onboard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/>
        </p:spPr>
      </p:sp>
      <p:sp>
        <p:nvSpPr>
          <p:cNvPr id="10" name="stanford onboard circle"/>
          <p:cNvSpPr/>
          <p:nvPr/>
        </p:nvSpPr>
        <p:spPr>
          <a:xfrm>
            <a:off x="4612538" y="18745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stanford onboar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212" y="200619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98338" y="1874520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入社後の教育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2651760"/>
            <a:ext cx="296661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毎週月曜にオンラインの全社オリエンテーション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2026年7月から新人事システム上の入社手続きの流れ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上司が初期に、育成の機会と評価計画を説明する</a:t>
            </a:r>
            <a:endParaRPr lang="en-US" sz="1400" dirty="0"/>
          </a:p>
        </p:txBody>
      </p:sp>
      <p:sp>
        <p:nvSpPr>
          <p:cNvPr id="14" name="stanford develop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/>
        </p:spPr>
      </p:sp>
      <p:sp>
        <p:nvSpPr>
          <p:cNvPr id="15" name="stanford develop circle"/>
          <p:cNvSpPr/>
          <p:nvPr/>
        </p:nvSpPr>
        <p:spPr>
          <a:xfrm>
            <a:off x="8402117" y="18745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stanford develop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3790" y="200619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87917" y="1874520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成果を出す仕組み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2651760"/>
            <a:ext cx="296661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職員の研修費を補助（年最大700〜800ドル）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【研究】努力と工夫の過程をほめると挑戦が続く（Dweck）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【研究】共感→試作→検証を短く回す（d.school）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【研究】目標・進捗確認・報酬が揃うと生産性が高い（Bloom）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Stanford ｜ 人事システム 2/2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目標×能力で評価し、等級レンジで給与を決める</a:t>
            </a:r>
            <a:endParaRPr lang="en-US" sz="3000" dirty="0"/>
          </a:p>
        </p:txBody>
      </p:sp>
      <p:sp>
        <p:nvSpPr>
          <p:cNvPr id="4" name="stanford eval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/>
        </p:spPr>
      </p:sp>
      <p:sp>
        <p:nvSpPr>
          <p:cNvPr id="5" name="stanford eval circle"/>
          <p:cNvSpPr/>
          <p:nvPr/>
        </p:nvSpPr>
        <p:spPr>
          <a:xfrm>
            <a:off x="822960" y="1874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stanford eva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200619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874520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評価システム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51760"/>
            <a:ext cx="296661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目標設定 → 随時の面談 → 年1回の評価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項目：年間目標の達成度＋能力基準3〜5個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2026年から新制度「EDGE」。全学で周期と尺度を統一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※尺度の中身や評価分布の調整は学内限定で未公開</a:t>
            </a:r>
            <a:endParaRPr lang="en-US" sz="1400" dirty="0"/>
          </a:p>
        </p:txBody>
      </p:sp>
      <p:sp>
        <p:nvSpPr>
          <p:cNvPr id="9" name="stanford org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/>
        </p:spPr>
      </p:sp>
      <p:sp>
        <p:nvSpPr>
          <p:cNvPr id="10" name="stanford org circle"/>
          <p:cNvSpPr/>
          <p:nvPr/>
        </p:nvSpPr>
        <p:spPr>
          <a:xfrm>
            <a:off x="4612538" y="187452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1" name="stanford org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212" y="200619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98338" y="1874520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組織構造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2651760"/>
            <a:ext cx="296661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中央の人事は方針だけ決め、運用は各部門に任せる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2026年から上司がシステムで直接人事手続き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【研究】自律型チーム・身分差の縮小・財務情報の共有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【研究】嫌な人を置かず、無駄な手続きを減らす（Sutton）</a:t>
            </a:r>
            <a:endParaRPr lang="en-US" sz="1400" dirty="0"/>
          </a:p>
        </p:txBody>
      </p:sp>
      <p:sp>
        <p:nvSpPr>
          <p:cNvPr id="14" name="stanford pay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/>
        </p:spPr>
      </p:sp>
      <p:sp>
        <p:nvSpPr>
          <p:cNvPr id="15" name="stanford pay circle"/>
          <p:cNvSpPr/>
          <p:nvPr/>
        </p:nvSpPr>
        <p:spPr>
          <a:xfrm>
            <a:off x="8402117" y="187452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6" name="stanford pay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3790" y="200619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87917" y="1874520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給与システム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2651760"/>
            <a:ext cx="296661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職員は16等級の給与レンジ × 地域別の給与体系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毎年の市場調査でレンジを見直す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昇給は年1回。上司が業績・相場・公平性で推薦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【研究】給与は相場より高めに、組織業績と連動（Pfeffer）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Stanford ｜ 現地で聞く質問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Stanfordに聞くべき質問 10選</a:t>
            </a:r>
            <a:endParaRPr lang="en-US" sz="3000" dirty="0"/>
          </a:p>
        </p:txBody>
      </p:sp>
      <p:sp>
        <p:nvSpPr>
          <p:cNvPr id="4" name="qtag stanford 0"/>
          <p:cNvSpPr/>
          <p:nvPr/>
        </p:nvSpPr>
        <p:spPr>
          <a:xfrm>
            <a:off x="548640" y="1673352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7335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評価システム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1600200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Q1.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何をすれば高く評価され、何をすると評価が下がるか、実例を教えてください</a:t>
            </a:r>
            <a:endParaRPr lang="en-US" sz="1400" dirty="0"/>
          </a:p>
        </p:txBody>
      </p:sp>
      <p:sp>
        <p:nvSpPr>
          <p:cNvPr id="7" name="qtag stanford 1"/>
          <p:cNvSpPr/>
          <p:nvPr/>
        </p:nvSpPr>
        <p:spPr>
          <a:xfrm>
            <a:off x="548640" y="2569464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694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評価システム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496312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Q2.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評価尺度の各段階は、行動レベルでどう定義していますか？</a:t>
            </a:r>
            <a:endParaRPr lang="en-US" sz="1400" dirty="0"/>
          </a:p>
        </p:txBody>
      </p:sp>
      <p:sp>
        <p:nvSpPr>
          <p:cNvPr id="10" name="qtag stanford 2"/>
          <p:cNvSpPr/>
          <p:nvPr/>
        </p:nvSpPr>
        <p:spPr>
          <a:xfrm>
            <a:off x="548640" y="3465576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46557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給与システム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011680" y="3392424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Q3.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業績評価と昇給率は、どの程度機械的に連動していますか？</a:t>
            </a:r>
            <a:endParaRPr lang="en-US" sz="1400" dirty="0"/>
          </a:p>
        </p:txBody>
      </p:sp>
      <p:sp>
        <p:nvSpPr>
          <p:cNvPr id="13" name="qtag stanford 3"/>
          <p:cNvSpPr/>
          <p:nvPr/>
        </p:nvSpPr>
        <p:spPr>
          <a:xfrm>
            <a:off x="548640" y="4361688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6168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採用基準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4288536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Q4.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面接で最も「外れ」が少ない質問は何ですか？</a:t>
            </a:r>
            <a:endParaRPr lang="en-US" sz="1400" dirty="0"/>
          </a:p>
        </p:txBody>
      </p:sp>
      <p:sp>
        <p:nvSpPr>
          <p:cNvPr id="16" name="qtag stanford 4"/>
          <p:cNvSpPr/>
          <p:nvPr/>
        </p:nvSpPr>
        <p:spPr>
          <a:xfrm>
            <a:off x="548640" y="5257800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25780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入社後の教育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5184648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Q5.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入社90日で、上司が必ずやるべきことは何ですか？</a:t>
            </a:r>
            <a:endParaRPr lang="en-US" sz="1400" dirty="0"/>
          </a:p>
        </p:txBody>
      </p:sp>
      <p:sp>
        <p:nvSpPr>
          <p:cNvPr id="19" name="qtag stanford 5"/>
          <p:cNvSpPr/>
          <p:nvPr/>
        </p:nvSpPr>
        <p:spPr>
          <a:xfrm>
            <a:off x="6278728" y="1673352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78728" y="167335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評価システム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41768" y="1600200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Q6.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部門ごとの評価の甘さ・辛さを、どう調整していますか？</a:t>
            </a:r>
            <a:endParaRPr lang="en-US" sz="1400" dirty="0"/>
          </a:p>
        </p:txBody>
      </p:sp>
      <p:sp>
        <p:nvSpPr>
          <p:cNvPr id="22" name="qtag stanford 6"/>
          <p:cNvSpPr/>
          <p:nvPr/>
        </p:nvSpPr>
        <p:spPr>
          <a:xfrm>
            <a:off x="6278728" y="2569464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78728" y="25694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評価システム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741768" y="2496312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Q7.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低い評価が続いた人には、どう対応していますか？</a:t>
            </a:r>
            <a:endParaRPr lang="en-US" sz="1400" dirty="0"/>
          </a:p>
        </p:txBody>
      </p:sp>
      <p:sp>
        <p:nvSpPr>
          <p:cNvPr id="25" name="qtag stanford 7"/>
          <p:cNvSpPr/>
          <p:nvPr/>
        </p:nvSpPr>
        <p:spPr>
          <a:xfrm>
            <a:off x="6278728" y="3465576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78728" y="346557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給与システム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741768" y="3392424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Q8.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給与レンジの上限に達した人の処遇は、どうしていますか？</a:t>
            </a:r>
            <a:endParaRPr lang="en-US" sz="1400" dirty="0"/>
          </a:p>
        </p:txBody>
      </p:sp>
      <p:sp>
        <p:nvSpPr>
          <p:cNvPr id="28" name="qtag stanford 8"/>
          <p:cNvSpPr/>
          <p:nvPr/>
        </p:nvSpPr>
        <p:spPr>
          <a:xfrm>
            <a:off x="6278728" y="4361688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78728" y="436168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組織構造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41768" y="4288536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Q9.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（研究者へ）小規模なサービス業で、まず導入すべき管理手法は何ですか？</a:t>
            </a:r>
            <a:endParaRPr lang="en-US" sz="1400" dirty="0"/>
          </a:p>
        </p:txBody>
      </p:sp>
      <p:sp>
        <p:nvSpPr>
          <p:cNvPr id="31" name="qtag stanford 9"/>
          <p:cNvSpPr/>
          <p:nvPr/>
        </p:nvSpPr>
        <p:spPr>
          <a:xfrm>
            <a:off x="6278728" y="5257800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278728" y="525780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成果を出す仕組み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741768" y="5184648"/>
            <a:ext cx="39012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Q10.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（研究者へ）成果主義と成長志向（グロースマインドセット）は両立しますか？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全社共通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どの会社でも必ず聞く「共通の5問」</a:t>
            </a:r>
            <a:endParaRPr lang="en-US" sz="3000" dirty="0"/>
          </a:p>
        </p:txBody>
      </p:sp>
      <p:sp>
        <p:nvSpPr>
          <p:cNvPr id="4" name="common 0 circle"/>
          <p:cNvSpPr/>
          <p:nvPr/>
        </p:nvSpPr>
        <p:spPr>
          <a:xfrm>
            <a:off x="54864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common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18452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664208"/>
            <a:ext cx="10225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何をしたら評価され、何をしたら評価されないのか？（実例で）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2075688"/>
            <a:ext cx="10225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自社の評価項目づくりの核。「評価制度がない」問題に直結</a:t>
            </a:r>
            <a:endParaRPr lang="en-US" sz="1300" dirty="0"/>
          </a:p>
        </p:txBody>
      </p:sp>
      <p:sp>
        <p:nvSpPr>
          <p:cNvPr id="8" name="common 1 circle"/>
          <p:cNvSpPr/>
          <p:nvPr/>
        </p:nvSpPr>
        <p:spPr>
          <a:xfrm>
            <a:off x="548640" y="260604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9" name="common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2759659"/>
            <a:ext cx="332842" cy="3328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578608"/>
            <a:ext cx="10225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採用で「不合格の決め手」になる言動は何か？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2990088"/>
            <a:ext cx="10225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「生産性のない人材が増えた」を入口で止める</a:t>
            </a:r>
            <a:endParaRPr lang="en-US" sz="1300" dirty="0"/>
          </a:p>
        </p:txBody>
      </p:sp>
      <p:sp>
        <p:nvSpPr>
          <p:cNvPr id="12" name="common 2 circle"/>
          <p:cNvSpPr/>
          <p:nvPr/>
        </p:nvSpPr>
        <p:spPr>
          <a:xfrm>
            <a:off x="548640" y="35204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common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3674059"/>
            <a:ext cx="332842" cy="33284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493008"/>
            <a:ext cx="10225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入社90日で一人前にするために、上司は毎週何をするか？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1417320" y="3904488"/>
            <a:ext cx="10225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「教育が行き届いていない」問題への具体策</a:t>
            </a:r>
            <a:endParaRPr lang="en-US" sz="1300" dirty="0"/>
          </a:p>
        </p:txBody>
      </p:sp>
      <p:sp>
        <p:nvSpPr>
          <p:cNvPr id="16" name="common 3 circle"/>
          <p:cNvSpPr/>
          <p:nvPr/>
        </p:nvSpPr>
        <p:spPr>
          <a:xfrm>
            <a:off x="548640" y="443484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7" name="common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458845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17320" y="4407408"/>
            <a:ext cx="10225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評価と給与・賞与はどれくらい連動し、差はどれくらいか？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1417320" y="4818888"/>
            <a:ext cx="10225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給与制度の設計。成果を出す人に報いる仕組み</a:t>
            </a:r>
            <a:endParaRPr lang="en-US" sz="1300" dirty="0"/>
          </a:p>
        </p:txBody>
      </p:sp>
      <p:sp>
        <p:nvSpPr>
          <p:cNvPr id="20" name="common 4 circle"/>
          <p:cNvSpPr/>
          <p:nvPr/>
        </p:nvSpPr>
        <p:spPr>
          <a:xfrm>
            <a:off x="548640" y="534924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1" name="common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59" y="5502859"/>
            <a:ext cx="332842" cy="33284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417320" y="5321808"/>
            <a:ext cx="10225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上司1人が見る部下数と、上司自身の評価項目は何か？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1417320" y="5733288"/>
            <a:ext cx="10225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組織づくりと「経営層の教育」に直結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見学メモシート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聞いた答えは、その場で「自社でどうするか」まで書く</a:t>
            </a:r>
            <a:endParaRPr lang="en-US" sz="3000" dirty="0"/>
          </a:p>
        </p:txBody>
      </p:sp>
      <p:graphicFrame>
        <p:nvGraphicFramePr>
          <p:cNvPr id="45" name="memo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566160"/>
                <a:gridCol w="3566160"/>
                <a:gridCol w="868680"/>
                <a:gridCol w="8961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観点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学んだこと（事実）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自社で真似すること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担当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期限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採用基準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入社後の教育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成果を出す仕組み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評価システム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組織構造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給与システム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3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ACTION ②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87452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今の採用を見える化し、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タスクにする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749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まずは現状の整理から。空白＝これから検討する部分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採用の現状マップ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チャネル × ターゲットで見ると、空白が多い</a:t>
            </a:r>
            <a:endParaRPr lang="en-US" sz="3000" dirty="0"/>
          </a:p>
        </p:txBody>
      </p:sp>
      <p:sp>
        <p:nvSpPr>
          <p:cNvPr id="4" name="seg head 0"/>
          <p:cNvSpPr/>
          <p:nvPr/>
        </p:nvSpPr>
        <p:spPr>
          <a:xfrm>
            <a:off x="2743200" y="1691640"/>
            <a:ext cx="2156384" cy="54864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743200" y="169164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新卒大学生</a:t>
            </a:r>
            <a:endParaRPr lang="en-US" sz="1500" dirty="0"/>
          </a:p>
        </p:txBody>
      </p:sp>
      <p:sp>
        <p:nvSpPr>
          <p:cNvPr id="6" name="seg head 1"/>
          <p:cNvSpPr/>
          <p:nvPr/>
        </p:nvSpPr>
        <p:spPr>
          <a:xfrm>
            <a:off x="4991024" y="1691640"/>
            <a:ext cx="2156384" cy="54864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991024" y="169164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理学療法士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新卒</a:t>
            </a:r>
            <a:endParaRPr lang="en-US" sz="1500" dirty="0"/>
          </a:p>
        </p:txBody>
      </p:sp>
      <p:sp>
        <p:nvSpPr>
          <p:cNvPr id="8" name="seg head 2"/>
          <p:cNvSpPr/>
          <p:nvPr/>
        </p:nvSpPr>
        <p:spPr>
          <a:xfrm>
            <a:off x="7238848" y="1691640"/>
            <a:ext cx="2156384" cy="54864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38848" y="169164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理学療法士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中途</a:t>
            </a:r>
            <a:endParaRPr lang="en-US" sz="1500" dirty="0"/>
          </a:p>
        </p:txBody>
      </p:sp>
      <p:sp>
        <p:nvSpPr>
          <p:cNvPr id="10" name="seg head 3"/>
          <p:cNvSpPr/>
          <p:nvPr/>
        </p:nvSpPr>
        <p:spPr>
          <a:xfrm>
            <a:off x="9486671" y="1691640"/>
            <a:ext cx="2156384" cy="54864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486671" y="169164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第2新卒</a:t>
            </a:r>
            <a:endParaRPr lang="en-US" sz="1500" dirty="0"/>
          </a:p>
        </p:txBody>
      </p:sp>
      <p:sp>
        <p:nvSpPr>
          <p:cNvPr id="12" name="ch head 0"/>
          <p:cNvSpPr/>
          <p:nvPr/>
        </p:nvSpPr>
        <p:spPr>
          <a:xfrm>
            <a:off x="548640" y="2331720"/>
            <a:ext cx="210312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23317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人材紹介会社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責任者：松田</a:t>
            </a:r>
            <a:endParaRPr lang="en-US" sz="1600" dirty="0"/>
          </a:p>
        </p:txBody>
      </p:sp>
      <p:sp>
        <p:nvSpPr>
          <p:cNvPr id="14" name="cell 0-0"/>
          <p:cNvSpPr/>
          <p:nvPr/>
        </p:nvSpPr>
        <p:spPr>
          <a:xfrm>
            <a:off x="2743200" y="2331720"/>
            <a:ext cx="2156384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880360" y="2331720"/>
            <a:ext cx="1882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DYM／ネオキャリア／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イングリウッド／Spica Rink</a:t>
            </a:r>
            <a:endParaRPr lang="en-US" sz="1300" dirty="0"/>
          </a:p>
        </p:txBody>
      </p:sp>
      <p:sp>
        <p:nvSpPr>
          <p:cNvPr id="16" name="cell 0-1"/>
          <p:cNvSpPr/>
          <p:nvPr/>
        </p:nvSpPr>
        <p:spPr>
          <a:xfrm>
            <a:off x="4991024" y="2331720"/>
            <a:ext cx="2156384" cy="1097280"/>
          </a:xfrm>
          <a:prstGeom prst="roundRect">
            <a:avLst>
              <a:gd name="adj" fmla="val 8333"/>
            </a:avLst>
          </a:prstGeom>
          <a:ln w="15875">
            <a:solidFill>
              <a:srgbClr val="D9475A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4991024" y="2331720"/>
            <a:ext cx="2156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空白（要検討）</a:t>
            </a:r>
            <a:endParaRPr lang="en-US" sz="1300" dirty="0"/>
          </a:p>
        </p:txBody>
      </p:sp>
      <p:sp>
        <p:nvSpPr>
          <p:cNvPr id="18" name="cell 0-2"/>
          <p:cNvSpPr/>
          <p:nvPr/>
        </p:nvSpPr>
        <p:spPr>
          <a:xfrm>
            <a:off x="7238848" y="2331720"/>
            <a:ext cx="2156384" cy="1097280"/>
          </a:xfrm>
          <a:prstGeom prst="roundRect">
            <a:avLst>
              <a:gd name="adj" fmla="val 8333"/>
            </a:avLst>
          </a:prstGeom>
          <a:ln w="15875">
            <a:solidFill>
              <a:srgbClr val="D9475A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7238848" y="2331720"/>
            <a:ext cx="2156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空白（要検討）</a:t>
            </a:r>
            <a:endParaRPr lang="en-US" sz="1300" dirty="0"/>
          </a:p>
        </p:txBody>
      </p:sp>
      <p:sp>
        <p:nvSpPr>
          <p:cNvPr id="20" name="cell 0-3"/>
          <p:cNvSpPr/>
          <p:nvPr/>
        </p:nvSpPr>
        <p:spPr>
          <a:xfrm>
            <a:off x="9486671" y="2331720"/>
            <a:ext cx="2156384" cy="1097280"/>
          </a:xfrm>
          <a:prstGeom prst="roundRect">
            <a:avLst>
              <a:gd name="adj" fmla="val 8333"/>
            </a:avLst>
          </a:prstGeom>
          <a:ln w="15875">
            <a:solidFill>
              <a:srgbClr val="D9475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9486671" y="2331720"/>
            <a:ext cx="2156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空白（要検討）</a:t>
            </a:r>
            <a:endParaRPr lang="en-US" sz="1300" dirty="0"/>
          </a:p>
        </p:txBody>
      </p:sp>
      <p:sp>
        <p:nvSpPr>
          <p:cNvPr id="22" name="ch head 1"/>
          <p:cNvSpPr/>
          <p:nvPr/>
        </p:nvSpPr>
        <p:spPr>
          <a:xfrm>
            <a:off x="548640" y="3520440"/>
            <a:ext cx="210312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35204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求人媒体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責任者：松田</a:t>
            </a:r>
            <a:endParaRPr lang="en-US" sz="1600" dirty="0"/>
          </a:p>
        </p:txBody>
      </p:sp>
      <p:sp>
        <p:nvSpPr>
          <p:cNvPr id="24" name="cell 1-0"/>
          <p:cNvSpPr/>
          <p:nvPr/>
        </p:nvSpPr>
        <p:spPr>
          <a:xfrm>
            <a:off x="2743200" y="3520440"/>
            <a:ext cx="2156384" cy="1097280"/>
          </a:xfrm>
          <a:prstGeom prst="roundRect">
            <a:avLst>
              <a:gd name="adj" fmla="val 8333"/>
            </a:avLst>
          </a:prstGeom>
          <a:ln w="15875">
            <a:solidFill>
              <a:srgbClr val="D9475A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2743200" y="3520440"/>
            <a:ext cx="2156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空白（要検討）</a:t>
            </a:r>
            <a:endParaRPr lang="en-US" sz="1300" dirty="0"/>
          </a:p>
        </p:txBody>
      </p:sp>
      <p:sp>
        <p:nvSpPr>
          <p:cNvPr id="26" name="cell 1-1"/>
          <p:cNvSpPr/>
          <p:nvPr/>
        </p:nvSpPr>
        <p:spPr>
          <a:xfrm>
            <a:off x="4991024" y="3520440"/>
            <a:ext cx="2156384" cy="1097280"/>
          </a:xfrm>
          <a:prstGeom prst="roundRect">
            <a:avLst>
              <a:gd name="adj" fmla="val 8333"/>
            </a:avLst>
          </a:prstGeom>
          <a:ln w="15875">
            <a:solidFill>
              <a:srgbClr val="D9475A"/>
            </a:solidFill>
            <a:prstDash val="dash"/>
          </a:ln>
        </p:spPr>
      </p:sp>
      <p:sp>
        <p:nvSpPr>
          <p:cNvPr id="27" name="Text 25"/>
          <p:cNvSpPr txBox="1"/>
          <p:nvPr/>
        </p:nvSpPr>
        <p:spPr>
          <a:xfrm>
            <a:off x="4991024" y="3520440"/>
            <a:ext cx="2156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空白（要検討）</a:t>
            </a:r>
            <a:endParaRPr lang="en-US" sz="1300" dirty="0"/>
          </a:p>
        </p:txBody>
      </p:sp>
      <p:sp>
        <p:nvSpPr>
          <p:cNvPr id="28" name="cell 1-2"/>
          <p:cNvSpPr/>
          <p:nvPr/>
        </p:nvSpPr>
        <p:spPr>
          <a:xfrm>
            <a:off x="7238848" y="3520440"/>
            <a:ext cx="2156384" cy="1097280"/>
          </a:xfrm>
          <a:prstGeom prst="roundRect">
            <a:avLst>
              <a:gd name="adj" fmla="val 8333"/>
            </a:avLst>
          </a:prstGeom>
          <a:ln w="15875">
            <a:solidFill>
              <a:srgbClr val="D9475A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7238848" y="3520440"/>
            <a:ext cx="2156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空白（要検討）</a:t>
            </a:r>
            <a:endParaRPr lang="en-US" sz="1300" dirty="0"/>
          </a:p>
        </p:txBody>
      </p:sp>
      <p:sp>
        <p:nvSpPr>
          <p:cNvPr id="30" name="cell 1-3"/>
          <p:cNvSpPr/>
          <p:nvPr/>
        </p:nvSpPr>
        <p:spPr>
          <a:xfrm>
            <a:off x="9486671" y="3520440"/>
            <a:ext cx="2156384" cy="1097280"/>
          </a:xfrm>
          <a:prstGeom prst="roundRect">
            <a:avLst>
              <a:gd name="adj" fmla="val 8333"/>
            </a:avLst>
          </a:prstGeom>
          <a:ln w="15875">
            <a:solidFill>
              <a:srgbClr val="D9475A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9486671" y="3520440"/>
            <a:ext cx="2156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空白（要検討）</a:t>
            </a:r>
            <a:endParaRPr lang="en-US" sz="1300" dirty="0"/>
          </a:p>
        </p:txBody>
      </p:sp>
      <p:sp>
        <p:nvSpPr>
          <p:cNvPr id="32" name="ch head 2"/>
          <p:cNvSpPr/>
          <p:nvPr/>
        </p:nvSpPr>
        <p:spPr>
          <a:xfrm>
            <a:off x="548640" y="4709160"/>
            <a:ext cx="210312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31520" y="47091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自社SNS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責任者：松田</a:t>
            </a:r>
            <a:endParaRPr lang="en-US" sz="1600" dirty="0"/>
          </a:p>
        </p:txBody>
      </p:sp>
      <p:sp>
        <p:nvSpPr>
          <p:cNvPr id="34" name="cell 2-0"/>
          <p:cNvSpPr/>
          <p:nvPr/>
        </p:nvSpPr>
        <p:spPr>
          <a:xfrm>
            <a:off x="2743200" y="4709160"/>
            <a:ext cx="2156384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880360" y="4709160"/>
            <a:ext cx="1882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Insta・YouTube・FB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（対象別は未整理）</a:t>
            </a:r>
            <a:endParaRPr lang="en-US" sz="1300" dirty="0"/>
          </a:p>
        </p:txBody>
      </p:sp>
      <p:sp>
        <p:nvSpPr>
          <p:cNvPr id="36" name="cell 2-1"/>
          <p:cNvSpPr/>
          <p:nvPr/>
        </p:nvSpPr>
        <p:spPr>
          <a:xfrm>
            <a:off x="4991024" y="4709160"/>
            <a:ext cx="2156384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128184" y="4709160"/>
            <a:ext cx="1882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Insta・YouTube・FB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（対象別は未整理）</a:t>
            </a:r>
            <a:endParaRPr lang="en-US" sz="1300" dirty="0"/>
          </a:p>
        </p:txBody>
      </p:sp>
      <p:sp>
        <p:nvSpPr>
          <p:cNvPr id="38" name="cell 2-2"/>
          <p:cNvSpPr/>
          <p:nvPr/>
        </p:nvSpPr>
        <p:spPr>
          <a:xfrm>
            <a:off x="7238848" y="4709160"/>
            <a:ext cx="2156384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376008" y="4709160"/>
            <a:ext cx="1882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Insta・YouTube・FB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（対象別は未整理）</a:t>
            </a:r>
            <a:endParaRPr lang="en-US" sz="1300" dirty="0"/>
          </a:p>
        </p:txBody>
      </p:sp>
      <p:sp>
        <p:nvSpPr>
          <p:cNvPr id="40" name="cell 2-3"/>
          <p:cNvSpPr/>
          <p:nvPr/>
        </p:nvSpPr>
        <p:spPr>
          <a:xfrm>
            <a:off x="9486671" y="4709160"/>
            <a:ext cx="2156384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623831" y="4709160"/>
            <a:ext cx="1882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Insta・YouTube・FB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（対象別は未整理）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マインドマップの空白「サブトピック」＝これから検討する部分。決まっているのは「紹介会社 × 新卒大学生」だけ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チャネル別の現状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3つの採用チャネル — 決まっていること／決まっていないこと</a:t>
            </a:r>
            <a:endParaRPr lang="en-US" sz="3000" dirty="0"/>
          </a:p>
        </p:txBody>
      </p:sp>
      <p:sp>
        <p:nvSpPr>
          <p:cNvPr id="4" name="chd 0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/>
        </p:spPr>
      </p:sp>
      <p:sp>
        <p:nvSpPr>
          <p:cNvPr id="5" name="chd 0 circle"/>
          <p:cNvSpPr/>
          <p:nvPr/>
        </p:nvSpPr>
        <p:spPr>
          <a:xfrm>
            <a:off x="822960" y="18745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chd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200619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828800"/>
            <a:ext cx="23265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人材紹介会社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責任者：松田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9748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決まっていること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999232"/>
            <a:ext cx="29666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新卒大学生：DYM・ネオキャリア・イングリウッド・Spica Rinkの4社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34340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空白（これから決める）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645152"/>
            <a:ext cx="296661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理学療法士（新卒・中途）の紹介会社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第2新卒の紹介会社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各社の紹介数・決定数・費用</a:t>
            </a:r>
            <a:endParaRPr lang="en-US" sz="1400" dirty="0"/>
          </a:p>
        </p:txBody>
      </p:sp>
      <p:sp>
        <p:nvSpPr>
          <p:cNvPr id="12" name="chd 1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/>
        </p:spPr>
      </p:sp>
      <p:sp>
        <p:nvSpPr>
          <p:cNvPr id="13" name="chd 1 circle"/>
          <p:cNvSpPr/>
          <p:nvPr/>
        </p:nvSpPr>
        <p:spPr>
          <a:xfrm>
            <a:off x="4612538" y="18745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chd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212" y="200619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98338" y="1828800"/>
            <a:ext cx="23265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求人媒体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責任者：松田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612538" y="269748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決まっていること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4612538" y="2999232"/>
            <a:ext cx="29666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ターゲットの枠組み（新卒大学生・理学療法士・第2新卒）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612538" y="434340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空白（これから決める）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612538" y="4645152"/>
            <a:ext cx="296661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ターゲット別に使う媒体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掲載費と応募数・採用数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求人原稿の訴求ポイント</a:t>
            </a:r>
            <a:endParaRPr lang="en-US" sz="1400" dirty="0"/>
          </a:p>
        </p:txBody>
      </p:sp>
      <p:sp>
        <p:nvSpPr>
          <p:cNvPr id="20" name="chd 2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/>
        </p:spPr>
      </p:sp>
      <p:sp>
        <p:nvSpPr>
          <p:cNvPr id="21" name="chd 2 circle"/>
          <p:cNvSpPr/>
          <p:nvPr/>
        </p:nvSpPr>
        <p:spPr>
          <a:xfrm>
            <a:off x="8402117" y="1874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chd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3790" y="2006194"/>
            <a:ext cx="285293" cy="285293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9087917" y="1828800"/>
            <a:ext cx="23265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自社SNS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責任者：松田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8402117" y="269748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決まっていること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8402117" y="2999232"/>
            <a:ext cx="29666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Instagram・YouTube・Facebookで発信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8402117" y="434340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空白（これから決める）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8402117" y="4645152"/>
            <a:ext cx="296661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どのSNSで誰に届けるか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投稿の頻度・内容・担当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応募につなげる導線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ターゲット（求職者）別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ターゲットごとに決めるべき5項目 — 今はすべて空白</a:t>
            </a:r>
            <a:endParaRPr lang="en-US" sz="3000" dirty="0"/>
          </a:p>
        </p:txBody>
      </p:sp>
      <p:sp>
        <p:nvSpPr>
          <p:cNvPr id="4" name="sd head 0"/>
          <p:cNvSpPr/>
          <p:nvPr/>
        </p:nvSpPr>
        <p:spPr>
          <a:xfrm>
            <a:off x="3017520" y="1645920"/>
            <a:ext cx="2087804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3017520" y="1645920"/>
            <a:ext cx="20878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新卒大学生</a:t>
            </a:r>
            <a:endParaRPr lang="en-US" sz="1400" dirty="0"/>
          </a:p>
        </p:txBody>
      </p:sp>
      <p:sp>
        <p:nvSpPr>
          <p:cNvPr id="6" name="sd head 1"/>
          <p:cNvSpPr/>
          <p:nvPr/>
        </p:nvSpPr>
        <p:spPr>
          <a:xfrm>
            <a:off x="5196764" y="1645920"/>
            <a:ext cx="2087804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96764" y="1645920"/>
            <a:ext cx="20878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理学療法士（新卒）</a:t>
            </a:r>
            <a:endParaRPr lang="en-US" sz="1400" dirty="0"/>
          </a:p>
        </p:txBody>
      </p:sp>
      <p:sp>
        <p:nvSpPr>
          <p:cNvPr id="8" name="sd head 2"/>
          <p:cNvSpPr/>
          <p:nvPr/>
        </p:nvSpPr>
        <p:spPr>
          <a:xfrm>
            <a:off x="7376008" y="1645920"/>
            <a:ext cx="2087804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76008" y="1645920"/>
            <a:ext cx="20878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理学療法士（中途）</a:t>
            </a:r>
            <a:endParaRPr lang="en-US" sz="1400" dirty="0"/>
          </a:p>
        </p:txBody>
      </p:sp>
      <p:sp>
        <p:nvSpPr>
          <p:cNvPr id="10" name="sd head 3"/>
          <p:cNvSpPr/>
          <p:nvPr/>
        </p:nvSpPr>
        <p:spPr>
          <a:xfrm>
            <a:off x="9555251" y="1645920"/>
            <a:ext cx="2087804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555251" y="1645920"/>
            <a:ext cx="20878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第2新卒</a:t>
            </a:r>
            <a:endParaRPr lang="en-US" sz="1400" dirty="0"/>
          </a:p>
        </p:txBody>
      </p:sp>
      <p:sp>
        <p:nvSpPr>
          <p:cNvPr id="12" name="di 0"/>
          <p:cNvSpPr/>
          <p:nvPr/>
        </p:nvSpPr>
        <p:spPr>
          <a:xfrm>
            <a:off x="548640" y="2240280"/>
            <a:ext cx="237744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2240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採用目標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いつまでに何人採るか</a:t>
            </a:r>
            <a:endParaRPr lang="en-US" sz="1500" dirty="0"/>
          </a:p>
        </p:txBody>
      </p:sp>
      <p:sp>
        <p:nvSpPr>
          <p:cNvPr id="14" name="dcell 0-0"/>
          <p:cNvSpPr/>
          <p:nvPr/>
        </p:nvSpPr>
        <p:spPr>
          <a:xfrm>
            <a:off x="3017520" y="2240280"/>
            <a:ext cx="2087804" cy="731520"/>
          </a:xfrm>
          <a:prstGeom prst="roundRect">
            <a:avLst>
              <a:gd name="adj" fmla="val 12500"/>
            </a:avLst>
          </a:prstGeom>
          <a:ln w="15875">
            <a:solidFill>
              <a:srgbClr val="8C93A6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3017520" y="2240280"/>
            <a:ext cx="2087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□ 未定</a:t>
            </a:r>
            <a:endParaRPr lang="en-US" sz="1300" dirty="0"/>
          </a:p>
        </p:txBody>
      </p:sp>
      <p:sp>
        <p:nvSpPr>
          <p:cNvPr id="16" name="dcell 0-1"/>
          <p:cNvSpPr/>
          <p:nvPr/>
        </p:nvSpPr>
        <p:spPr>
          <a:xfrm>
            <a:off x="5196764" y="2240280"/>
            <a:ext cx="2087804" cy="731520"/>
          </a:xfrm>
          <a:prstGeom prst="roundRect">
            <a:avLst>
              <a:gd name="adj" fmla="val 12500"/>
            </a:avLst>
          </a:prstGeom>
          <a:ln w="15875">
            <a:solidFill>
              <a:srgbClr val="8C93A6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5196764" y="2240280"/>
            <a:ext cx="2087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□ 未定</a:t>
            </a:r>
            <a:endParaRPr lang="en-US" sz="1300" dirty="0"/>
          </a:p>
        </p:txBody>
      </p:sp>
      <p:sp>
        <p:nvSpPr>
          <p:cNvPr id="18" name="dcell 0-2"/>
          <p:cNvSpPr/>
          <p:nvPr/>
        </p:nvSpPr>
        <p:spPr>
          <a:xfrm>
            <a:off x="7376008" y="2240280"/>
            <a:ext cx="2087804" cy="731520"/>
          </a:xfrm>
          <a:prstGeom prst="roundRect">
            <a:avLst>
              <a:gd name="adj" fmla="val 12500"/>
            </a:avLst>
          </a:prstGeom>
          <a:ln w="15875">
            <a:solidFill>
              <a:srgbClr val="8C93A6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7376008" y="2240280"/>
            <a:ext cx="2087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□ 未定</a:t>
            </a:r>
            <a:endParaRPr lang="en-US" sz="1300" dirty="0"/>
          </a:p>
        </p:txBody>
      </p:sp>
      <p:sp>
        <p:nvSpPr>
          <p:cNvPr id="20" name="dcell 0-3"/>
          <p:cNvSpPr/>
          <p:nvPr/>
        </p:nvSpPr>
        <p:spPr>
          <a:xfrm>
            <a:off x="9555251" y="2240280"/>
            <a:ext cx="2087804" cy="731520"/>
          </a:xfrm>
          <a:prstGeom prst="roundRect">
            <a:avLst>
              <a:gd name="adj" fmla="val 12500"/>
            </a:avLst>
          </a:prstGeom>
          <a:ln w="15875">
            <a:solidFill>
              <a:srgbClr val="8C93A6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9555251" y="2240280"/>
            <a:ext cx="2087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□ 未定</a:t>
            </a:r>
            <a:endParaRPr lang="en-US" sz="1300" dirty="0"/>
          </a:p>
        </p:txBody>
      </p:sp>
      <p:sp>
        <p:nvSpPr>
          <p:cNvPr id="22" name="di 1"/>
          <p:cNvSpPr/>
          <p:nvPr/>
        </p:nvSpPr>
        <p:spPr>
          <a:xfrm>
            <a:off x="548640" y="3044952"/>
            <a:ext cx="237744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304495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求める人物像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採用基準・何を見て採るか</a:t>
            </a:r>
            <a:endParaRPr lang="en-US" sz="1500" dirty="0"/>
          </a:p>
        </p:txBody>
      </p:sp>
      <p:sp>
        <p:nvSpPr>
          <p:cNvPr id="24" name="dcell 1-0"/>
          <p:cNvSpPr/>
          <p:nvPr/>
        </p:nvSpPr>
        <p:spPr>
          <a:xfrm>
            <a:off x="3017520" y="3044952"/>
            <a:ext cx="2087804" cy="731520"/>
          </a:xfrm>
          <a:prstGeom prst="roundRect">
            <a:avLst>
              <a:gd name="adj" fmla="val 12500"/>
            </a:avLst>
          </a:prstGeom>
          <a:ln w="15875">
            <a:solidFill>
              <a:srgbClr val="8C93A6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3017520" y="3044952"/>
            <a:ext cx="2087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□ 未定</a:t>
            </a:r>
            <a:endParaRPr lang="en-US" sz="1300" dirty="0"/>
          </a:p>
        </p:txBody>
      </p:sp>
      <p:sp>
        <p:nvSpPr>
          <p:cNvPr id="26" name="dcell 1-1"/>
          <p:cNvSpPr/>
          <p:nvPr/>
        </p:nvSpPr>
        <p:spPr>
          <a:xfrm>
            <a:off x="5196764" y="3044952"/>
            <a:ext cx="2087804" cy="731520"/>
          </a:xfrm>
          <a:prstGeom prst="roundRect">
            <a:avLst>
              <a:gd name="adj" fmla="val 12500"/>
            </a:avLst>
          </a:prstGeom>
          <a:ln w="15875">
            <a:solidFill>
              <a:srgbClr val="8C93A6"/>
            </a:solidFill>
            <a:prstDash val="dash"/>
          </a:ln>
        </p:spPr>
      </p:sp>
      <p:sp>
        <p:nvSpPr>
          <p:cNvPr id="27" name="Text 25"/>
          <p:cNvSpPr txBox="1"/>
          <p:nvPr/>
        </p:nvSpPr>
        <p:spPr>
          <a:xfrm>
            <a:off x="5196764" y="3044952"/>
            <a:ext cx="2087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□ 未定</a:t>
            </a:r>
            <a:endParaRPr lang="en-US" sz="1300" dirty="0"/>
          </a:p>
        </p:txBody>
      </p:sp>
      <p:sp>
        <p:nvSpPr>
          <p:cNvPr id="28" name="dcell 1-2"/>
          <p:cNvSpPr/>
          <p:nvPr/>
        </p:nvSpPr>
        <p:spPr>
          <a:xfrm>
            <a:off x="7376008" y="3044952"/>
            <a:ext cx="2087804" cy="731520"/>
          </a:xfrm>
          <a:prstGeom prst="roundRect">
            <a:avLst>
              <a:gd name="adj" fmla="val 12500"/>
            </a:avLst>
          </a:prstGeom>
          <a:ln w="15875">
            <a:solidFill>
              <a:srgbClr val="8C93A6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7376008" y="3044952"/>
            <a:ext cx="2087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□ 未定</a:t>
            </a:r>
            <a:endParaRPr lang="en-US" sz="1300" dirty="0"/>
          </a:p>
        </p:txBody>
      </p:sp>
      <p:sp>
        <p:nvSpPr>
          <p:cNvPr id="30" name="dcell 1-3"/>
          <p:cNvSpPr/>
          <p:nvPr/>
        </p:nvSpPr>
        <p:spPr>
          <a:xfrm>
            <a:off x="9555251" y="3044952"/>
            <a:ext cx="2087804" cy="731520"/>
          </a:xfrm>
          <a:prstGeom prst="roundRect">
            <a:avLst>
              <a:gd name="adj" fmla="val 12500"/>
            </a:avLst>
          </a:prstGeom>
          <a:ln w="15875">
            <a:solidFill>
              <a:srgbClr val="8C93A6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9555251" y="3044952"/>
            <a:ext cx="2087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□ 未定</a:t>
            </a:r>
            <a:endParaRPr lang="en-US" sz="1300" dirty="0"/>
          </a:p>
        </p:txBody>
      </p:sp>
      <p:sp>
        <p:nvSpPr>
          <p:cNvPr id="32" name="di 2"/>
          <p:cNvSpPr/>
          <p:nvPr/>
        </p:nvSpPr>
        <p:spPr>
          <a:xfrm>
            <a:off x="548640" y="3849624"/>
            <a:ext cx="237744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31520" y="384962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訴求ポイント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なぜうちを選ぶのか</a:t>
            </a:r>
            <a:endParaRPr lang="en-US" sz="1500" dirty="0"/>
          </a:p>
        </p:txBody>
      </p:sp>
      <p:sp>
        <p:nvSpPr>
          <p:cNvPr id="34" name="dcell 2-0"/>
          <p:cNvSpPr/>
          <p:nvPr/>
        </p:nvSpPr>
        <p:spPr>
          <a:xfrm>
            <a:off x="3017520" y="3849624"/>
            <a:ext cx="2087804" cy="731520"/>
          </a:xfrm>
          <a:prstGeom prst="roundRect">
            <a:avLst>
              <a:gd name="adj" fmla="val 12500"/>
            </a:avLst>
          </a:prstGeom>
          <a:ln w="15875">
            <a:solidFill>
              <a:srgbClr val="8C93A6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3017520" y="3849624"/>
            <a:ext cx="2087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□ 未定</a:t>
            </a:r>
            <a:endParaRPr lang="en-US" sz="1300" dirty="0"/>
          </a:p>
        </p:txBody>
      </p:sp>
      <p:sp>
        <p:nvSpPr>
          <p:cNvPr id="36" name="dcell 2-1"/>
          <p:cNvSpPr/>
          <p:nvPr/>
        </p:nvSpPr>
        <p:spPr>
          <a:xfrm>
            <a:off x="5196764" y="3849624"/>
            <a:ext cx="2087804" cy="731520"/>
          </a:xfrm>
          <a:prstGeom prst="roundRect">
            <a:avLst>
              <a:gd name="adj" fmla="val 12500"/>
            </a:avLst>
          </a:prstGeom>
          <a:ln w="15875">
            <a:solidFill>
              <a:srgbClr val="8C93A6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5196764" y="3849624"/>
            <a:ext cx="2087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□ 未定</a:t>
            </a:r>
            <a:endParaRPr lang="en-US" sz="1300" dirty="0"/>
          </a:p>
        </p:txBody>
      </p:sp>
      <p:sp>
        <p:nvSpPr>
          <p:cNvPr id="38" name="dcell 2-2"/>
          <p:cNvSpPr/>
          <p:nvPr/>
        </p:nvSpPr>
        <p:spPr>
          <a:xfrm>
            <a:off x="7376008" y="3849624"/>
            <a:ext cx="2087804" cy="731520"/>
          </a:xfrm>
          <a:prstGeom prst="roundRect">
            <a:avLst>
              <a:gd name="adj" fmla="val 12500"/>
            </a:avLst>
          </a:prstGeom>
          <a:ln w="15875">
            <a:solidFill>
              <a:srgbClr val="8C93A6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7376008" y="3849624"/>
            <a:ext cx="2087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□ 未定</a:t>
            </a:r>
            <a:endParaRPr lang="en-US" sz="1300" dirty="0"/>
          </a:p>
        </p:txBody>
      </p:sp>
      <p:sp>
        <p:nvSpPr>
          <p:cNvPr id="40" name="dcell 2-3"/>
          <p:cNvSpPr/>
          <p:nvPr/>
        </p:nvSpPr>
        <p:spPr>
          <a:xfrm>
            <a:off x="9555251" y="3849624"/>
            <a:ext cx="2087804" cy="731520"/>
          </a:xfrm>
          <a:prstGeom prst="roundRect">
            <a:avLst>
              <a:gd name="adj" fmla="val 12500"/>
            </a:avLst>
          </a:prstGeom>
          <a:ln w="15875">
            <a:solidFill>
              <a:srgbClr val="8C93A6"/>
            </a:solidFill>
            <a:prstDash val="dash"/>
          </a:ln>
        </p:spPr>
      </p:sp>
      <p:sp>
        <p:nvSpPr>
          <p:cNvPr id="41" name="Text 39"/>
          <p:cNvSpPr txBox="1"/>
          <p:nvPr/>
        </p:nvSpPr>
        <p:spPr>
          <a:xfrm>
            <a:off x="9555251" y="3849624"/>
            <a:ext cx="2087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□ 未定</a:t>
            </a:r>
            <a:endParaRPr lang="en-US" sz="1300" dirty="0"/>
          </a:p>
        </p:txBody>
      </p:sp>
      <p:sp>
        <p:nvSpPr>
          <p:cNvPr id="42" name="di 3"/>
          <p:cNvSpPr/>
          <p:nvPr/>
        </p:nvSpPr>
        <p:spPr>
          <a:xfrm>
            <a:off x="548640" y="4654296"/>
            <a:ext cx="237744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31520" y="4654296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使うチャネル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紹介・媒体・SNSの組み合わせ</a:t>
            </a:r>
            <a:endParaRPr lang="en-US" sz="1500" dirty="0"/>
          </a:p>
        </p:txBody>
      </p:sp>
      <p:sp>
        <p:nvSpPr>
          <p:cNvPr id="44" name="dcell 3-0"/>
          <p:cNvSpPr/>
          <p:nvPr/>
        </p:nvSpPr>
        <p:spPr>
          <a:xfrm>
            <a:off x="3017520" y="4654296"/>
            <a:ext cx="2087804" cy="731520"/>
          </a:xfrm>
          <a:prstGeom prst="roundRect">
            <a:avLst>
              <a:gd name="adj" fmla="val 12500"/>
            </a:avLst>
          </a:prstGeom>
          <a:ln w="15875">
            <a:solidFill>
              <a:srgbClr val="8C93A6"/>
            </a:solidFill>
            <a:prstDash val="dash"/>
          </a:ln>
        </p:spPr>
      </p:sp>
      <p:sp>
        <p:nvSpPr>
          <p:cNvPr id="45" name="Text 43"/>
          <p:cNvSpPr txBox="1"/>
          <p:nvPr/>
        </p:nvSpPr>
        <p:spPr>
          <a:xfrm>
            <a:off x="3017520" y="4654296"/>
            <a:ext cx="2087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□ 未定</a:t>
            </a:r>
            <a:endParaRPr lang="en-US" sz="1300" dirty="0"/>
          </a:p>
        </p:txBody>
      </p:sp>
      <p:sp>
        <p:nvSpPr>
          <p:cNvPr id="46" name="dcell 3-1"/>
          <p:cNvSpPr/>
          <p:nvPr/>
        </p:nvSpPr>
        <p:spPr>
          <a:xfrm>
            <a:off x="5196764" y="4654296"/>
            <a:ext cx="2087804" cy="731520"/>
          </a:xfrm>
          <a:prstGeom prst="roundRect">
            <a:avLst>
              <a:gd name="adj" fmla="val 12500"/>
            </a:avLst>
          </a:prstGeom>
          <a:ln w="15875">
            <a:solidFill>
              <a:srgbClr val="8C93A6"/>
            </a:solidFill>
            <a:prstDash val="dash"/>
          </a:ln>
        </p:spPr>
      </p:sp>
      <p:sp>
        <p:nvSpPr>
          <p:cNvPr id="47" name="Text 45"/>
          <p:cNvSpPr txBox="1"/>
          <p:nvPr/>
        </p:nvSpPr>
        <p:spPr>
          <a:xfrm>
            <a:off x="5196764" y="4654296"/>
            <a:ext cx="2087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□ 未定</a:t>
            </a:r>
            <a:endParaRPr lang="en-US" sz="1300" dirty="0"/>
          </a:p>
        </p:txBody>
      </p:sp>
      <p:sp>
        <p:nvSpPr>
          <p:cNvPr id="48" name="dcell 3-2"/>
          <p:cNvSpPr/>
          <p:nvPr/>
        </p:nvSpPr>
        <p:spPr>
          <a:xfrm>
            <a:off x="7376008" y="4654296"/>
            <a:ext cx="2087804" cy="731520"/>
          </a:xfrm>
          <a:prstGeom prst="roundRect">
            <a:avLst>
              <a:gd name="adj" fmla="val 12500"/>
            </a:avLst>
          </a:prstGeom>
          <a:ln w="15875">
            <a:solidFill>
              <a:srgbClr val="8C93A6"/>
            </a:solidFill>
            <a:prstDash val="dash"/>
          </a:ln>
        </p:spPr>
      </p:sp>
      <p:sp>
        <p:nvSpPr>
          <p:cNvPr id="49" name="Text 47"/>
          <p:cNvSpPr txBox="1"/>
          <p:nvPr/>
        </p:nvSpPr>
        <p:spPr>
          <a:xfrm>
            <a:off x="7376008" y="4654296"/>
            <a:ext cx="2087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□ 未定</a:t>
            </a:r>
            <a:endParaRPr lang="en-US" sz="1300" dirty="0"/>
          </a:p>
        </p:txBody>
      </p:sp>
      <p:sp>
        <p:nvSpPr>
          <p:cNvPr id="50" name="dcell 3-3"/>
          <p:cNvSpPr/>
          <p:nvPr/>
        </p:nvSpPr>
        <p:spPr>
          <a:xfrm>
            <a:off x="9555251" y="4654296"/>
            <a:ext cx="2087804" cy="731520"/>
          </a:xfrm>
          <a:prstGeom prst="roundRect">
            <a:avLst>
              <a:gd name="adj" fmla="val 12500"/>
            </a:avLst>
          </a:prstGeom>
          <a:ln w="15875">
            <a:solidFill>
              <a:srgbClr val="8C93A6"/>
            </a:solidFill>
            <a:prstDash val="dash"/>
          </a:ln>
        </p:spPr>
      </p:sp>
      <p:sp>
        <p:nvSpPr>
          <p:cNvPr id="51" name="Text 49"/>
          <p:cNvSpPr txBox="1"/>
          <p:nvPr/>
        </p:nvSpPr>
        <p:spPr>
          <a:xfrm>
            <a:off x="9555251" y="4654296"/>
            <a:ext cx="2087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□ 未定</a:t>
            </a:r>
            <a:endParaRPr lang="en-US" sz="1300" dirty="0"/>
          </a:p>
        </p:txBody>
      </p:sp>
      <p:sp>
        <p:nvSpPr>
          <p:cNvPr id="52" name="di 4"/>
          <p:cNvSpPr/>
          <p:nvPr/>
        </p:nvSpPr>
        <p:spPr>
          <a:xfrm>
            <a:off x="548640" y="5458968"/>
            <a:ext cx="237744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31520" y="545896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選考フロー・数値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応募→面接→内定→入社の数</a:t>
            </a:r>
            <a:endParaRPr lang="en-US" sz="1500" dirty="0"/>
          </a:p>
        </p:txBody>
      </p:sp>
      <p:sp>
        <p:nvSpPr>
          <p:cNvPr id="54" name="dcell 4-0"/>
          <p:cNvSpPr/>
          <p:nvPr/>
        </p:nvSpPr>
        <p:spPr>
          <a:xfrm>
            <a:off x="3017520" y="5458968"/>
            <a:ext cx="2087804" cy="731520"/>
          </a:xfrm>
          <a:prstGeom prst="roundRect">
            <a:avLst>
              <a:gd name="adj" fmla="val 12500"/>
            </a:avLst>
          </a:prstGeom>
          <a:ln w="15875">
            <a:solidFill>
              <a:srgbClr val="8C93A6"/>
            </a:solidFill>
            <a:prstDash val="dash"/>
          </a:ln>
        </p:spPr>
      </p:sp>
      <p:sp>
        <p:nvSpPr>
          <p:cNvPr id="55" name="Text 53"/>
          <p:cNvSpPr txBox="1"/>
          <p:nvPr/>
        </p:nvSpPr>
        <p:spPr>
          <a:xfrm>
            <a:off x="3017520" y="5458968"/>
            <a:ext cx="2087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□ 未定</a:t>
            </a:r>
            <a:endParaRPr lang="en-US" sz="1300" dirty="0"/>
          </a:p>
        </p:txBody>
      </p:sp>
      <p:sp>
        <p:nvSpPr>
          <p:cNvPr id="56" name="dcell 4-1"/>
          <p:cNvSpPr/>
          <p:nvPr/>
        </p:nvSpPr>
        <p:spPr>
          <a:xfrm>
            <a:off x="5196764" y="5458968"/>
            <a:ext cx="2087804" cy="731520"/>
          </a:xfrm>
          <a:prstGeom prst="roundRect">
            <a:avLst>
              <a:gd name="adj" fmla="val 12500"/>
            </a:avLst>
          </a:prstGeom>
          <a:ln w="15875">
            <a:solidFill>
              <a:srgbClr val="8C93A6"/>
            </a:solidFill>
            <a:prstDash val="dash"/>
          </a:ln>
        </p:spPr>
      </p:sp>
      <p:sp>
        <p:nvSpPr>
          <p:cNvPr id="57" name="Text 55"/>
          <p:cNvSpPr txBox="1"/>
          <p:nvPr/>
        </p:nvSpPr>
        <p:spPr>
          <a:xfrm>
            <a:off x="5196764" y="5458968"/>
            <a:ext cx="2087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□ 未定</a:t>
            </a:r>
            <a:endParaRPr lang="en-US" sz="1300" dirty="0"/>
          </a:p>
        </p:txBody>
      </p:sp>
      <p:sp>
        <p:nvSpPr>
          <p:cNvPr id="58" name="dcell 4-2"/>
          <p:cNvSpPr/>
          <p:nvPr/>
        </p:nvSpPr>
        <p:spPr>
          <a:xfrm>
            <a:off x="7376008" y="5458968"/>
            <a:ext cx="2087804" cy="731520"/>
          </a:xfrm>
          <a:prstGeom prst="roundRect">
            <a:avLst>
              <a:gd name="adj" fmla="val 12500"/>
            </a:avLst>
          </a:prstGeom>
          <a:ln w="15875">
            <a:solidFill>
              <a:srgbClr val="8C93A6"/>
            </a:solidFill>
            <a:prstDash val="dash"/>
          </a:ln>
        </p:spPr>
      </p:sp>
      <p:sp>
        <p:nvSpPr>
          <p:cNvPr id="59" name="Text 57"/>
          <p:cNvSpPr txBox="1"/>
          <p:nvPr/>
        </p:nvSpPr>
        <p:spPr>
          <a:xfrm>
            <a:off x="7376008" y="5458968"/>
            <a:ext cx="2087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□ 未定</a:t>
            </a:r>
            <a:endParaRPr lang="en-US" sz="1300" dirty="0"/>
          </a:p>
        </p:txBody>
      </p:sp>
      <p:sp>
        <p:nvSpPr>
          <p:cNvPr id="60" name="dcell 4-3"/>
          <p:cNvSpPr/>
          <p:nvPr/>
        </p:nvSpPr>
        <p:spPr>
          <a:xfrm>
            <a:off x="9555251" y="5458968"/>
            <a:ext cx="2087804" cy="731520"/>
          </a:xfrm>
          <a:prstGeom prst="roundRect">
            <a:avLst>
              <a:gd name="adj" fmla="val 12500"/>
            </a:avLst>
          </a:prstGeom>
          <a:ln w="15875">
            <a:solidFill>
              <a:srgbClr val="8C93A6"/>
            </a:solidFill>
            <a:prstDash val="dash"/>
          </a:ln>
        </p:spPr>
      </p:sp>
      <p:sp>
        <p:nvSpPr>
          <p:cNvPr id="61" name="Text 59"/>
          <p:cNvSpPr txBox="1"/>
          <p:nvPr/>
        </p:nvSpPr>
        <p:spPr>
          <a:xfrm>
            <a:off x="9555251" y="5458968"/>
            <a:ext cx="2087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□ 未定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空白を埋めるヒント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空白部分で検討する選択肢（例）</a:t>
            </a:r>
            <a:endParaRPr lang="en-US" sz="3000" dirty="0"/>
          </a:p>
        </p:txBody>
      </p:sp>
      <p:sp>
        <p:nvSpPr>
          <p:cNvPr id="4" name="idea 0"/>
          <p:cNvSpPr/>
          <p:nvPr/>
        </p:nvSpPr>
        <p:spPr>
          <a:xfrm>
            <a:off x="548640" y="1645920"/>
            <a:ext cx="2602154" cy="420624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2144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新卒大学生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2144954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新卒向け求人サイト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スカウト型（逆求人）サービス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インターン・会社説明会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若手社員によるSNS発信</a:t>
            </a:r>
            <a:endParaRPr lang="en-US" sz="1300" dirty="0"/>
          </a:p>
        </p:txBody>
      </p:sp>
      <p:sp>
        <p:nvSpPr>
          <p:cNvPr id="7" name="idea 1"/>
          <p:cNvSpPr/>
          <p:nvPr/>
        </p:nvSpPr>
        <p:spPr>
          <a:xfrm>
            <a:off x="3379394" y="1645920"/>
            <a:ext cx="2602154" cy="420624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07994" y="1828800"/>
            <a:ext cx="2144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理学療法士（新卒）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607994" y="2377440"/>
            <a:ext cx="2144954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養成校への求人票・学校訪問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臨床実習の受け入れ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養成校の合同就職説明会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医療職向けの新卒求人サイト</a:t>
            </a:r>
            <a:endParaRPr lang="en-US" sz="1300" dirty="0"/>
          </a:p>
        </p:txBody>
      </p:sp>
      <p:sp>
        <p:nvSpPr>
          <p:cNvPr id="10" name="idea 2"/>
          <p:cNvSpPr/>
          <p:nvPr/>
        </p:nvSpPr>
        <p:spPr>
          <a:xfrm>
            <a:off x="6210148" y="1645920"/>
            <a:ext cx="2602154" cy="420624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8748" y="1828800"/>
            <a:ext cx="2144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理学療法士（中途）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438748" y="2377440"/>
            <a:ext cx="2144954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リハビリ職専門の紹介会社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医療・介護職の求人サイト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社員紹介（リファラル）制度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職場見学・体験会</a:t>
            </a:r>
            <a:endParaRPr lang="en-US" sz="1300" dirty="0"/>
          </a:p>
        </p:txBody>
      </p:sp>
      <p:sp>
        <p:nvSpPr>
          <p:cNvPr id="13" name="idea 3"/>
          <p:cNvSpPr/>
          <p:nvPr/>
        </p:nvSpPr>
        <p:spPr>
          <a:xfrm>
            <a:off x="9040901" y="1645920"/>
            <a:ext cx="2602154" cy="420624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69501" y="1828800"/>
            <a:ext cx="2144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第2新卒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9269501" y="2377440"/>
            <a:ext cx="2144954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若手向けの紹介会社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若手向けの転職サイト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SNS広告・YouTubeで仕事紹介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未経験から育てる研修の打ち出し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※ 候補の例です。実際に使うかは費用・実績を比べて決めます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タスク化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空白をタスクに分解する（責任者：松田）</a:t>
            </a:r>
            <a:endParaRPr lang="en-US" sz="3000" dirty="0"/>
          </a:p>
        </p:txBody>
      </p:sp>
      <p:graphicFrame>
        <p:nvGraphicFramePr>
          <p:cNvPr id="5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5394960"/>
                <a:gridCol w="2377440"/>
                <a:gridCol w="822960"/>
                <a:gridCol w="914400"/>
                <a:gridCol w="108173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No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タスク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対象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担当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期限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状況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紹介会社4社の紹介数・決定数・費用を一覧にする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新卒大学生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松田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未着手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理学療法士（新卒）向けの採用チャネルを洗い出す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理学療法士・新卒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松田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未着手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理学療法士（中途）向けの紹介会社・媒体を洗い出す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理学療法士・中途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松田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未着手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第2新卒向けの紹介会社・媒体を洗い出す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第2新卒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松田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未着手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利用中の求人媒体と、費用・応募数を一覧にする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全ターゲット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松田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未着手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ターゲット別の採用目標（人数・時期）を決める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全ターゲット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松田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未着手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ターゲット別の求める人物像・採用基準を決める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全ターゲット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松田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未着手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ターゲット別の訴求ポイント（求人原稿）を作る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全ターゲット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松田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未着手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SNS（Insta・YouTube・FB）の役割と対象を決める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自社SNS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松田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未着手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応募→面接→内定→入社の数を毎月記録する仕組みを作る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全体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松田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未着手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研修で学んだ採用基準・面接方法を反映する（帰国後）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全体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松田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未着手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3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進め方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次のステップ</a:t>
            </a:r>
            <a:endParaRPr lang="en-US" sz="3000" dirty="0"/>
          </a:p>
        </p:txBody>
      </p:sp>
      <p:sp>
        <p:nvSpPr>
          <p:cNvPr id="4" name="next 0"/>
          <p:cNvSpPr/>
          <p:nvPr/>
        </p:nvSpPr>
        <p:spPr>
          <a:xfrm>
            <a:off x="548640" y="173736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今週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現状を数字でつかむ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96661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チャネル別の応募数・採用数・費用を集める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空白（サブトピック）を一覧にする</a:t>
            </a:r>
            <a:endParaRPr lang="en-US" sz="1400" dirty="0"/>
          </a:p>
        </p:txBody>
      </p:sp>
      <p:sp>
        <p:nvSpPr>
          <p:cNvPr id="8" name="next arrow 0"/>
          <p:cNvSpPr/>
          <p:nvPr/>
        </p:nvSpPr>
        <p:spPr>
          <a:xfrm rot="5400000">
            <a:off x="4091330" y="3611880"/>
            <a:ext cx="228600" cy="164592"/>
          </a:xfrm>
          <a:prstGeom prst="triangle">
            <a:avLst/>
          </a:prstGeom>
          <a:solidFill>
            <a:schemeClr val="accent5"/>
          </a:solidFill>
          <a:ln/>
        </p:spPr>
      </p:sp>
      <p:sp>
        <p:nvSpPr>
          <p:cNvPr id="9" name="next 1"/>
          <p:cNvSpPr/>
          <p:nvPr/>
        </p:nvSpPr>
        <p:spPr>
          <a:xfrm>
            <a:off x="4338218" y="173736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12538" y="196596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研修中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237744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5社から採用の仕組みを学ぶ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3246120"/>
            <a:ext cx="296661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採用基準・面接の方法を質問する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見学メモシートに記入する</a:t>
            </a:r>
            <a:endParaRPr lang="en-US" sz="1400" dirty="0"/>
          </a:p>
        </p:txBody>
      </p:sp>
      <p:sp>
        <p:nvSpPr>
          <p:cNvPr id="13" name="next arrow 1"/>
          <p:cNvSpPr/>
          <p:nvPr/>
        </p:nvSpPr>
        <p:spPr>
          <a:xfrm rot="5400000">
            <a:off x="7880909" y="3611880"/>
            <a:ext cx="228600" cy="164592"/>
          </a:xfrm>
          <a:prstGeom prst="triangle">
            <a:avLst/>
          </a:prstGeom>
          <a:solidFill>
            <a:schemeClr val="accent5"/>
          </a:solidFill>
          <a:ln/>
        </p:spPr>
      </p:sp>
      <p:sp>
        <p:nvSpPr>
          <p:cNvPr id="14" name="next 2"/>
          <p:cNvSpPr/>
          <p:nvPr/>
        </p:nvSpPr>
        <p:spPr>
          <a:xfrm>
            <a:off x="8127797" y="173736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02117" y="196596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帰国後1か月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402117" y="237744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ターゲット別に設計する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402117" y="3246120"/>
            <a:ext cx="296661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目標・人物像・訴求・チャネルを決める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タスク表で毎週進捗を確認する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87452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学んだ仕組みと整理した採用で、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生産性2億円/人へ</a:t>
            </a:r>
            <a:endParaRPr lang="en-US" sz="4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3749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① 5社から仕組みを持ち帰る　② 採用の空白をタスクで埋める</a:t>
            </a:r>
            <a:endParaRPr lang="en-US" sz="2000" dirty="0"/>
          </a:p>
        </p:txBody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548640" y="14630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licon Valley Visit">
  <a:themeElements>
    <a:clrScheme name="Silicon Valley Visit">
      <a:dk1>
        <a:srgbClr val="1C2230"/>
      </a:dk1>
      <a:lt1>
        <a:srgbClr val="FFFFFF"/>
      </a:lt1>
      <a:dk2>
        <a:srgbClr val="4A5368"/>
      </a:dk2>
      <a:lt2>
        <a:srgbClr val="F3F4F7"/>
      </a:lt2>
      <a:accent1>
        <a:srgbClr val="F26B3A"/>
      </a:accent1>
      <a:accent2>
        <a:srgbClr val="1FA39A"/>
      </a:accent2>
      <a:accent3>
        <a:srgbClr val="3D5A99"/>
      </a:accent3>
      <a:accent4>
        <a:srgbClr val="F2B33A"/>
      </a:accent4>
      <a:accent5>
        <a:srgbClr val="8C93A6"/>
      </a:accent5>
      <a:accent6>
        <a:srgbClr val="D9475A"/>
      </a:accent6>
      <a:hlink>
        <a:srgbClr val="1FA39A"/>
      </a:hlink>
      <a:folHlink>
        <a:srgbClr val="8C93A6"/>
      </a:folHlink>
    </a:clrScheme>
    <a:fontScheme name="Silicon Valley Visit">
      <a:majorFont>
        <a:latin typeface="Hiragino Sans"/>
        <a:ea typeface="Hiragino Sans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iragino Sans"/>
        <a:ea typeface="Hiragino Sans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シリコンバレー企業見学 2026年10月 まとめ</dc:title>
  <dc:subject>PptxGenJS Presentation</dc:subject>
  <dc:creator>PptxGenJS</dc:creator>
  <cp:lastModifiedBy>PptxGenJS</cp:lastModifiedBy>
  <cp:revision>1</cp:revision>
  <dcterms:created xsi:type="dcterms:W3CDTF">2026-10-14T10:18:54Z</dcterms:created>
  <dcterms:modified xsi:type="dcterms:W3CDTF">2026-10-14T10:18:54Z</dcterms:modified>
</cp:coreProperties>
</file>