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イントロ" id="{6b33cce2-7ca2-81f7-80b5-610392cc21e4}">
          <p14:sldIdLst>
            <p14:sldId id="256"/>
            <p14:sldId id="257"/>
          </p14:sldIdLst>
        </p14:section>
        <p14:section name="成功パターン" id="{da370911-aeed-8a8e-2e2a-5208ae48588e}">
          <p14:sldIdLst>
            <p14:sldId id="258"/>
            <p14:sldId id="259"/>
            <p14:sldId id="260"/>
            <p14:sldId id="261"/>
            <p14:sldId id="262"/>
          </p14:sldIdLst>
        </p14:section>
        <p14:section name="自社への応用" id="{823b5c21-4b89-36a5-9f27-f3c44f8ade27}">
          <p14:sldIdLst>
            <p14:sldId id="263"/>
            <p14:sldId id="264"/>
            <p14:sldId id="265"/>
          </p14:sldIdLst>
        </p14:section>
        <p14:section name="まとめ" id="{56c18357-b180-c6a4-2576-ca90b732a0b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事業転換（ビジネススイッチ）に成功した企業を分析し、成功パターンを整理したうえで、自社への応用を考えます。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ビジネススイッチ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成功企業の分析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事業転換の成功パターンから、整体会社の次の一手を考える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① 結論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特に参考になるのはこの7社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64008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会社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元々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スイッチ後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富士フイルム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写真フィルム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医療・化粧品・半導体材料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任天堂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花札・トランプ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ゲーム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Netflix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DVD郵送レンタル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動画配信 → コンテンツ制作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Slack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オンラインゲーム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ビジネスチャット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Shopify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スノーボードEC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ECプラットフォーム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Instagram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位置情報アプリ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写真SNS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リクルート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求人広告誌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→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人材・住宅・旅行 → Indeed等HRテック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② 成功パターン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成功パターンは大きく3つ</a:t>
            </a:r>
            <a:endParaRPr lang="en-US" sz="3400" dirty="0"/>
          </a:p>
        </p:txBody>
      </p:sp>
      <p:sp>
        <p:nvSpPr>
          <p:cNvPr id="4" name="patternA"/>
          <p:cNvSpPr/>
          <p:nvPr/>
        </p:nvSpPr>
        <p:spPr>
          <a:xfrm>
            <a:off x="731520" y="160020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9659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A</a:t>
            </a:r>
            <a:endParaRPr lang="en-US" sz="208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「顧客」は変えず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商品を変える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顧客価値はそのままに、届け方・商品を進化させる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5349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代表例：Netflix</a:t>
            </a:r>
            <a:endParaRPr lang="en-US" sz="1400" dirty="0"/>
          </a:p>
        </p:txBody>
      </p:sp>
      <p:sp>
        <p:nvSpPr>
          <p:cNvPr id="10" name="patternB"/>
          <p:cNvSpPr/>
          <p:nvPr/>
        </p:nvSpPr>
        <p:spPr>
          <a:xfrm>
            <a:off x="4389120" y="160020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9659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B</a:t>
            </a:r>
            <a:endParaRPr lang="en-US" sz="208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926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「技術」は変えず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市場を変える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コア技術を、伸びている別の市場へ展開する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5349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代表例：富士フイルム</a:t>
            </a:r>
            <a:endParaRPr lang="en-US" sz="1400" dirty="0"/>
          </a:p>
        </p:txBody>
      </p:sp>
      <p:sp>
        <p:nvSpPr>
          <p:cNvPr id="16" name="patternC"/>
          <p:cNvSpPr/>
          <p:nvPr/>
        </p:nvSpPr>
        <p:spPr>
          <a:xfrm>
            <a:off x="8046720" y="160020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19659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chemeClr val="bg1"/>
                </a:solidFill>
              </a:rPr>
              <a:t>C</a:t>
            </a:r>
            <a:endParaRPr lang="en-US" sz="208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926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自社で作ったものが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本業になる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114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社内用に作った道具のほうが、本業より価値がある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5349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代表例：Slack / Shopify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パターンA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「顧客」は変えず、商品を変える — Netflix</a:t>
            </a:r>
            <a:endParaRPr lang="en-US" sz="3400" dirty="0"/>
          </a:p>
        </p:txBody>
      </p:sp>
      <p:sp>
        <p:nvSpPr>
          <p:cNvPr id="4" name="chip0"/>
          <p:cNvSpPr/>
          <p:nvPr/>
        </p:nvSpPr>
        <p:spPr>
          <a:xfrm>
            <a:off x="731520" y="173736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DVD郵送レンタル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73736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chip1"/>
          <p:cNvSpPr/>
          <p:nvPr/>
        </p:nvSpPr>
        <p:spPr>
          <a:xfrm>
            <a:off x="4434840" y="173736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ストリーミング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73736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chip2"/>
          <p:cNvSpPr/>
          <p:nvPr/>
        </p:nvSpPr>
        <p:spPr>
          <a:xfrm>
            <a:off x="8138160" y="1737360"/>
            <a:ext cx="329184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オリジナルコンテンツ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顧客が求めているのは「DVD」ではない</a:t>
            </a:r>
            <a:endParaRPr lang="en-US" sz="1800" dirty="0"/>
          </a:p>
        </p:txBody>
      </p:sp>
      <p:sp>
        <p:nvSpPr>
          <p:cNvPr id="13" name="valueCard"/>
          <p:cNvSpPr/>
          <p:nvPr/>
        </p:nvSpPr>
        <p:spPr>
          <a:xfrm>
            <a:off x="731520" y="3840480"/>
            <a:ext cx="1069848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38404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好きな映像コンテンツを、簡単に見たい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＝ 商品が変わっても、顧客価値は一貫している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パターンA × 整体業界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商品は変わっても、顧客価値は変えなくていい</a:t>
            </a:r>
            <a:endParaRPr lang="en-US" sz="3400" dirty="0"/>
          </a:p>
        </p:txBody>
      </p:sp>
      <p:sp>
        <p:nvSpPr>
          <p:cNvPr id="4" name="chip0"/>
          <p:cNvSpPr/>
          <p:nvPr/>
        </p:nvSpPr>
        <p:spPr>
          <a:xfrm>
            <a:off x="731520" y="1828800"/>
            <a:ext cx="14401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257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整体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7170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chip1"/>
          <p:cNvSpPr/>
          <p:nvPr/>
        </p:nvSpPr>
        <p:spPr>
          <a:xfrm>
            <a:off x="2583180" y="1828800"/>
            <a:ext cx="14401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74620" y="1828800"/>
            <a:ext cx="1257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運動療法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chip2"/>
          <p:cNvSpPr/>
          <p:nvPr/>
        </p:nvSpPr>
        <p:spPr>
          <a:xfrm>
            <a:off x="4434840" y="1828800"/>
            <a:ext cx="14401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1257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オンライン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87502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chip3"/>
          <p:cNvSpPr/>
          <p:nvPr/>
        </p:nvSpPr>
        <p:spPr>
          <a:xfrm>
            <a:off x="6286500" y="1828800"/>
            <a:ext cx="14401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77940" y="1828800"/>
            <a:ext cx="1257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クリニック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chip4"/>
          <p:cNvSpPr/>
          <p:nvPr/>
        </p:nvSpPr>
        <p:spPr>
          <a:xfrm>
            <a:off x="8138160" y="1828800"/>
            <a:ext cx="14401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1828800"/>
            <a:ext cx="1257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予防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578340" y="18288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chip5"/>
          <p:cNvSpPr/>
          <p:nvPr/>
        </p:nvSpPr>
        <p:spPr>
          <a:xfrm>
            <a:off x="9989820" y="1828800"/>
            <a:ext cx="14401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81260" y="1828800"/>
            <a:ext cx="1257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介護・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リハビリ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商品・サービス（変わってよい）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顧客価値（変えない）</a:t>
            </a:r>
            <a:endParaRPr lang="en-US" sz="1300" dirty="0"/>
          </a:p>
        </p:txBody>
      </p:sp>
      <p:sp>
        <p:nvSpPr>
          <p:cNvPr id="23" name="corevalue"/>
          <p:cNvSpPr/>
          <p:nvPr/>
        </p:nvSpPr>
        <p:spPr>
          <a:xfrm>
            <a:off x="731520" y="3703320"/>
            <a:ext cx="1069848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" y="37033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痛みをなくして、やりたいことができる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パターンB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「技術」は変えず、市場を変える — 富士フイルム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写真フィルム市場がスマホ・デジカメで縮小</a:t>
            </a:r>
            <a:endParaRPr lang="en-US" sz="1600" dirty="0"/>
          </a:p>
        </p:txBody>
      </p:sp>
      <p:sp>
        <p:nvSpPr>
          <p:cNvPr id="5" name="techCard"/>
          <p:cNvSpPr/>
          <p:nvPr/>
        </p:nvSpPr>
        <p:spPr>
          <a:xfrm>
            <a:off x="731520" y="2011680"/>
            <a:ext cx="42062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持っていた技術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974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コラーゲン技術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酸化防止技術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ナノテクノロジー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精密化学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731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market0"/>
          <p:cNvSpPr/>
          <p:nvPr/>
        </p:nvSpPr>
        <p:spPr>
          <a:xfrm>
            <a:off x="5852160" y="201168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20116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化粧品</a:t>
            </a:r>
            <a:endParaRPr lang="en-US" sz="2200" dirty="0"/>
          </a:p>
        </p:txBody>
      </p:sp>
      <p:sp>
        <p:nvSpPr>
          <p:cNvPr id="11" name="market1"/>
          <p:cNvSpPr/>
          <p:nvPr/>
        </p:nvSpPr>
        <p:spPr>
          <a:xfrm>
            <a:off x="8686800" y="201168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0" y="20116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医薬</a:t>
            </a:r>
            <a:endParaRPr lang="en-US" sz="2200" dirty="0"/>
          </a:p>
        </p:txBody>
      </p:sp>
      <p:sp>
        <p:nvSpPr>
          <p:cNvPr id="13" name="market2"/>
          <p:cNvSpPr/>
          <p:nvPr/>
        </p:nvSpPr>
        <p:spPr>
          <a:xfrm>
            <a:off x="5852160" y="342900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34290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医療</a:t>
            </a:r>
            <a:endParaRPr lang="en-US" sz="2200" dirty="0"/>
          </a:p>
        </p:txBody>
      </p:sp>
      <p:sp>
        <p:nvSpPr>
          <p:cNvPr id="15" name="market3"/>
          <p:cNvSpPr/>
          <p:nvPr/>
        </p:nvSpPr>
        <p:spPr>
          <a:xfrm>
            <a:off x="8686800" y="342900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0" y="34290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半導体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会社の定義を変えた：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「フィルム会社」→「高度な化学技術を持つ会社」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パターンC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自社で作ったものが、実は本業になる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Slack</a:t>
            </a:r>
            <a:endParaRPr lang="en-US" sz="2400" dirty="0"/>
          </a:p>
        </p:txBody>
      </p:sp>
      <p:sp>
        <p:nvSpPr>
          <p:cNvPr id="5" name="Slack0"/>
          <p:cNvSpPr/>
          <p:nvPr/>
        </p:nvSpPr>
        <p:spPr>
          <a:xfrm>
            <a:off x="731520" y="21031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ゲーム会社として創業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lack1"/>
          <p:cNvSpPr/>
          <p:nvPr/>
        </p:nvSpPr>
        <p:spPr>
          <a:xfrm>
            <a:off x="731520" y="30175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社内コミュニケーション用ツールを自作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03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lack2"/>
          <p:cNvSpPr/>
          <p:nvPr/>
        </p:nvSpPr>
        <p:spPr>
          <a:xfrm>
            <a:off x="731520" y="39319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931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ゲームより、このツールのほうが価値がある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617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lack3"/>
          <p:cNvSpPr/>
          <p:nvPr/>
        </p:nvSpPr>
        <p:spPr>
          <a:xfrm>
            <a:off x="731520" y="48463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会社ごとビジネスチャットへ転換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Shopify</a:t>
            </a:r>
            <a:endParaRPr lang="en-US" sz="2400" dirty="0"/>
          </a:p>
        </p:txBody>
      </p:sp>
      <p:sp>
        <p:nvSpPr>
          <p:cNvPr id="17" name="Shopify0"/>
          <p:cNvSpPr/>
          <p:nvPr/>
        </p:nvSpPr>
        <p:spPr>
          <a:xfrm>
            <a:off x="6217920" y="21031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103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スノーボード用品のECサイトを作る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↓</a:t>
            </a:r>
            <a:endParaRPr lang="en-US" sz="1200" dirty="0"/>
          </a:p>
        </p:txBody>
      </p:sp>
      <p:sp>
        <p:nvSpPr>
          <p:cNvPr id="20" name="Shopify1"/>
          <p:cNvSpPr/>
          <p:nvPr/>
        </p:nvSpPr>
        <p:spPr>
          <a:xfrm>
            <a:off x="6217920" y="30175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017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良いECシステムがなかった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703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↓</a:t>
            </a:r>
            <a:endParaRPr lang="en-US" sz="1200" dirty="0"/>
          </a:p>
        </p:txBody>
      </p:sp>
      <p:sp>
        <p:nvSpPr>
          <p:cNvPr id="23" name="Shopify2"/>
          <p:cNvSpPr/>
          <p:nvPr/>
        </p:nvSpPr>
        <p:spPr>
          <a:xfrm>
            <a:off x="6217920" y="39319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931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自分たちで作る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617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↓</a:t>
            </a:r>
            <a:endParaRPr lang="en-US" sz="1200" dirty="0"/>
          </a:p>
        </p:txBody>
      </p:sp>
      <p:sp>
        <p:nvSpPr>
          <p:cNvPr id="26" name="Shopify3"/>
          <p:cNvSpPr/>
          <p:nvPr/>
        </p:nvSpPr>
        <p:spPr>
          <a:xfrm>
            <a:off x="6217920" y="4846320"/>
            <a:ext cx="521208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他社に売ったほうが大きくなる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経営者として重要な視点：社内の「道具」に、本業以上の価値が眠っていないか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③ 圭太さんの会社で考えるなら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現在</a:t>
            </a:r>
            <a:endParaRPr lang="en-US" sz="1400" dirty="0"/>
          </a:p>
        </p:txBody>
      </p:sp>
      <p:sp>
        <p:nvSpPr>
          <p:cNvPr id="4" name="stage0"/>
          <p:cNvSpPr/>
          <p:nvPr/>
        </p:nvSpPr>
        <p:spPr>
          <a:xfrm>
            <a:off x="731520" y="228600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整体会社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286000"/>
            <a:ext cx="548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→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スイッチ</a:t>
            </a:r>
            <a:endParaRPr lang="en-US" sz="1400" dirty="0"/>
          </a:p>
        </p:txBody>
      </p:sp>
      <p:sp>
        <p:nvSpPr>
          <p:cNvPr id="8" name="stage1"/>
          <p:cNvSpPr/>
          <p:nvPr/>
        </p:nvSpPr>
        <p:spPr>
          <a:xfrm>
            <a:off x="4480560" y="228600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286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痛み治療会社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286000"/>
            <a:ext cx="548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定義</a:t>
            </a:r>
            <a:endParaRPr lang="en-US" sz="1400" dirty="0"/>
          </a:p>
        </p:txBody>
      </p:sp>
      <p:sp>
        <p:nvSpPr>
          <p:cNvPr id="12" name="stage2"/>
          <p:cNvSpPr/>
          <p:nvPr/>
        </p:nvSpPr>
        <p:spPr>
          <a:xfrm>
            <a:off x="8229600" y="2286000"/>
            <a:ext cx="3200400" cy="2011680"/>
          </a:xfrm>
          <a:prstGeom prst="roundRect">
            <a:avLst>
              <a:gd name="adj" fmla="val 5455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2860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痛みを解決する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インフラ会社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「店舗を増やす会社」ではなく、痛みを解決するインフラ会社と定義する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そうすると、事業領域が一気に広がる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事業領域の広がり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「痛みの解決」で、すべてが一本につながる</a:t>
            </a:r>
            <a:endParaRPr lang="en-US" sz="3400" dirty="0"/>
          </a:p>
        </p:txBody>
      </p:sp>
      <p:sp>
        <p:nvSpPr>
          <p:cNvPr id="4" name="domain0"/>
          <p:cNvSpPr/>
          <p:nvPr/>
        </p:nvSpPr>
        <p:spPr>
          <a:xfrm>
            <a:off x="731520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整体院</a:t>
            </a:r>
            <a:endParaRPr lang="en-US" sz="1500" dirty="0"/>
          </a:p>
        </p:txBody>
      </p:sp>
      <p:sp>
        <p:nvSpPr>
          <p:cNvPr id="7" name="domain1"/>
          <p:cNvSpPr/>
          <p:nvPr/>
        </p:nvSpPr>
        <p:spPr>
          <a:xfrm>
            <a:off x="2542032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79192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1965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整形外科</a:t>
            </a:r>
            <a:endParaRPr lang="en-US" sz="1500" dirty="0"/>
          </a:p>
        </p:txBody>
      </p:sp>
      <p:sp>
        <p:nvSpPr>
          <p:cNvPr id="10" name="domain2"/>
          <p:cNvSpPr/>
          <p:nvPr/>
        </p:nvSpPr>
        <p:spPr>
          <a:xfrm>
            <a:off x="4352544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9704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965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リハビリ</a:t>
            </a:r>
            <a:endParaRPr lang="en-US" sz="1500" dirty="0"/>
          </a:p>
        </p:txBody>
      </p:sp>
      <p:sp>
        <p:nvSpPr>
          <p:cNvPr id="13" name="domain3"/>
          <p:cNvSpPr/>
          <p:nvPr/>
        </p:nvSpPr>
        <p:spPr>
          <a:xfrm>
            <a:off x="6163056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0216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1965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訪問リハ</a:t>
            </a:r>
            <a:endParaRPr lang="en-US" sz="1500" dirty="0"/>
          </a:p>
        </p:txBody>
      </p:sp>
      <p:sp>
        <p:nvSpPr>
          <p:cNvPr id="16" name="domain4"/>
          <p:cNvSpPr/>
          <p:nvPr/>
        </p:nvSpPr>
        <p:spPr>
          <a:xfrm>
            <a:off x="7973568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10728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1965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ピラティス・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運動療法</a:t>
            </a:r>
            <a:endParaRPr lang="en-US" sz="1500" dirty="0"/>
          </a:p>
        </p:txBody>
      </p:sp>
      <p:sp>
        <p:nvSpPr>
          <p:cNvPr id="19" name="domain5"/>
          <p:cNvSpPr/>
          <p:nvPr/>
        </p:nvSpPr>
        <p:spPr>
          <a:xfrm>
            <a:off x="9784080" y="16002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21240" y="1709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19659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痛み治療教育</a:t>
            </a:r>
            <a:endParaRPr lang="en-US" sz="1500" dirty="0"/>
          </a:p>
        </p:txBody>
      </p:sp>
      <p:sp>
        <p:nvSpPr>
          <p:cNvPr id="22" name="domain6"/>
          <p:cNvSpPr/>
          <p:nvPr/>
        </p:nvSpPr>
        <p:spPr>
          <a:xfrm>
            <a:off x="731520" y="32004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治療家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人材紹介</a:t>
            </a:r>
            <a:endParaRPr lang="en-US" sz="1500" dirty="0"/>
          </a:p>
        </p:txBody>
      </p:sp>
      <p:sp>
        <p:nvSpPr>
          <p:cNvPr id="25" name="domain7"/>
          <p:cNvSpPr/>
          <p:nvPr/>
        </p:nvSpPr>
        <p:spPr>
          <a:xfrm>
            <a:off x="2542032" y="32004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679192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33472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治療院SaaS</a:t>
            </a:r>
            <a:endParaRPr lang="en-US" sz="1500" dirty="0"/>
          </a:p>
        </p:txBody>
      </p:sp>
      <p:sp>
        <p:nvSpPr>
          <p:cNvPr id="28" name="domain8"/>
          <p:cNvSpPr/>
          <p:nvPr/>
        </p:nvSpPr>
        <p:spPr>
          <a:xfrm>
            <a:off x="4352544" y="32004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89704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443984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AI診断支援</a:t>
            </a:r>
            <a:endParaRPr lang="en-US" sz="1500" dirty="0"/>
          </a:p>
        </p:txBody>
      </p:sp>
      <p:sp>
        <p:nvSpPr>
          <p:cNvPr id="31" name="domain9"/>
          <p:cNvSpPr/>
          <p:nvPr/>
        </p:nvSpPr>
        <p:spPr>
          <a:xfrm>
            <a:off x="6163056" y="32004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0216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54496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医療機器</a:t>
            </a:r>
            <a:endParaRPr lang="en-US" sz="1500" dirty="0"/>
          </a:p>
        </p:txBody>
      </p:sp>
      <p:sp>
        <p:nvSpPr>
          <p:cNvPr id="34" name="domain10"/>
          <p:cNvSpPr/>
          <p:nvPr/>
        </p:nvSpPr>
        <p:spPr>
          <a:xfrm>
            <a:off x="7973568" y="32004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10728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065008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サプリメント</a:t>
            </a:r>
            <a:endParaRPr lang="en-US" sz="1500" dirty="0"/>
          </a:p>
        </p:txBody>
      </p:sp>
      <p:sp>
        <p:nvSpPr>
          <p:cNvPr id="37" name="domain11"/>
          <p:cNvSpPr/>
          <p:nvPr/>
        </p:nvSpPr>
        <p:spPr>
          <a:xfrm>
            <a:off x="9784080" y="3200400"/>
            <a:ext cx="1645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92124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8755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海外展開</a:t>
            </a:r>
            <a:endParaRPr lang="en-US" sz="1500" dirty="0"/>
          </a:p>
        </p:txBody>
      </p:sp>
      <p:sp>
        <p:nvSpPr>
          <p:cNvPr id="40" name="axis"/>
          <p:cNvSpPr/>
          <p:nvPr/>
        </p:nvSpPr>
        <p:spPr>
          <a:xfrm>
            <a:off x="731520" y="4983480"/>
            <a:ext cx="106984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97280" y="49834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共通の軸：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痛みを解決し、やりたいことができる状態をつくる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参考モデル：リクルート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上位概念に会社を置き直すと、事業は広がる</a:t>
            </a:r>
            <a:endParaRPr lang="en-US" sz="3400" dirty="0"/>
          </a:p>
        </p:txBody>
      </p:sp>
      <p:sp>
        <p:nvSpPr>
          <p:cNvPr id="4" name="before"/>
          <p:cNvSpPr/>
          <p:nvPr/>
        </p:nvSpPr>
        <p:spPr>
          <a:xfrm>
            <a:off x="731520" y="1600200"/>
            <a:ext cx="47548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002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もし定義が
</a:t>
            </a:r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「求人広告会社」のままなら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6002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→</a:t>
            </a:r>
            <a:endParaRPr lang="en-US" sz="3000" dirty="0"/>
          </a:p>
        </p:txBody>
      </p:sp>
      <p:sp>
        <p:nvSpPr>
          <p:cNvPr id="7" name="after"/>
          <p:cNvSpPr/>
          <p:nvPr/>
        </p:nvSpPr>
        <p:spPr>
          <a:xfrm>
            <a:off x="6309360" y="1600200"/>
            <a:ext cx="51206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6002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実際の定義
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人と企業をマッチングする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今の規模にはなっていない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広がった事業領域</a:t>
            </a:r>
            <a:endParaRPr lang="en-US" sz="1400" dirty="0"/>
          </a:p>
        </p:txBody>
      </p:sp>
      <p:sp>
        <p:nvSpPr>
          <p:cNvPr id="11" name="chip0"/>
          <p:cNvSpPr/>
          <p:nvPr/>
        </p:nvSpPr>
        <p:spPr>
          <a:xfrm>
            <a:off x="731520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求人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907177" y="4069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chip1"/>
          <p:cNvSpPr/>
          <p:nvPr/>
        </p:nvSpPr>
        <p:spPr>
          <a:xfrm>
            <a:off x="2318657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10097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住宅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94314" y="4069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chip2"/>
          <p:cNvSpPr/>
          <p:nvPr/>
        </p:nvSpPr>
        <p:spPr>
          <a:xfrm>
            <a:off x="3905794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97234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結婚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81451" y="4069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chip3"/>
          <p:cNvSpPr/>
          <p:nvPr/>
        </p:nvSpPr>
        <p:spPr>
          <a:xfrm>
            <a:off x="5492931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84371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旅行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68589" y="4069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chip4"/>
          <p:cNvSpPr/>
          <p:nvPr/>
        </p:nvSpPr>
        <p:spPr>
          <a:xfrm>
            <a:off x="7080069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1509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飲食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55726" y="4069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chip5"/>
          <p:cNvSpPr/>
          <p:nvPr/>
        </p:nvSpPr>
        <p:spPr>
          <a:xfrm>
            <a:off x="8667206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758646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Indeed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42863" y="40690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chip6"/>
          <p:cNvSpPr/>
          <p:nvPr/>
        </p:nvSpPr>
        <p:spPr>
          <a:xfrm>
            <a:off x="10254343" y="4069080"/>
            <a:ext cx="1175657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45783" y="4069080"/>
            <a:ext cx="992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Glassdoor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整体業界でも同じ：「整体院」ではなく「痛みの解決」を会社の定義に置く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会社の定義を変えれば、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事業の未来が変わる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顧客価値を守る ／ 技術を新市場へ ／ 自社の道具を事業に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Switch">
  <a:themeElements>
    <a:clrScheme name="Business Switch">
      <a:dk1>
        <a:srgbClr val="1B2A2F"/>
      </a:dk1>
      <a:lt1>
        <a:srgbClr val="FFFFFF"/>
      </a:lt1>
      <a:dk2>
        <a:srgbClr val="0E4D4F"/>
      </a:dk2>
      <a:lt2>
        <a:srgbClr val="EEF4F3"/>
      </a:lt2>
      <a:accent1>
        <a:srgbClr val="0E4D4F"/>
      </a:accent1>
      <a:accent2>
        <a:srgbClr val="E2725B"/>
      </a:accent2>
      <a:accent3>
        <a:srgbClr val="5FA8A0"/>
      </a:accent3>
      <a:accent4>
        <a:srgbClr val="F2C14E"/>
      </a:accent4>
      <a:accent5>
        <a:srgbClr val="6B7B80"/>
      </a:accent5>
      <a:accent6>
        <a:srgbClr val="B9D9D4"/>
      </a:accent6>
      <a:hlink>
        <a:srgbClr val="0E4D4F"/>
      </a:hlink>
      <a:folHlink>
        <a:srgbClr val="6B7B80"/>
      </a:folHlink>
    </a:clrScheme>
    <a:fontScheme name="Business Switch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ビジネススイッチ成功企業の分析</dc:title>
  <dc:subject>PptxGenJS Presentation</dc:subject>
  <dc:creator>PptxGenJS</dc:creator>
  <cp:lastModifiedBy>PptxGenJS</cp:lastModifiedBy>
  <cp:revision>1</cp:revision>
  <dcterms:created xsi:type="dcterms:W3CDTF">2026-10-08T23:59:13Z</dcterms:created>
  <dcterms:modified xsi:type="dcterms:W3CDTF">2026-10-08T23:59:13Z</dcterms:modified>
</cp:coreProperties>
</file>