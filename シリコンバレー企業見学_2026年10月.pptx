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イントロ" id="{e2b7ca73-d73e-3e07-a372-906ac5a9f0a5}">
          <p14:sldIdLst>
            <p14:sldId id="256"/>
          </p14:sldIdLst>
        </p14:section>
        <p14:section name="Why" id="{6f546826-b9c3-f75b-40a5-02d7d66c3a0c}">
          <p14:sldIdLst>
            <p14:sldId id="257"/>
            <p14:sldId id="258"/>
            <p14:sldId id="259"/>
          </p14:sldIdLst>
        </p14:section>
        <p14:section name="アクション" id="{bdceb541-3630-147f-d4b0-8d693676ee2d}">
          <p14:sldIdLst>
            <p14:sldId id="260"/>
            <p14:sldId id="261"/>
            <p14:sldId id="262"/>
          </p14:sldIdLst>
        </p14:section>
        <p14:section name="まとめ" id="{7116375d-8cf6-c69e-b50e-8dd6fecc3ee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36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5368"/>
                </a:solidFill>
                <a:latin typeface="+mn-lt"/>
              </a:rPr>
              <a:t>1人当たり生産性（億円）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1人当たり生産性</c:v>
                </c:pt>
              </c:strCache>
            </c:strRef>
          </c:tx>
          <c:spPr>
            <a:solidFill>
              <a:srgbClr val="8C93A6"/>
            </a:solidFill>
            <a:effectLst/>
          </c:spPr>
          <c:invertIfNegative val="0"/>
          <c:dLbls>
            <c:numFmt formatCode="0.0&quot;億円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22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93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6B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現状（5期目・MBJ）</c:v>
                  </c:pt>
                  <c:pt idx="1">
                    <c:v>ゴール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2</c:v>
                </c:pt>
              </c:numCache>
            </c:numRef>
          </c:val>
        </c:ser>
        <c:dLbls>
          <c:numFmt formatCode="0.0&quot;億円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C22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3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今回の目的は、シリコンバレーのトップ企業の人事システムを学び、自社にそのまま導入できる形で持ち帰ることです。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目的は人事システムの自社導入。ゴールは一人当たり生産性2億円。見て終わりではなく、自社への落とし込みまで実施します。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現状は5期目のMBJで1人当たり生産性8,000万円弱。ゴールの2億円までは約2.5倍の開きがあります。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問題の根っこは、教育・評価・組織・給与の仕組みが整っていないこと。だからこそ、仕組みを持つトップ企業から学びます。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見学して終わりではなく、スワイプ→タスク化→自社への落とし込みまでを一気通貫で行います。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特に評価システムでは「何をしたら評価され、何をしたら評価されないのか」を明確に持ち帰ります。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自社戦術への落とし込みは、採用の現状把握から。チャネルごと・ターゲットごとに整理します。責任者は松田です。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見学の成果は、帰国後に自社の仕組みとして動いているかどうかで測ります。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シリコンバレー企業見学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世界トップクラスの人事システムを、自社へ持ち帰る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2026年10月　｜　Tesla ・ Google ・ NASA ・ Meta ・ Stanford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なぜ行くのか — 目的とゴール</a:t>
            </a:r>
            <a:endParaRPr lang="en-US" sz="2600" dirty="0"/>
          </a:p>
        </p:txBody>
      </p:sp>
      <p:sp>
        <p:nvSpPr>
          <p:cNvPr id="4" name="purpose card"/>
          <p:cNvSpPr/>
          <p:nvPr/>
        </p:nvSpPr>
        <p:spPr>
          <a:xfrm>
            <a:off x="548640" y="1371600"/>
            <a:ext cx="388620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5" name="purpose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urpo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目的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世界トップクラスの企業の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人事システムを自社に導入する</a:t>
            </a:r>
            <a:endParaRPr lang="en-US" sz="1800" dirty="0"/>
          </a:p>
        </p:txBody>
      </p:sp>
      <p:sp>
        <p:nvSpPr>
          <p:cNvPr id="9" name="goal card"/>
          <p:cNvSpPr/>
          <p:nvPr/>
        </p:nvSpPr>
        <p:spPr>
          <a:xfrm>
            <a:off x="4709160" y="1371600"/>
            <a:ext cx="388620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10" name="goal circle"/>
          <p:cNvSpPr/>
          <p:nvPr/>
        </p:nvSpPr>
        <p:spPr>
          <a:xfrm>
            <a:off x="498348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o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83480" y="2423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ゴール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743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生産性 </a:t>
            </a:r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2億円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 / 人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人事システムをスワイプし、自社への落とし込みまでやり切る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現状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現状は8,000万円弱 — ゴールまで約2.5倍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gap card"/>
          <p:cNvSpPr/>
          <p:nvPr/>
        </p:nvSpPr>
        <p:spPr>
          <a:xfrm>
            <a:off x="5943600" y="146304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1792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ギャップ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×2.5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さらに現状の生産性は下がり続けている。仕組みの作り直しが必要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問題点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生産性が下がり続ける原因は「仕組みがない」こと</a:t>
            </a:r>
            <a:endParaRPr lang="en-US" sz="2600" dirty="0"/>
          </a:p>
        </p:txBody>
      </p:sp>
      <p:sp>
        <p:nvSpPr>
          <p:cNvPr id="4" name="top problem"/>
          <p:cNvSpPr/>
          <p:nvPr/>
        </p:nvSpPr>
        <p:spPr>
          <a:xfrm>
            <a:off x="548640" y="13258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5" name="down bg"/>
          <p:cNvSpPr/>
          <p:nvPr/>
        </p:nvSpPr>
        <p:spPr>
          <a:xfrm>
            <a:off x="685800" y="1389888"/>
            <a:ext cx="420624" cy="420624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down icon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538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325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生産性が下がり続けている（ボトム層が全体を引っ張っている）</a:t>
            </a:r>
            <a:endParaRPr lang="en-US" sz="1600" dirty="0"/>
          </a:p>
        </p:txBody>
      </p:sp>
      <p:sp>
        <p:nvSpPr>
          <p:cNvPr id="8" name="connector 0"/>
          <p:cNvSpPr/>
          <p:nvPr/>
        </p:nvSpPr>
        <p:spPr>
          <a:xfrm>
            <a:off x="2514600" y="1874520"/>
            <a:ext cx="0" cy="274320"/>
          </a:xfrm>
          <a:prstGeom prst="line">
            <a:avLst/>
          </a:prstGeom>
          <a:noFill/>
          <a:ln w="19050">
            <a:solidFill>
              <a:srgbClr val="8C93A6"/>
            </a:solidFill>
            <a:prstDash val="solid"/>
          </a:ln>
        </p:spPr>
      </p:sp>
      <p:sp>
        <p:nvSpPr>
          <p:cNvPr id="9" name="cause card 0"/>
          <p:cNvSpPr/>
          <p:nvPr/>
        </p:nvSpPr>
        <p:spPr>
          <a:xfrm>
            <a:off x="548640" y="2148840"/>
            <a:ext cx="39319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148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生産性のない人材が増えてきた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根本原因</a:t>
            </a:r>
            <a:endParaRPr lang="en-US" sz="1000" dirty="0"/>
          </a:p>
        </p:txBody>
      </p:sp>
      <p:sp>
        <p:nvSpPr>
          <p:cNvPr id="12" name="root 0-0"/>
          <p:cNvSpPr/>
          <p:nvPr/>
        </p:nvSpPr>
        <p:spPr>
          <a:xfrm>
            <a:off x="548640" y="320040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3" name="root border 0-0"/>
          <p:cNvSpPr/>
          <p:nvPr/>
        </p:nvSpPr>
        <p:spPr>
          <a:xfrm>
            <a:off x="548640" y="3200400"/>
            <a:ext cx="3931920" cy="457200"/>
          </a:xfrm>
          <a:prstGeom prst="roundRect">
            <a:avLst>
              <a:gd name="adj" fmla="val 16000"/>
            </a:avLst>
          </a:prstGeom>
          <a:ln w="12700">
            <a:solidFill>
              <a:srgbClr val="D947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教育が行き届いていない</a:t>
            </a:r>
            <a:endParaRPr lang="en-US" sz="1300" dirty="0"/>
          </a:p>
        </p:txBody>
      </p:sp>
      <p:sp>
        <p:nvSpPr>
          <p:cNvPr id="15" name="root 0-1"/>
          <p:cNvSpPr/>
          <p:nvPr/>
        </p:nvSpPr>
        <p:spPr>
          <a:xfrm>
            <a:off x="548640" y="3767328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16" name="root border 0-1"/>
          <p:cNvSpPr/>
          <p:nvPr/>
        </p:nvSpPr>
        <p:spPr>
          <a:xfrm>
            <a:off x="548640" y="3767328"/>
            <a:ext cx="3931920" cy="457200"/>
          </a:xfrm>
          <a:prstGeom prst="roundRect">
            <a:avLst>
              <a:gd name="adj" fmla="val 16000"/>
            </a:avLst>
          </a:prstGeom>
          <a:ln w="12700">
            <a:solidFill>
              <a:srgbClr val="D947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評価制度がない</a:t>
            </a:r>
            <a:endParaRPr lang="en-US" sz="1300" dirty="0"/>
          </a:p>
        </p:txBody>
      </p:sp>
      <p:sp>
        <p:nvSpPr>
          <p:cNvPr id="18" name="connector 1"/>
          <p:cNvSpPr/>
          <p:nvPr/>
        </p:nvSpPr>
        <p:spPr>
          <a:xfrm>
            <a:off x="6629400" y="1874520"/>
            <a:ext cx="0" cy="274320"/>
          </a:xfrm>
          <a:prstGeom prst="line">
            <a:avLst/>
          </a:prstGeom>
          <a:noFill/>
          <a:ln w="19050">
            <a:solidFill>
              <a:srgbClr val="8C93A6"/>
            </a:solidFill>
            <a:prstDash val="solid"/>
          </a:ln>
        </p:spPr>
      </p:sp>
      <p:sp>
        <p:nvSpPr>
          <p:cNvPr id="19" name="cause card 1"/>
          <p:cNvSpPr/>
          <p:nvPr/>
        </p:nvSpPr>
        <p:spPr>
          <a:xfrm>
            <a:off x="4663440" y="2148840"/>
            <a:ext cx="39319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21488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生産性を上げられる人が増えない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根本原因</a:t>
            </a:r>
            <a:endParaRPr lang="en-US" sz="1000" dirty="0"/>
          </a:p>
        </p:txBody>
      </p:sp>
      <p:sp>
        <p:nvSpPr>
          <p:cNvPr id="22" name="root 1-0"/>
          <p:cNvSpPr/>
          <p:nvPr/>
        </p:nvSpPr>
        <p:spPr>
          <a:xfrm>
            <a:off x="4663440" y="3200400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23" name="root border 1-0"/>
          <p:cNvSpPr/>
          <p:nvPr/>
        </p:nvSpPr>
        <p:spPr>
          <a:xfrm>
            <a:off x="4663440" y="3200400"/>
            <a:ext cx="3931920" cy="457200"/>
          </a:xfrm>
          <a:prstGeom prst="roundRect">
            <a:avLst>
              <a:gd name="adj" fmla="val 16000"/>
            </a:avLst>
          </a:prstGeom>
          <a:ln w="12700">
            <a:solidFill>
              <a:srgbClr val="D947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教育が行き届いていない（経営層）</a:t>
            </a:r>
            <a:endParaRPr lang="en-US" sz="1300" dirty="0"/>
          </a:p>
        </p:txBody>
      </p:sp>
      <p:sp>
        <p:nvSpPr>
          <p:cNvPr id="25" name="root 1-1"/>
          <p:cNvSpPr/>
          <p:nvPr/>
        </p:nvSpPr>
        <p:spPr>
          <a:xfrm>
            <a:off x="4663440" y="3767328"/>
            <a:ext cx="39319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26" name="root border 1-1"/>
          <p:cNvSpPr/>
          <p:nvPr/>
        </p:nvSpPr>
        <p:spPr>
          <a:xfrm>
            <a:off x="4663440" y="3767328"/>
            <a:ext cx="3931920" cy="457200"/>
          </a:xfrm>
          <a:prstGeom prst="roundRect">
            <a:avLst>
              <a:gd name="adj" fmla="val 16000"/>
            </a:avLst>
          </a:prstGeom>
          <a:ln w="12700">
            <a:solidFill>
              <a:srgbClr val="D947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9204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評価・組織・給与制度が構築されていない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WE 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やることは4ステップ — 見る・真似る・分解・実行</a:t>
            </a:r>
            <a:endParaRPr lang="en-US" sz="2600" dirty="0"/>
          </a:p>
        </p:txBody>
      </p:sp>
      <p:sp>
        <p:nvSpPr>
          <p:cNvPr id="4" name="step card 1"/>
          <p:cNvSpPr/>
          <p:nvPr/>
        </p:nvSpPr>
        <p:spPr>
          <a:xfrm>
            <a:off x="548640" y="1417320"/>
            <a:ext cx="1828800" cy="2971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step 1 circ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現地見学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Tesla・Google・NASA・Meta・Stanfordの人事の仕組みを現地で学ぶ</a:t>
            </a:r>
            <a:endParaRPr lang="en-US" sz="1100" dirty="0"/>
          </a:p>
        </p:txBody>
      </p:sp>
      <p:sp>
        <p:nvSpPr>
          <p:cNvPr id="10" name="arrow 0"/>
          <p:cNvSpPr/>
          <p:nvPr/>
        </p:nvSpPr>
        <p:spPr>
          <a:xfrm rot="5400000">
            <a:off x="2386584" y="2834640"/>
            <a:ext cx="228600" cy="13716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1" name="step card 2"/>
          <p:cNvSpPr/>
          <p:nvPr/>
        </p:nvSpPr>
        <p:spPr>
          <a:xfrm>
            <a:off x="2624328" y="1417320"/>
            <a:ext cx="1828800" cy="2971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2" name="step 2 circle"/>
          <p:cNvSpPr/>
          <p:nvPr/>
        </p:nvSpPr>
        <p:spPr>
          <a:xfrm>
            <a:off x="2852928" y="16459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518" y="179451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52928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STEP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852928" y="2651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スワイプ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852928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評価・組織・給与・教育・採用の5システムを型ごと真似る</a:t>
            </a:r>
            <a:endParaRPr lang="en-US" sz="1100" dirty="0"/>
          </a:p>
        </p:txBody>
      </p:sp>
      <p:sp>
        <p:nvSpPr>
          <p:cNvPr id="17" name="arrow 1"/>
          <p:cNvSpPr/>
          <p:nvPr/>
        </p:nvSpPr>
        <p:spPr>
          <a:xfrm rot="5400000">
            <a:off x="4462272" y="2834640"/>
            <a:ext cx="228600" cy="13716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8" name="step card 3"/>
          <p:cNvSpPr/>
          <p:nvPr/>
        </p:nvSpPr>
        <p:spPr>
          <a:xfrm>
            <a:off x="4700016" y="1417320"/>
            <a:ext cx="1828800" cy="2971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step 3 circle"/>
          <p:cNvSpPr/>
          <p:nvPr/>
        </p:nvSpPr>
        <p:spPr>
          <a:xfrm>
            <a:off x="4928616" y="16459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206" y="179451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928616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STEP 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928616" y="2651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タスク化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928616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学んだ人事戦術を、誰が・何を・いつまでにやるかに分解</a:t>
            </a:r>
            <a:endParaRPr lang="en-US" sz="1100" dirty="0"/>
          </a:p>
        </p:txBody>
      </p:sp>
      <p:sp>
        <p:nvSpPr>
          <p:cNvPr id="24" name="arrow 2"/>
          <p:cNvSpPr/>
          <p:nvPr/>
        </p:nvSpPr>
        <p:spPr>
          <a:xfrm rot="5400000">
            <a:off x="6537960" y="2834640"/>
            <a:ext cx="228600" cy="13716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5" name="step card 4"/>
          <p:cNvSpPr/>
          <p:nvPr/>
        </p:nvSpPr>
        <p:spPr>
          <a:xfrm>
            <a:off x="6775704" y="1417320"/>
            <a:ext cx="1828800" cy="2971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6" name="step 4 circle"/>
          <p:cNvSpPr/>
          <p:nvPr/>
        </p:nvSpPr>
        <p:spPr>
          <a:xfrm>
            <a:off x="7004304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894" y="1794510"/>
            <a:ext cx="297180" cy="2971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004304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STEP 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7004304" y="2651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自社導入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004304" y="31089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現状把握から始め、自社の仕組みとして導入まで実施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見学で学ぶこと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5社から「5つの人事システム」をスワイプする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見学先</a:t>
            </a:r>
            <a:endParaRPr lang="en-US" sz="1100" dirty="0"/>
          </a:p>
        </p:txBody>
      </p:sp>
      <p:sp>
        <p:nvSpPr>
          <p:cNvPr id="5" name="target Tesla"/>
          <p:cNvSpPr/>
          <p:nvPr/>
        </p:nvSpPr>
        <p:spPr>
          <a:xfrm>
            <a:off x="548640" y="1645920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Tesla</a:t>
            </a:r>
            <a:endParaRPr lang="en-US" sz="1600" dirty="0"/>
          </a:p>
        </p:txBody>
      </p:sp>
      <p:sp>
        <p:nvSpPr>
          <p:cNvPr id="7" name="target Google"/>
          <p:cNvSpPr/>
          <p:nvPr/>
        </p:nvSpPr>
        <p:spPr>
          <a:xfrm>
            <a:off x="548640" y="2212848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Google</a:t>
            </a:r>
            <a:endParaRPr lang="en-US" sz="1600" dirty="0"/>
          </a:p>
        </p:txBody>
      </p:sp>
      <p:sp>
        <p:nvSpPr>
          <p:cNvPr id="9" name="target NASA"/>
          <p:cNvSpPr/>
          <p:nvPr/>
        </p:nvSpPr>
        <p:spPr>
          <a:xfrm>
            <a:off x="548640" y="2779776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NASA</a:t>
            </a:r>
            <a:endParaRPr lang="en-US" sz="1600" dirty="0"/>
          </a:p>
        </p:txBody>
      </p:sp>
      <p:sp>
        <p:nvSpPr>
          <p:cNvPr id="11" name="target Meta"/>
          <p:cNvSpPr/>
          <p:nvPr/>
        </p:nvSpPr>
        <p:spPr>
          <a:xfrm>
            <a:off x="548640" y="3346704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46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Meta</a:t>
            </a:r>
            <a:endParaRPr lang="en-US" sz="1600" dirty="0"/>
          </a:p>
        </p:txBody>
      </p:sp>
      <p:sp>
        <p:nvSpPr>
          <p:cNvPr id="13" name="target Stanford"/>
          <p:cNvSpPr/>
          <p:nvPr/>
        </p:nvSpPr>
        <p:spPr>
          <a:xfrm>
            <a:off x="548640" y="3913632"/>
            <a:ext cx="20116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13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Stanford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1325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学ぶ5システムと、解決したい自社の課題</a:t>
            </a:r>
            <a:endParaRPr lang="en-US" sz="1100" dirty="0"/>
          </a:p>
        </p:txBody>
      </p:sp>
      <p:sp>
        <p:nvSpPr>
          <p:cNvPr id="16" name="sys 評価 circle"/>
          <p:cNvSpPr/>
          <p:nvPr/>
        </p:nvSpPr>
        <p:spPr>
          <a:xfrm>
            <a:off x="2926080" y="168249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ys 評価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1236" y="1787652"/>
            <a:ext cx="210312" cy="2103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3474720" y="164592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評価システム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164592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何をしたら評価され、何をしたら評価されないのか？</a:t>
            </a:r>
            <a:endParaRPr lang="en-US" sz="1200" dirty="0"/>
          </a:p>
        </p:txBody>
      </p:sp>
      <p:sp>
        <p:nvSpPr>
          <p:cNvPr id="20" name="sys 組織 circle"/>
          <p:cNvSpPr/>
          <p:nvPr/>
        </p:nvSpPr>
        <p:spPr>
          <a:xfrm>
            <a:off x="2926080" y="224942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sys 組織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236" y="2354580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474720" y="221284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組織システム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937760" y="221284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生産性を上げる人が育つ組織の形</a:t>
            </a:r>
            <a:endParaRPr lang="en-US" sz="1200" dirty="0"/>
          </a:p>
        </p:txBody>
      </p:sp>
      <p:sp>
        <p:nvSpPr>
          <p:cNvPr id="24" name="sys 給与 circle"/>
          <p:cNvSpPr/>
          <p:nvPr/>
        </p:nvSpPr>
        <p:spPr>
          <a:xfrm>
            <a:off x="2926080" y="2816352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sys 給与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236" y="2921508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474720" y="277977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給与システム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937760" y="277977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成果と報酬をどう結びつけているか</a:t>
            </a:r>
            <a:endParaRPr lang="en-US" sz="1200" dirty="0"/>
          </a:p>
        </p:txBody>
      </p:sp>
      <p:sp>
        <p:nvSpPr>
          <p:cNvPr id="28" name="sys 教育 circle"/>
          <p:cNvSpPr/>
          <p:nvPr/>
        </p:nvSpPr>
        <p:spPr>
          <a:xfrm>
            <a:off x="2926080" y="33832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sys 教育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236" y="3488436"/>
            <a:ext cx="210312" cy="21031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474720" y="334670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教育システム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4937760" y="334670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経営層〜現場まで教育を行き届かせる方法</a:t>
            </a:r>
            <a:endParaRPr lang="en-US" sz="1200" dirty="0"/>
          </a:p>
        </p:txBody>
      </p:sp>
      <p:sp>
        <p:nvSpPr>
          <p:cNvPr id="32" name="sys 採用 circle"/>
          <p:cNvSpPr/>
          <p:nvPr/>
        </p:nvSpPr>
        <p:spPr>
          <a:xfrm>
            <a:off x="2926080" y="3950208"/>
            <a:ext cx="420624" cy="42062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3" name="sys 採用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1236" y="4055364"/>
            <a:ext cx="210312" cy="21031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3474720" y="391363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採用システム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4937760" y="39136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生産性の高い人材をどう見極め、集めるか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自社への落とし込み ｜ 責任者：松田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帰国後はまず「採用の現状把握」から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① 採用チャネル（媒体）</a:t>
            </a:r>
            <a:endParaRPr lang="en-US" sz="1300" dirty="0"/>
          </a:p>
        </p:txBody>
      </p:sp>
      <p:sp>
        <p:nvSpPr>
          <p:cNvPr id="5" name="channel 0"/>
          <p:cNvSpPr/>
          <p:nvPr/>
        </p:nvSpPr>
        <p:spPr>
          <a:xfrm>
            <a:off x="548640" y="1691640"/>
            <a:ext cx="4754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6" name="channel dot 0"/>
          <p:cNvSpPr/>
          <p:nvPr/>
        </p:nvSpPr>
        <p:spPr>
          <a:xfrm>
            <a:off x="731520" y="1965960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764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人材紹介会社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084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DYM ／ ネオキャリア ／ イングリウッド ／ Spica Rink</a:t>
            </a:r>
            <a:endParaRPr lang="en-US" sz="1100" dirty="0"/>
          </a:p>
        </p:txBody>
      </p:sp>
      <p:sp>
        <p:nvSpPr>
          <p:cNvPr id="9" name="channel 1"/>
          <p:cNvSpPr/>
          <p:nvPr/>
        </p:nvSpPr>
        <p:spPr>
          <a:xfrm>
            <a:off x="548640" y="2606040"/>
            <a:ext cx="4754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channel dot 1"/>
          <p:cNvSpPr/>
          <p:nvPr/>
        </p:nvSpPr>
        <p:spPr>
          <a:xfrm>
            <a:off x="731520" y="2880360"/>
            <a:ext cx="228600" cy="2286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2679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求人媒体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利用中の媒体を洗い出し、効果を比較</a:t>
            </a:r>
            <a:endParaRPr lang="en-US" sz="1100" dirty="0"/>
          </a:p>
        </p:txBody>
      </p:sp>
      <p:sp>
        <p:nvSpPr>
          <p:cNvPr id="13" name="channel 2"/>
          <p:cNvSpPr/>
          <p:nvPr/>
        </p:nvSpPr>
        <p:spPr>
          <a:xfrm>
            <a:off x="548640" y="3520440"/>
            <a:ext cx="47548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4" name="channel dot 2"/>
          <p:cNvSpPr/>
          <p:nvPr/>
        </p:nvSpPr>
        <p:spPr>
          <a:xfrm>
            <a:off x="731520" y="3794760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3593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自社発信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913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Instagram ／ YouTube ／ Facebook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② 採用ターゲット（求職者）</a:t>
            </a:r>
            <a:endParaRPr lang="en-US" sz="1300" dirty="0"/>
          </a:p>
        </p:txBody>
      </p:sp>
      <p:sp>
        <p:nvSpPr>
          <p:cNvPr id="18" name="segment card"/>
          <p:cNvSpPr/>
          <p:nvPr/>
        </p:nvSpPr>
        <p:spPr>
          <a:xfrm>
            <a:off x="5669280" y="1691640"/>
            <a:ext cx="2926080" cy="260604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/>
        </p:spPr>
      </p:sp>
      <p:sp>
        <p:nvSpPr>
          <p:cNvPr id="19" name="segment 0 circle"/>
          <p:cNvSpPr/>
          <p:nvPr/>
        </p:nvSpPr>
        <p:spPr>
          <a:xfrm>
            <a:off x="585216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egmen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6460" y="2034540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46520" y="1874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新卒大学生</a:t>
            </a:r>
            <a:endParaRPr lang="en-US" sz="1500" dirty="0"/>
          </a:p>
        </p:txBody>
      </p:sp>
      <p:sp>
        <p:nvSpPr>
          <p:cNvPr id="22" name="segment 1 circle"/>
          <p:cNvSpPr/>
          <p:nvPr/>
        </p:nvSpPr>
        <p:spPr>
          <a:xfrm>
            <a:off x="5852160" y="2697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egmen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811780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44652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理学療法士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新卒 ／ 中途</a:t>
            </a:r>
            <a:endParaRPr lang="en-US" sz="1500" dirty="0"/>
          </a:p>
        </p:txBody>
      </p:sp>
      <p:sp>
        <p:nvSpPr>
          <p:cNvPr id="25" name="segment 2 circle"/>
          <p:cNvSpPr/>
          <p:nvPr/>
        </p:nvSpPr>
        <p:spPr>
          <a:xfrm>
            <a:off x="5852160" y="3474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segmen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358902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44652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第2新卒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チャネル × ターゲットごとに現状を整理し、学んだ仕組みを当てはめる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見て終わりにしない。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仕組みにして、生産性2億円/人へ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学ぶ → スワイプ → タスク化 → 自社導入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licon Valley Visit">
  <a:themeElements>
    <a:clrScheme name="Silicon Valley Visit">
      <a:dk1>
        <a:srgbClr val="1C2230"/>
      </a:dk1>
      <a:lt1>
        <a:srgbClr val="FFFFFF"/>
      </a:lt1>
      <a:dk2>
        <a:srgbClr val="4A5368"/>
      </a:dk2>
      <a:lt2>
        <a:srgbClr val="F3F4F7"/>
      </a:lt2>
      <a:accent1>
        <a:srgbClr val="F26B3A"/>
      </a:accent1>
      <a:accent2>
        <a:srgbClr val="1FA39A"/>
      </a:accent2>
      <a:accent3>
        <a:srgbClr val="3D5A99"/>
      </a:accent3>
      <a:accent4>
        <a:srgbClr val="F2B33A"/>
      </a:accent4>
      <a:accent5>
        <a:srgbClr val="8C93A6"/>
      </a:accent5>
      <a:accent6>
        <a:srgbClr val="D9475A"/>
      </a:accent6>
      <a:hlink>
        <a:srgbClr val="1FA39A"/>
      </a:hlink>
      <a:folHlink>
        <a:srgbClr val="8C93A6"/>
      </a:folHlink>
    </a:clrScheme>
    <a:fontScheme name="Silicon Valley Visit">
      <a:majorFont>
        <a:latin typeface="Hiragino Sans"/>
        <a:ea typeface="Hiragino Sans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Hiragino San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シリコンバレー企業見学 2026年10月</dc:title>
  <dc:subject>PptxGenJS Presentation</dc:subject>
  <dc:creator>PptxGenJS</dc:creator>
  <cp:lastModifiedBy>PptxGenJS</cp:lastModifiedBy>
  <cp:revision>1</cp:revision>
  <dcterms:created xsi:type="dcterms:W3CDTF">2026-10-14T10:08:33Z</dcterms:created>
  <dcterms:modified xsi:type="dcterms:W3CDTF">2026-10-14T10:08:33Z</dcterms:modified>
</cp:coreProperties>
</file>