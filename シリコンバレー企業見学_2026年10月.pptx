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イントロ" id="{49791d2c-6166-09ca-485d-3adfd4c623f8}">
          <p14:sldIdLst>
            <p14:sldId id="256"/>
          </p14:sldIdLst>
        </p14:section>
        <p14:section name="Why" id="{bb60f9a9-2ad9-26d6-bfe0-3a0c35b207a8}">
          <p14:sldIdLst>
            <p14:sldId id="257"/>
            <p14:sldId id="258"/>
            <p14:sldId id="259"/>
          </p14:sldIdLst>
        </p14:section>
        <p14:section name="アクション" id="{fbd062da-64c9-dca6-7ed0-2775c6b0ea3e}">
          <p14:sldIdLst>
            <p14:sldId id="260"/>
            <p14:sldId id="261"/>
            <p14:sldId id="262"/>
          </p14:sldIdLst>
        </p14:section>
        <p14:section name="まとめ" id="{4349f1a6-159c-09d6-71c8-30c4a46a8c03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4A5368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4A5368"/>
                </a:solidFill>
                <a:latin typeface="+mn-lt"/>
              </a:rPr>
              <a:t>1人当たり生産性（億円）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1人当たり生産性</c:v>
                </c:pt>
              </c:strCache>
            </c:strRef>
          </c:tx>
          <c:spPr>
            <a:solidFill>
              <a:srgbClr val="8C93A6"/>
            </a:solidFill>
            <a:effectLst/>
          </c:spPr>
          <c:invertIfNegative val="0"/>
          <c:dLbls>
            <c:numFmt formatCode="0.0&quot;億円&quot;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C22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C93A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26B3A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現状（5期目・MBJ）</c:v>
                  </c:pt>
                  <c:pt idx="1">
                    <c:v>ゴール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0.8</c:v>
                </c:pt>
                <c:pt idx="1">
                  <c:v>2</c:v>
                </c:pt>
              </c:numCache>
            </c:numRef>
          </c:val>
        </c:ser>
        <c:dLbls>
          <c:numFmt formatCode="0.0&quot;億円&quot;" sourceLinked="0"/>
          <c:txPr>
            <a:bodyPr/>
            <a:lstStyle/>
            <a:p>
              <a:pPr>
                <a:defRPr b="1" i="0" strike="noStrike" sz="1400" u="none">
                  <a:solidFill>
                    <a:srgbClr val="1C22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3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.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今回の目的は、シリコンバレーのトップ企業の人事システムを学び、自社にそのまま導入できる形で持ち帰ることです。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目的は人事システムの自社導入。ゴールは一人当たり生産性2億円。見て終わりではなく、自社への落とし込みまで実施します。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現状は5期目のMBJで1人当たり生産性8,000万円弱。ゴールの2億円までは約2.5倍の開きがあります。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問題の根っこは、教育・評価・組織・給与の仕組みが整っていないこと。だからこそ、仕組みを持つトップ企業から学びます。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見学して終わりではなく、スワイプ→タスク化→自社への落とし込みまでを一気通貫で行います。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特に評価システムでは「何をしたら評価され、何をしたら評価されないのか」を明確に持ち帰ります。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自社戦術への落とし込みは、採用の現状把握から。チャネルごと・ターゲットごとに整理します。責任者は松田です。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見学の成果は、帰国後に自社の仕組みとして動いているかどうかで測ります。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 Titl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0467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48640"/>
            <a:ext cx="804672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lan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85800"/>
            <a:ext cx="548640" cy="54864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シリコンバレー企業見学</a:t>
            </a:r>
            <a:endParaRPr lang="en-US" sz="36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743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世界トップクラスの人事システムを、自社へ持ち帰る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2062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2026年10月　｜　Google ・ Meta ・ Stanford ・ Tesla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WHY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4864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なぜ行くのか — 目的とゴール</a:t>
            </a:r>
            <a:endParaRPr lang="en-US" sz="2600" dirty="0"/>
          </a:p>
        </p:txBody>
      </p:sp>
      <p:sp>
        <p:nvSpPr>
          <p:cNvPr id="4" name="purpose card"/>
          <p:cNvSpPr/>
          <p:nvPr/>
        </p:nvSpPr>
        <p:spPr>
          <a:xfrm>
            <a:off x="548640" y="1371600"/>
            <a:ext cx="3886200" cy="3017520"/>
          </a:xfrm>
          <a:prstGeom prst="roundRect">
            <a:avLst>
              <a:gd name="adj" fmla="val 2424"/>
            </a:avLst>
          </a:prstGeom>
          <a:solidFill>
            <a:schemeClr val="bg2"/>
          </a:solidFill>
          <a:ln/>
        </p:spPr>
      </p:sp>
      <p:sp>
        <p:nvSpPr>
          <p:cNvPr id="5" name="purpose circle"/>
          <p:cNvSpPr/>
          <p:nvPr/>
        </p:nvSpPr>
        <p:spPr>
          <a:xfrm>
            <a:off x="822960" y="164592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6" name="purpos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1805940"/>
            <a:ext cx="320040" cy="320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24231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目的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78892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世界トップクラスの企業の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人事システムを自社に導入する</a:t>
            </a:r>
            <a:endParaRPr lang="en-US" sz="1800" dirty="0"/>
          </a:p>
        </p:txBody>
      </p:sp>
      <p:sp>
        <p:nvSpPr>
          <p:cNvPr id="9" name="goal card"/>
          <p:cNvSpPr/>
          <p:nvPr/>
        </p:nvSpPr>
        <p:spPr>
          <a:xfrm>
            <a:off x="4709160" y="1371600"/>
            <a:ext cx="3886200" cy="3017520"/>
          </a:xfrm>
          <a:prstGeom prst="roundRect">
            <a:avLst>
              <a:gd name="adj" fmla="val 2424"/>
            </a:avLst>
          </a:prstGeom>
          <a:solidFill>
            <a:schemeClr val="tx1"/>
          </a:solidFill>
          <a:ln/>
        </p:spPr>
      </p:sp>
      <p:sp>
        <p:nvSpPr>
          <p:cNvPr id="10" name="goal circle"/>
          <p:cNvSpPr/>
          <p:nvPr/>
        </p:nvSpPr>
        <p:spPr>
          <a:xfrm>
            <a:off x="4983480" y="16459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goal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0" y="1805940"/>
            <a:ext cx="320040" cy="3200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983480" y="24231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ゴール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4983480" y="274320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生産性 </a:t>
            </a:r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2億円</a:t>
            </a:r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 / 人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4983480" y="36118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人事システムをスワイプし、自社への落とし込みまでやり切る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現状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4864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現状は8,000万円弱 — ゴールまで約2.5倍</a:t>
            </a:r>
            <a:endParaRPr lang="en-US" sz="2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325880"/>
          <a:ext cx="51206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gap card"/>
          <p:cNvSpPr/>
          <p:nvPr/>
        </p:nvSpPr>
        <p:spPr>
          <a:xfrm>
            <a:off x="5943600" y="1463040"/>
            <a:ext cx="2651760" cy="292608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217920" y="16916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ギャップ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217920" y="20116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×2.5</a:t>
            </a:r>
            <a:endParaRPr lang="en-US" sz="5400" dirty="0"/>
          </a:p>
        </p:txBody>
      </p:sp>
      <p:sp>
        <p:nvSpPr>
          <p:cNvPr id="8" name="Text 5"/>
          <p:cNvSpPr txBox="1"/>
          <p:nvPr/>
        </p:nvSpPr>
        <p:spPr>
          <a:xfrm>
            <a:off x="6217920" y="301752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さらに現状の生産性は下がり続けている。仕組みの作り直しが必要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問題点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4864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生産性が下がり続ける原因は「仕組みがない」こと</a:t>
            </a:r>
            <a:endParaRPr lang="en-US" sz="2600" dirty="0"/>
          </a:p>
        </p:txBody>
      </p:sp>
      <p:sp>
        <p:nvSpPr>
          <p:cNvPr id="4" name="top problem"/>
          <p:cNvSpPr/>
          <p:nvPr/>
        </p:nvSpPr>
        <p:spPr>
          <a:xfrm>
            <a:off x="548640" y="1325880"/>
            <a:ext cx="8046720" cy="548640"/>
          </a:xfrm>
          <a:prstGeom prst="roundRect">
            <a:avLst>
              <a:gd name="adj" fmla="val 13333"/>
            </a:avLst>
          </a:prstGeom>
          <a:solidFill>
            <a:schemeClr val="accent6"/>
          </a:solidFill>
          <a:ln/>
        </p:spPr>
      </p:sp>
      <p:sp>
        <p:nvSpPr>
          <p:cNvPr id="5" name="down bg"/>
          <p:cNvSpPr/>
          <p:nvPr/>
        </p:nvSpPr>
        <p:spPr>
          <a:xfrm>
            <a:off x="685800" y="1389888"/>
            <a:ext cx="420624" cy="420624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6" name="down icon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453896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34440" y="132588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生産性が下がり続けている（ボトム層が全体を引っ張っている）</a:t>
            </a:r>
            <a:endParaRPr lang="en-US" sz="1600" dirty="0"/>
          </a:p>
        </p:txBody>
      </p:sp>
      <p:sp>
        <p:nvSpPr>
          <p:cNvPr id="8" name="connector 0"/>
          <p:cNvSpPr/>
          <p:nvPr/>
        </p:nvSpPr>
        <p:spPr>
          <a:xfrm>
            <a:off x="2514600" y="1874520"/>
            <a:ext cx="0" cy="274320"/>
          </a:xfrm>
          <a:prstGeom prst="line">
            <a:avLst/>
          </a:prstGeom>
          <a:noFill/>
          <a:ln w="19050">
            <a:solidFill>
              <a:srgbClr val="8C93A6"/>
            </a:solidFill>
            <a:prstDash val="solid"/>
          </a:ln>
        </p:spPr>
      </p:sp>
      <p:sp>
        <p:nvSpPr>
          <p:cNvPr id="9" name="cause card 0"/>
          <p:cNvSpPr/>
          <p:nvPr/>
        </p:nvSpPr>
        <p:spPr>
          <a:xfrm>
            <a:off x="548640" y="2148840"/>
            <a:ext cx="3931920" cy="594360"/>
          </a:xfrm>
          <a:prstGeom prst="roundRect">
            <a:avLst>
              <a:gd name="adj" fmla="val 12308"/>
            </a:avLst>
          </a:prstGeom>
          <a:solidFill>
            <a:schemeClr val="bg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77240" y="214884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生産性のない人材が増えてきた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29260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根本原因</a:t>
            </a:r>
            <a:endParaRPr lang="en-US" sz="1000" dirty="0"/>
          </a:p>
        </p:txBody>
      </p:sp>
      <p:sp>
        <p:nvSpPr>
          <p:cNvPr id="12" name="root 0-0"/>
          <p:cNvSpPr/>
          <p:nvPr/>
        </p:nvSpPr>
        <p:spPr>
          <a:xfrm>
            <a:off x="548640" y="3200400"/>
            <a:ext cx="3931920" cy="457200"/>
          </a:xfrm>
          <a:prstGeom prst="roundRect">
            <a:avLst>
              <a:gd name="adj" fmla="val 16000"/>
            </a:avLst>
          </a:prstGeom>
          <a:solidFill>
            <a:schemeClr val="bg1"/>
          </a:solidFill>
          <a:ln/>
        </p:spPr>
      </p:sp>
      <p:sp>
        <p:nvSpPr>
          <p:cNvPr id="13" name="root border 0-0"/>
          <p:cNvSpPr/>
          <p:nvPr/>
        </p:nvSpPr>
        <p:spPr>
          <a:xfrm>
            <a:off x="548640" y="3200400"/>
            <a:ext cx="3931920" cy="457200"/>
          </a:xfrm>
          <a:prstGeom prst="roundRect">
            <a:avLst>
              <a:gd name="adj" fmla="val 16000"/>
            </a:avLst>
          </a:prstGeom>
          <a:ln w="12700">
            <a:solidFill>
              <a:srgbClr val="D9475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32004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教育が行き届いていない</a:t>
            </a:r>
            <a:endParaRPr lang="en-US" sz="1300" dirty="0"/>
          </a:p>
        </p:txBody>
      </p:sp>
      <p:sp>
        <p:nvSpPr>
          <p:cNvPr id="15" name="root 0-1"/>
          <p:cNvSpPr/>
          <p:nvPr/>
        </p:nvSpPr>
        <p:spPr>
          <a:xfrm>
            <a:off x="548640" y="3767328"/>
            <a:ext cx="3931920" cy="457200"/>
          </a:xfrm>
          <a:prstGeom prst="roundRect">
            <a:avLst>
              <a:gd name="adj" fmla="val 16000"/>
            </a:avLst>
          </a:prstGeom>
          <a:solidFill>
            <a:schemeClr val="bg1"/>
          </a:solidFill>
          <a:ln/>
        </p:spPr>
      </p:sp>
      <p:sp>
        <p:nvSpPr>
          <p:cNvPr id="16" name="root border 0-1"/>
          <p:cNvSpPr/>
          <p:nvPr/>
        </p:nvSpPr>
        <p:spPr>
          <a:xfrm>
            <a:off x="548640" y="3767328"/>
            <a:ext cx="3931920" cy="457200"/>
          </a:xfrm>
          <a:prstGeom prst="roundRect">
            <a:avLst>
              <a:gd name="adj" fmla="val 16000"/>
            </a:avLst>
          </a:prstGeom>
          <a:ln w="12700">
            <a:solidFill>
              <a:srgbClr val="D9475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77240" y="376732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評価制度がない</a:t>
            </a:r>
            <a:endParaRPr lang="en-US" sz="1300" dirty="0"/>
          </a:p>
        </p:txBody>
      </p:sp>
      <p:sp>
        <p:nvSpPr>
          <p:cNvPr id="18" name="connector 1"/>
          <p:cNvSpPr/>
          <p:nvPr/>
        </p:nvSpPr>
        <p:spPr>
          <a:xfrm>
            <a:off x="6629400" y="1874520"/>
            <a:ext cx="0" cy="274320"/>
          </a:xfrm>
          <a:prstGeom prst="line">
            <a:avLst/>
          </a:prstGeom>
          <a:noFill/>
          <a:ln w="19050">
            <a:solidFill>
              <a:srgbClr val="8C93A6"/>
            </a:solidFill>
            <a:prstDash val="solid"/>
          </a:ln>
        </p:spPr>
      </p:sp>
      <p:sp>
        <p:nvSpPr>
          <p:cNvPr id="19" name="cause card 1"/>
          <p:cNvSpPr/>
          <p:nvPr/>
        </p:nvSpPr>
        <p:spPr>
          <a:xfrm>
            <a:off x="4663440" y="2148840"/>
            <a:ext cx="3931920" cy="594360"/>
          </a:xfrm>
          <a:prstGeom prst="roundRect">
            <a:avLst>
              <a:gd name="adj" fmla="val 12308"/>
            </a:avLst>
          </a:prstGeom>
          <a:solidFill>
            <a:schemeClr val="bg2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892040" y="214884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生産性を上げられる人が増えない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4663440" y="29260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根本原因</a:t>
            </a:r>
            <a:endParaRPr lang="en-US" sz="1000" dirty="0"/>
          </a:p>
        </p:txBody>
      </p:sp>
      <p:sp>
        <p:nvSpPr>
          <p:cNvPr id="22" name="root 1-0"/>
          <p:cNvSpPr/>
          <p:nvPr/>
        </p:nvSpPr>
        <p:spPr>
          <a:xfrm>
            <a:off x="4663440" y="3200400"/>
            <a:ext cx="3931920" cy="457200"/>
          </a:xfrm>
          <a:prstGeom prst="roundRect">
            <a:avLst>
              <a:gd name="adj" fmla="val 16000"/>
            </a:avLst>
          </a:prstGeom>
          <a:solidFill>
            <a:schemeClr val="bg1"/>
          </a:solidFill>
          <a:ln/>
        </p:spPr>
      </p:sp>
      <p:sp>
        <p:nvSpPr>
          <p:cNvPr id="23" name="root border 1-0"/>
          <p:cNvSpPr/>
          <p:nvPr/>
        </p:nvSpPr>
        <p:spPr>
          <a:xfrm>
            <a:off x="4663440" y="3200400"/>
            <a:ext cx="3931920" cy="457200"/>
          </a:xfrm>
          <a:prstGeom prst="roundRect">
            <a:avLst>
              <a:gd name="adj" fmla="val 16000"/>
            </a:avLst>
          </a:prstGeom>
          <a:ln w="12700">
            <a:solidFill>
              <a:srgbClr val="D9475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892040" y="32004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教育が行き届いていない（経営層）</a:t>
            </a:r>
            <a:endParaRPr lang="en-US" sz="1300" dirty="0"/>
          </a:p>
        </p:txBody>
      </p:sp>
      <p:sp>
        <p:nvSpPr>
          <p:cNvPr id="25" name="root 1-1"/>
          <p:cNvSpPr/>
          <p:nvPr/>
        </p:nvSpPr>
        <p:spPr>
          <a:xfrm>
            <a:off x="4663440" y="3767328"/>
            <a:ext cx="3931920" cy="457200"/>
          </a:xfrm>
          <a:prstGeom prst="roundRect">
            <a:avLst>
              <a:gd name="adj" fmla="val 16000"/>
            </a:avLst>
          </a:prstGeom>
          <a:solidFill>
            <a:schemeClr val="bg1"/>
          </a:solidFill>
          <a:ln/>
        </p:spPr>
      </p:sp>
      <p:sp>
        <p:nvSpPr>
          <p:cNvPr id="26" name="root border 1-1"/>
          <p:cNvSpPr/>
          <p:nvPr/>
        </p:nvSpPr>
        <p:spPr>
          <a:xfrm>
            <a:off x="4663440" y="3767328"/>
            <a:ext cx="3931920" cy="457200"/>
          </a:xfrm>
          <a:prstGeom prst="roundRect">
            <a:avLst>
              <a:gd name="adj" fmla="val 16000"/>
            </a:avLst>
          </a:prstGeom>
          <a:ln w="12700">
            <a:solidFill>
              <a:srgbClr val="D9475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892040" y="376732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評価・組織・給与制度が構築されていない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WHAT WE DO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4864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やることは4ステップ — 見る・真似る・分解・実行</a:t>
            </a:r>
            <a:endParaRPr lang="en-US" sz="2600" dirty="0"/>
          </a:p>
        </p:txBody>
      </p:sp>
      <p:sp>
        <p:nvSpPr>
          <p:cNvPr id="4" name="step card 1"/>
          <p:cNvSpPr/>
          <p:nvPr/>
        </p:nvSpPr>
        <p:spPr>
          <a:xfrm>
            <a:off x="548640" y="1417320"/>
            <a:ext cx="1828800" cy="2971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5" name="step 1 circle"/>
          <p:cNvSpPr/>
          <p:nvPr/>
        </p:nvSpPr>
        <p:spPr>
          <a:xfrm>
            <a:off x="777240" y="1645920"/>
            <a:ext cx="594360" cy="59436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6" name="step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5830" y="1794510"/>
            <a:ext cx="297180" cy="2971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3774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STEP 1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65176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現地見学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108960"/>
            <a:ext cx="1463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Google・Meta・Stanford・Teslaの人事の仕組みを現地で学ぶ</a:t>
            </a:r>
            <a:endParaRPr lang="en-US" sz="1100" dirty="0"/>
          </a:p>
        </p:txBody>
      </p:sp>
      <p:sp>
        <p:nvSpPr>
          <p:cNvPr id="10" name="arrow 0"/>
          <p:cNvSpPr/>
          <p:nvPr/>
        </p:nvSpPr>
        <p:spPr>
          <a:xfrm rot="5400000">
            <a:off x="2386584" y="2834640"/>
            <a:ext cx="228600" cy="137160"/>
          </a:xfrm>
          <a:prstGeom prst="triangle">
            <a:avLst/>
          </a:prstGeom>
          <a:solidFill>
            <a:schemeClr val="accent5"/>
          </a:solidFill>
          <a:ln/>
        </p:spPr>
      </p:sp>
      <p:sp>
        <p:nvSpPr>
          <p:cNvPr id="11" name="step card 2"/>
          <p:cNvSpPr/>
          <p:nvPr/>
        </p:nvSpPr>
        <p:spPr>
          <a:xfrm>
            <a:off x="2624328" y="1417320"/>
            <a:ext cx="1828800" cy="2971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12" name="step 2 circle"/>
          <p:cNvSpPr/>
          <p:nvPr/>
        </p:nvSpPr>
        <p:spPr>
          <a:xfrm>
            <a:off x="2852928" y="1645920"/>
            <a:ext cx="594360" cy="5943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3" name="step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1518" y="1794510"/>
            <a:ext cx="297180" cy="29718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2852928" y="23774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STEP 2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2852928" y="265176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スワイプ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2852928" y="3108960"/>
            <a:ext cx="1463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評価・組織・給与・教育・採用の5システムを型ごと真似る</a:t>
            </a:r>
            <a:endParaRPr lang="en-US" sz="1100" dirty="0"/>
          </a:p>
        </p:txBody>
      </p:sp>
      <p:sp>
        <p:nvSpPr>
          <p:cNvPr id="17" name="arrow 1"/>
          <p:cNvSpPr/>
          <p:nvPr/>
        </p:nvSpPr>
        <p:spPr>
          <a:xfrm rot="5400000">
            <a:off x="4462272" y="2834640"/>
            <a:ext cx="228600" cy="137160"/>
          </a:xfrm>
          <a:prstGeom prst="triangle">
            <a:avLst/>
          </a:prstGeom>
          <a:solidFill>
            <a:schemeClr val="accent5"/>
          </a:solidFill>
          <a:ln/>
        </p:spPr>
      </p:sp>
      <p:sp>
        <p:nvSpPr>
          <p:cNvPr id="18" name="step card 3"/>
          <p:cNvSpPr/>
          <p:nvPr/>
        </p:nvSpPr>
        <p:spPr>
          <a:xfrm>
            <a:off x="4700016" y="1417320"/>
            <a:ext cx="1828800" cy="2971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19" name="step 3 circle"/>
          <p:cNvSpPr/>
          <p:nvPr/>
        </p:nvSpPr>
        <p:spPr>
          <a:xfrm>
            <a:off x="4928616" y="1645920"/>
            <a:ext cx="594360" cy="59436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0" name="step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7206" y="1794510"/>
            <a:ext cx="297180" cy="29718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4928616" y="23774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STEP 3</a:t>
            </a:r>
            <a:endParaRPr lang="en-US" sz="1000" dirty="0"/>
          </a:p>
        </p:txBody>
      </p:sp>
      <p:sp>
        <p:nvSpPr>
          <p:cNvPr id="22" name="Text 17"/>
          <p:cNvSpPr txBox="1"/>
          <p:nvPr/>
        </p:nvSpPr>
        <p:spPr>
          <a:xfrm>
            <a:off x="4928616" y="265176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タスク化</a:t>
            </a:r>
            <a:endParaRPr lang="en-US" sz="1500" dirty="0"/>
          </a:p>
        </p:txBody>
      </p:sp>
      <p:sp>
        <p:nvSpPr>
          <p:cNvPr id="23" name="Text 18"/>
          <p:cNvSpPr txBox="1"/>
          <p:nvPr/>
        </p:nvSpPr>
        <p:spPr>
          <a:xfrm>
            <a:off x="4928616" y="3108960"/>
            <a:ext cx="1463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学んだ人事戦術を、誰が・何を・いつまでにやるかに分解</a:t>
            </a:r>
            <a:endParaRPr lang="en-US" sz="1100" dirty="0"/>
          </a:p>
        </p:txBody>
      </p:sp>
      <p:sp>
        <p:nvSpPr>
          <p:cNvPr id="24" name="arrow 2"/>
          <p:cNvSpPr/>
          <p:nvPr/>
        </p:nvSpPr>
        <p:spPr>
          <a:xfrm rot="5400000">
            <a:off x="6537960" y="2834640"/>
            <a:ext cx="228600" cy="137160"/>
          </a:xfrm>
          <a:prstGeom prst="triangle">
            <a:avLst/>
          </a:prstGeom>
          <a:solidFill>
            <a:schemeClr val="accent5"/>
          </a:solidFill>
          <a:ln/>
        </p:spPr>
      </p:sp>
      <p:sp>
        <p:nvSpPr>
          <p:cNvPr id="25" name="step card 4"/>
          <p:cNvSpPr/>
          <p:nvPr/>
        </p:nvSpPr>
        <p:spPr>
          <a:xfrm>
            <a:off x="6775704" y="1417320"/>
            <a:ext cx="1828800" cy="2971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26" name="step 4 circle"/>
          <p:cNvSpPr/>
          <p:nvPr/>
        </p:nvSpPr>
        <p:spPr>
          <a:xfrm>
            <a:off x="7004304" y="164592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7" name="step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2894" y="1794510"/>
            <a:ext cx="297180" cy="297180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7004304" y="23774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STEP 4</a:t>
            </a:r>
            <a:endParaRPr lang="en-US" sz="1000" dirty="0"/>
          </a:p>
        </p:txBody>
      </p:sp>
      <p:sp>
        <p:nvSpPr>
          <p:cNvPr id="29" name="Text 23"/>
          <p:cNvSpPr txBox="1"/>
          <p:nvPr/>
        </p:nvSpPr>
        <p:spPr>
          <a:xfrm>
            <a:off x="7004304" y="265176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自社導入</a:t>
            </a:r>
            <a:endParaRPr lang="en-US" sz="1500" dirty="0"/>
          </a:p>
        </p:txBody>
      </p:sp>
      <p:sp>
        <p:nvSpPr>
          <p:cNvPr id="30" name="Text 24"/>
          <p:cNvSpPr txBox="1"/>
          <p:nvPr/>
        </p:nvSpPr>
        <p:spPr>
          <a:xfrm>
            <a:off x="7004304" y="3108960"/>
            <a:ext cx="1463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現状把握から始め、自社の仕組みとして導入まで実施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見学で学ぶこと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4864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4社から「5つの人事システム」をスワイプする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見学先</a:t>
            </a:r>
            <a:endParaRPr lang="en-US" sz="1100" dirty="0"/>
          </a:p>
        </p:txBody>
      </p:sp>
      <p:sp>
        <p:nvSpPr>
          <p:cNvPr id="5" name="target Google"/>
          <p:cNvSpPr/>
          <p:nvPr/>
        </p:nvSpPr>
        <p:spPr>
          <a:xfrm>
            <a:off x="548640" y="1645920"/>
            <a:ext cx="2011680" cy="566928"/>
          </a:xfrm>
          <a:prstGeom prst="roundRect">
            <a:avLst>
              <a:gd name="adj" fmla="val 12903"/>
            </a:avLst>
          </a:prstGeom>
          <a:solidFill>
            <a:schemeClr val="tx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164592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Google</a:t>
            </a:r>
            <a:endParaRPr lang="en-US" sz="1600" dirty="0"/>
          </a:p>
        </p:txBody>
      </p:sp>
      <p:sp>
        <p:nvSpPr>
          <p:cNvPr id="7" name="target Meta"/>
          <p:cNvSpPr/>
          <p:nvPr/>
        </p:nvSpPr>
        <p:spPr>
          <a:xfrm>
            <a:off x="548640" y="2359152"/>
            <a:ext cx="2011680" cy="566928"/>
          </a:xfrm>
          <a:prstGeom prst="roundRect">
            <a:avLst>
              <a:gd name="adj" fmla="val 12903"/>
            </a:avLst>
          </a:prstGeom>
          <a:solidFill>
            <a:schemeClr val="tx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35915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Meta</a:t>
            </a:r>
            <a:endParaRPr lang="en-US" sz="1600" dirty="0"/>
          </a:p>
        </p:txBody>
      </p:sp>
      <p:sp>
        <p:nvSpPr>
          <p:cNvPr id="9" name="target Stanford"/>
          <p:cNvSpPr/>
          <p:nvPr/>
        </p:nvSpPr>
        <p:spPr>
          <a:xfrm>
            <a:off x="548640" y="3072384"/>
            <a:ext cx="2011680" cy="566928"/>
          </a:xfrm>
          <a:prstGeom prst="roundRect">
            <a:avLst>
              <a:gd name="adj" fmla="val 12903"/>
            </a:avLst>
          </a:prstGeom>
          <a:solidFill>
            <a:schemeClr val="tx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072384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Stanford</a:t>
            </a:r>
            <a:endParaRPr lang="en-US" sz="1600" dirty="0"/>
          </a:p>
        </p:txBody>
      </p:sp>
      <p:sp>
        <p:nvSpPr>
          <p:cNvPr id="11" name="target Tesla"/>
          <p:cNvSpPr/>
          <p:nvPr/>
        </p:nvSpPr>
        <p:spPr>
          <a:xfrm>
            <a:off x="548640" y="3785616"/>
            <a:ext cx="2011680" cy="566928"/>
          </a:xfrm>
          <a:prstGeom prst="roundRect">
            <a:avLst>
              <a:gd name="adj" fmla="val 12903"/>
            </a:avLst>
          </a:prstGeom>
          <a:solidFill>
            <a:schemeClr val="tx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378561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Tesla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2926080" y="132588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学ぶ5システムと、解決したい自社の課題</a:t>
            </a:r>
            <a:endParaRPr lang="en-US" sz="1100" dirty="0"/>
          </a:p>
        </p:txBody>
      </p:sp>
      <p:sp>
        <p:nvSpPr>
          <p:cNvPr id="14" name="sys 評価 circle"/>
          <p:cNvSpPr/>
          <p:nvPr/>
        </p:nvSpPr>
        <p:spPr>
          <a:xfrm>
            <a:off x="2926080" y="1682496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sys 評価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31236" y="1787652"/>
            <a:ext cx="210312" cy="210312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3474720" y="1645920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評価システム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937760" y="1645920"/>
            <a:ext cx="3657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何をしたら評価され、何をしたら評価されないのか？</a:t>
            </a:r>
            <a:endParaRPr lang="en-US" sz="1200" dirty="0"/>
          </a:p>
        </p:txBody>
      </p:sp>
      <p:sp>
        <p:nvSpPr>
          <p:cNvPr id="18" name="sys 組織 circle"/>
          <p:cNvSpPr/>
          <p:nvPr/>
        </p:nvSpPr>
        <p:spPr>
          <a:xfrm>
            <a:off x="2926080" y="2249424"/>
            <a:ext cx="420624" cy="420624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9" name="sys 組織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1236" y="2354580"/>
            <a:ext cx="210312" cy="210312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3474720" y="2212848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組織システム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4937760" y="2212848"/>
            <a:ext cx="3657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生産性を上げる人が育つ組織の形</a:t>
            </a:r>
            <a:endParaRPr lang="en-US" sz="1200" dirty="0"/>
          </a:p>
        </p:txBody>
      </p:sp>
      <p:sp>
        <p:nvSpPr>
          <p:cNvPr id="22" name="sys 給与 circle"/>
          <p:cNvSpPr/>
          <p:nvPr/>
        </p:nvSpPr>
        <p:spPr>
          <a:xfrm>
            <a:off x="2926080" y="2816352"/>
            <a:ext cx="420624" cy="420624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3" name="sys 給与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1236" y="2921508"/>
            <a:ext cx="210312" cy="210312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3474720" y="2779776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給与システム</a:t>
            </a:r>
            <a:endParaRPr lang="en-US" sz="1400" dirty="0"/>
          </a:p>
        </p:txBody>
      </p:sp>
      <p:sp>
        <p:nvSpPr>
          <p:cNvPr id="25" name="Text 20"/>
          <p:cNvSpPr txBox="1"/>
          <p:nvPr/>
        </p:nvSpPr>
        <p:spPr>
          <a:xfrm>
            <a:off x="4937760" y="2779776"/>
            <a:ext cx="3657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成果と報酬をどう結びつけているか</a:t>
            </a:r>
            <a:endParaRPr lang="en-US" sz="1200" dirty="0"/>
          </a:p>
        </p:txBody>
      </p:sp>
      <p:sp>
        <p:nvSpPr>
          <p:cNvPr id="26" name="sys 教育 circle"/>
          <p:cNvSpPr/>
          <p:nvPr/>
        </p:nvSpPr>
        <p:spPr>
          <a:xfrm>
            <a:off x="2926080" y="3383280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7" name="sys 教育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31236" y="3488436"/>
            <a:ext cx="210312" cy="210312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3474720" y="3346704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教育システム</a:t>
            </a:r>
            <a:endParaRPr lang="en-US" sz="1400" dirty="0"/>
          </a:p>
        </p:txBody>
      </p:sp>
      <p:sp>
        <p:nvSpPr>
          <p:cNvPr id="29" name="Text 23"/>
          <p:cNvSpPr txBox="1"/>
          <p:nvPr/>
        </p:nvSpPr>
        <p:spPr>
          <a:xfrm>
            <a:off x="4937760" y="3346704"/>
            <a:ext cx="3657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経営層〜現場まで教育を行き届かせる方法</a:t>
            </a:r>
            <a:endParaRPr lang="en-US" sz="1200" dirty="0"/>
          </a:p>
        </p:txBody>
      </p:sp>
      <p:sp>
        <p:nvSpPr>
          <p:cNvPr id="30" name="sys 採用 circle"/>
          <p:cNvSpPr/>
          <p:nvPr/>
        </p:nvSpPr>
        <p:spPr>
          <a:xfrm>
            <a:off x="2926080" y="3950208"/>
            <a:ext cx="420624" cy="420624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31" name="sys 採用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31236" y="4055364"/>
            <a:ext cx="210312" cy="210312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3474720" y="3913632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採用システム</a:t>
            </a:r>
            <a:endParaRPr lang="en-US" sz="1400" dirty="0"/>
          </a:p>
        </p:txBody>
      </p:sp>
      <p:sp>
        <p:nvSpPr>
          <p:cNvPr id="33" name="Text 26"/>
          <p:cNvSpPr txBox="1"/>
          <p:nvPr/>
        </p:nvSpPr>
        <p:spPr>
          <a:xfrm>
            <a:off x="4937760" y="3913632"/>
            <a:ext cx="3657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生産性の高い人材をどう見極め、集めるか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自社への落とし込み ｜ 責任者：松田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4864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帰国後はまず「採用の現状把握」から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① 採用チャネル（媒体）</a:t>
            </a:r>
            <a:endParaRPr lang="en-US" sz="1300" dirty="0"/>
          </a:p>
        </p:txBody>
      </p:sp>
      <p:sp>
        <p:nvSpPr>
          <p:cNvPr id="5" name="channel 0"/>
          <p:cNvSpPr/>
          <p:nvPr/>
        </p:nvSpPr>
        <p:spPr>
          <a:xfrm>
            <a:off x="548640" y="1691640"/>
            <a:ext cx="475488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6" name="channel dot 0"/>
          <p:cNvSpPr/>
          <p:nvPr/>
        </p:nvSpPr>
        <p:spPr>
          <a:xfrm>
            <a:off x="731520" y="1965960"/>
            <a:ext cx="228600" cy="2286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97280" y="176479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人材紹介会社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08483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DYM ／ ネオキャリア ／ イングリウッド ／ Spica Rink</a:t>
            </a:r>
            <a:endParaRPr lang="en-US" sz="1100" dirty="0"/>
          </a:p>
        </p:txBody>
      </p:sp>
      <p:sp>
        <p:nvSpPr>
          <p:cNvPr id="9" name="channel 1"/>
          <p:cNvSpPr/>
          <p:nvPr/>
        </p:nvSpPr>
        <p:spPr>
          <a:xfrm>
            <a:off x="548640" y="2606040"/>
            <a:ext cx="475488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10" name="channel dot 1"/>
          <p:cNvSpPr/>
          <p:nvPr/>
        </p:nvSpPr>
        <p:spPr>
          <a:xfrm>
            <a:off x="731520" y="2880360"/>
            <a:ext cx="228600" cy="2286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97280" y="267919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求人媒体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99923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利用中の媒体を洗い出し、効果を比較</a:t>
            </a:r>
            <a:endParaRPr lang="en-US" sz="1100" dirty="0"/>
          </a:p>
        </p:txBody>
      </p:sp>
      <p:sp>
        <p:nvSpPr>
          <p:cNvPr id="13" name="channel 2"/>
          <p:cNvSpPr/>
          <p:nvPr/>
        </p:nvSpPr>
        <p:spPr>
          <a:xfrm>
            <a:off x="548640" y="3520440"/>
            <a:ext cx="475488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14" name="channel dot 2"/>
          <p:cNvSpPr/>
          <p:nvPr/>
        </p:nvSpPr>
        <p:spPr>
          <a:xfrm>
            <a:off x="731520" y="3794760"/>
            <a:ext cx="228600" cy="2286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97280" y="359359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自社発信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391363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Instagram ／ YouTube ／ Facebook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0" y="13258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② 採用ターゲット（求職者）</a:t>
            </a:r>
            <a:endParaRPr lang="en-US" sz="1300" dirty="0"/>
          </a:p>
        </p:txBody>
      </p:sp>
      <p:sp>
        <p:nvSpPr>
          <p:cNvPr id="18" name="segment card"/>
          <p:cNvSpPr/>
          <p:nvPr/>
        </p:nvSpPr>
        <p:spPr>
          <a:xfrm>
            <a:off x="5669280" y="1691640"/>
            <a:ext cx="2926080" cy="2606040"/>
          </a:xfrm>
          <a:prstGeom prst="roundRect">
            <a:avLst>
              <a:gd name="adj" fmla="val 2807"/>
            </a:avLst>
          </a:prstGeom>
          <a:solidFill>
            <a:schemeClr val="tx1"/>
          </a:solidFill>
          <a:ln/>
        </p:spPr>
      </p:sp>
      <p:sp>
        <p:nvSpPr>
          <p:cNvPr id="19" name="segment 0 circle"/>
          <p:cNvSpPr/>
          <p:nvPr/>
        </p:nvSpPr>
        <p:spPr>
          <a:xfrm>
            <a:off x="5852160" y="19202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segment 0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66460" y="2034540"/>
            <a:ext cx="228600" cy="22860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6446520" y="18745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新卒大学生</a:t>
            </a:r>
            <a:endParaRPr lang="en-US" sz="1500" dirty="0"/>
          </a:p>
        </p:txBody>
      </p:sp>
      <p:sp>
        <p:nvSpPr>
          <p:cNvPr id="22" name="segment 1 circle"/>
          <p:cNvSpPr/>
          <p:nvPr/>
        </p:nvSpPr>
        <p:spPr>
          <a:xfrm>
            <a:off x="5852160" y="26974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3" name="segment 1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6460" y="2811780"/>
            <a:ext cx="228600" cy="22860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6446520" y="26517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理学療法士</a:t>
            </a:r>
            <a:endParaRPr lang="en-US" sz="15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新卒 ／ 中途</a:t>
            </a:r>
            <a:endParaRPr lang="en-US" sz="1500" dirty="0"/>
          </a:p>
        </p:txBody>
      </p:sp>
      <p:sp>
        <p:nvSpPr>
          <p:cNvPr id="25" name="segment 2 circle"/>
          <p:cNvSpPr/>
          <p:nvPr/>
        </p:nvSpPr>
        <p:spPr>
          <a:xfrm>
            <a:off x="5852160" y="34747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6" name="segment 2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6460" y="3589020"/>
            <a:ext cx="228600" cy="22860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6446520" y="34290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第2新卒</a:t>
            </a:r>
            <a:endParaRPr lang="en-US" sz="1500" dirty="0"/>
          </a:p>
        </p:txBody>
      </p:sp>
      <p:sp>
        <p:nvSpPr>
          <p:cNvPr id="28" name="Text 23"/>
          <p:cNvSpPr txBox="1"/>
          <p:nvPr/>
        </p:nvSpPr>
        <p:spPr>
          <a:xfrm>
            <a:off x="548640" y="44348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チャネル × ターゲットごとに現状を整理し、学んだ仕組みを当てはめる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見て終わりにしない。</a:t>
            </a:r>
            <a:endParaRPr lang="en-US" sz="3600" dirty="0"/>
          </a:p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仕組みにして、生産性2億円/人へ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学ぶ → スワイプ → タスク化 → 自社導入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licon Valley Visit">
  <a:themeElements>
    <a:clrScheme name="Silicon Valley Visit">
      <a:dk1>
        <a:srgbClr val="1C2230"/>
      </a:dk1>
      <a:lt1>
        <a:srgbClr val="FFFFFF"/>
      </a:lt1>
      <a:dk2>
        <a:srgbClr val="4A5368"/>
      </a:dk2>
      <a:lt2>
        <a:srgbClr val="F3F4F7"/>
      </a:lt2>
      <a:accent1>
        <a:srgbClr val="F26B3A"/>
      </a:accent1>
      <a:accent2>
        <a:srgbClr val="1FA39A"/>
      </a:accent2>
      <a:accent3>
        <a:srgbClr val="3D5A99"/>
      </a:accent3>
      <a:accent4>
        <a:srgbClr val="F2B33A"/>
      </a:accent4>
      <a:accent5>
        <a:srgbClr val="8C93A6"/>
      </a:accent5>
      <a:accent6>
        <a:srgbClr val="D9475A"/>
      </a:accent6>
      <a:hlink>
        <a:srgbClr val="1FA39A"/>
      </a:hlink>
      <a:folHlink>
        <a:srgbClr val="8C93A6"/>
      </a:folHlink>
    </a:clrScheme>
    <a:fontScheme name="Silicon Valley Visit">
      <a:majorFont>
        <a:latin typeface="Hiragino Sans"/>
        <a:ea typeface="Hiragino Sans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Hiragino Sans"/>
        <a:ea typeface="Hiragino Sans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シリコンバレー企業見学 2026年10月</dc:title>
  <dc:subject>PptxGenJS Presentation</dc:subject>
  <dc:creator>PptxGenJS</dc:creator>
  <cp:lastModifiedBy>PptxGenJS</cp:lastModifiedBy>
  <cp:revision>1</cp:revision>
  <dcterms:created xsi:type="dcterms:W3CDTF">2026-10-14T09:41:38Z</dcterms:created>
  <dcterms:modified xsi:type="dcterms:W3CDTF">2026-10-14T09:41:38Z</dcterms:modified>
</cp:coreProperties>
</file>