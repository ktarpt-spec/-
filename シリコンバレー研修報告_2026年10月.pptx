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背景" id="{88de60b1-4b16-a9d8-742d-cf688f9cf80c}">
          <p14:sldIdLst>
            <p14:sldId id="256"/>
            <p14:sldId id="257"/>
            <p14:sldId id="258"/>
            <p14:sldId id="259"/>
            <p14:sldId id="260"/>
          </p14:sldIdLst>
        </p14:section>
        <p14:section name="研修内容" id="{f8904c6f-d201-a8c6-5c50-a7a800afe93c}">
          <p14:sldIdLst>
            <p14:sldId id="261"/>
            <p14:sldId id="262"/>
            <p14:sldId id="263"/>
            <p14:sldId id="264"/>
            <p14:sldId id="265"/>
            <p14:sldId id="266"/>
            <p14:sldId id="267"/>
            <p14:sldId id="268"/>
            <p14:sldId id="269"/>
            <p14:sldId id="270"/>
            <p14:sldId id="271"/>
          </p14:sldIdLst>
        </p14:section>
        <p14:section name="気づき" id="{4a74c2bf-d5b5-5fb6-821d-89e6b32c9389}">
          <p14:sldIdLst>
            <p14:sldId id="272"/>
            <p14:sldId id="273"/>
            <p14:sldId id="274"/>
            <p14:sldId id="275"/>
          </p14:sldIdLst>
        </p14:section>
        <p14:section name="アクションプラン" id="{94d095ca-ed03-8f7c-86bc-53d5389e02e3}">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2026年10月14日〜16日に実施したシリコンバレー企業研修の報告です。目的、ゴール、現状の問題点、研修内容、気づき、アクションプランの順でお話しします。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は、世界トップクラスの企業の人事システムを自社に導入することです。評価・組織・給与・教育・採用の5つのシステムについて、シリコンバレー企業のやり方をスワイプ（真似て取り入れる）し、人事戦術としてタスク化、自社への落とし込みまで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状の生産性は5期目（MBJ）で1人あたり8,000万円弱。ゴールは2億円で、約2.5倍の差があります。採用で人数を増やすだけでは届かないため、評価・組織・給与・教育・採用の仕組みそのものを変え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産性が下がり続けている現象を分解すると、ボトム層が全体を引っ張っている、生産性のない人材が増えた、生産性を上げられる人が増えない、の3つ。原因は教育が行き届いていないこと、評価制度がないこと、評価・組織・給与制度が構築されていないこと。つまり経営層の課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3日間で7つの訪問先を回りました。企業・研究機関・教育機関と幅広く、特にGoogleとMetaでは人事制度について詳しく伺いました。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laでは採用基準、ベネフィット、ビジョン、将来構想を伺いました。学力ではなく経験で採用すること、ストックオプションで頑張りがそのまま収入に返る構造、ボーナスの選択制、現場まで浸透した未来の問題意識、そしてサブスクで車をシェアする将来構想が印象的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laは今回いちばん印象的でした。他社と違いトップダウン経営で、AIとロボをどう使うかが非常に勉強になりました。ロボを人が作り管理し、人の動きをAIとロボが管理する。現場メンバーが自社の商品で解決する未来の問題を語れることが組織の強さだと感じ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AではChrisさんに、生命が存在する可能性のある星（タイタン、火星、エウロパなど）と、遠い未来に向けた働き方を伺いました。Chrisさんのゴールは生命体を探すこと。好奇心をそのままお金に変えられる職種であり、好きなことを仕事にできるのが最強だと感じ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のキャンパスは約4,500人に1ドームの規模で、太陽光で電力の約60%、雨水リサイクルでトイレ用水の約80%をまかない、地熱エリアもあるなど、一つひとつにこだわって構築されていました。マイクロキッチンは軽いミーティングにも使われ、仕事場以外のコミュニケーションやリラックスできる空間の大切さを感じ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成果だけで見られる環境だからこそ、無駄な時間を過ごしたくないという意識が強く、時間あたりの生産性が高い。キャリアは自分で仕事を探すことが基本。三大企業の違いの例えも印象的でした。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の人事は、教育・評価・給与をチームに任せ、人事部は労務と採用の母集団形成が中心。流れはチームで募集→人事部が母集団を集める→チームに配属。採用は過去に何をしたかより情報処理能力を、質問と実務で見抜く。1on1は毎週、上司は成果だけを見て時間は見ない。ジョブディスクリプションで自分で仕事を選ぶ文化が自律と高い生産性につながっている。一方で中間層がリスクを取らなくなる既得権益化や、プロジェクト志向でミッション意識が下がる懸念もあるとのことでした。1年前の訪問とは違い、今回は人事の話が多く、自社に導入できる部分は導入したいと思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では、やりたい職種は自分で探す（他社も含めて）、一番大事なのは経験、必要な教育は自分でUdemyなどで学ぶ、という話が印象的でした。AIのトップが26歳というスキル文化、コピーライティングはパーソナライズの点で人の方がAIより強いというデータ、レイオフ後のトップからのメッセージ、約60%が業務委託という人材活用。キャリアは自分で作るものだと再確認し、そこをアクション化・自動化したい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野先生からは幹細胞の種類と人工胚の研究について伺いました。2回目で前回より理解が深まりました。人工胚で人ができる可能性があるところまで技術は近づいている一方、倫理の壁は大きい。救われる人が増えることとの葛藤を感じ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ソナのけんじさんとは2回目の対談。日米の生産性の差は教育基準の違い、採用・教育ではアクノレッジと相手のスイッチを見つけることが大事。クランボルツ博士の計画的偶発性理論（好奇心・持続性・楽観性・柔軟性・冒険心）を伺いました。前回のツアーがきっかけで会社の方向性が採用・教育に変わったことへの感謝も伝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Sora Preschoolは3回目。話す言語を人ごとに決める環境設定や、室内と屋外でパワーの使い方を分ける工夫が印象的でした。他の企業も通して、仕組みで人が動き、最大の結果を出すという流れを自社でも実施したいと感じ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を通じた気づきは3つ。トップダウン企業ではサボれない・成果を出せる仕組みと管理システムが大事。MVPの考え方で、まずやってみて改善し、ダメなら早く撤退する。ハードとソフトでは働き方とミッションの持たせ方が違い、ソフトは考えることへの意義付け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だった5つの人事システムのスワイプ結果です。各社の感想から、評価は成果だけを見る、組織は間接費を最小化して管理職ほど現場へ、給与は高めにする代わりに離脱基準を明確に、教育は自分でキャリアを作る前提で環境を用意する、採用は学歴不問でカルチャーフィットと情報処理能力を見る、という方針にまとめ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研修での気づきをWebで調べた研究データで補強しました。85年分の研究をまとめたSchmidt &amp; Hunter（1998）のメタ分析では、ワークサンプル（実際に仕事をさせる）や構造化面接、一般認知能力の予測力が高く、学歴や経験年数はほとんど予測しません。Googleが情報処理能力を実務と質問で見抜いているのはこの裏付けがあるからです。Googleの採用4基準は、一般認知能力・リーダーシップ・Googleらしさ・職務知識（ラズロ・ボック『ワーク・ルールズ！』）。またGoogleの社内研究Project Aristotleでは心理的安全性がチームの成果の最大要因、Project Oxygenでは良いマネージャーの第1条件が良いコーチであることでした。毎月のアンケートや毎週の1on1はここにつながります。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研修全体から持ち帰る原則を6つにまとめました。この原則をもとにアクションプランを作っています。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修後のアクションの全体像です。柱は4つ。1つ目は人事ファネルの構築で、採用と離脱を一本の流れとして設計します。2つ目は採用現状把握ツールの構築で、媒体と人材の状況を見える化します。3つ目はリストブランディングの強化で、SNS・メール・LINEを使います。4つ目は教育システムの構築で、90デイズ、社内毎月アンケート、1on1、Udemyを使った教育環境を整えます。次のページから、それぞれの具体的な内容を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用は、0次のラフ面談でカルチャーフィット（素直で、いいやつか）を確認し、2次はスキル面接のみ。論理的思考・言語化能力・情報処理能力を、実務をさせて見抜きます。適性テストはなし、学歴不問で「ずば抜けた成果を出したか」を見ます。あわせてジョブディスクリプションを導入し、チームが募集依頼、人事部が母集団形成とカルチャー面談、チームが採用面談と育成を担う流れ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産性2億円に向けた構造です。CEOと最小限のバックオフィス以外は売上に関わる変動費とし、管理職ほど現場に出ます。給与は高めでよい代わりに離脱基準を明確にすることで、人件費率を上げずに生産性を維持・向上します。MGR以上は社員、現場は有期雇用と業務委託を中心に。有期雇用は行使するつもりはない最終手段で、3年程度成果を出せば無期に変更可能。評価は成果だけを見て、OKRと毎週の1on1を検討します。全体として1,000万円／年を基準値とし、トップ20%に集中、入社から教育・離脱までの人材ファネルを作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教育とエンゲージメントのアクションです。毎月メンバーアンケートを実施し、満足度やハラスメントなどの問題を確認、現場感をつかんでマネージャーにフィードバックします。学びはUdemyで社内コンテンツを作り、自分で選べる環境を用意。バックオフィスは席を固定して教え合いを促します。マーケティングではMetaのデータにあったようにパーソナライズを全面に出し、リストブランディングを強化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まとめです。仕組みで人が動く会社にし、生産性2億円／人を実現します。5つの人事システムを同時に変え、MVPの考え方で小さく始めて改善を回していきます。ありがとうございました。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image" Target="../media/image-25-3.jpg"/><Relationship Id="rId4" Type="http://schemas.openxmlformats.org/officeDocument/2006/relationships/image" Target="../media/image-25-4.jp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tmp/claude-0/-home-user--/3ca9cfef-63b4-5a4c-8641-852bc146d002/images/1.jpg">    </p:cNvPr>
          <p:cNvPicPr>
            <a:picLocks noChangeAspect="1"/>
          </p:cNvPicPr>
          <p:nvPr/>
        </p:nvPicPr>
        <p:blipFill>
          <a:blip r:embed="rId1"/>
          <a:srcRect l="4321" r="4321" t="0" b="0"/>
          <a:stretch/>
        </p:blipFill>
        <p:spPr>
          <a:xfrm>
            <a:off x="7493000" y="0"/>
            <a:ext cx="4699000" cy="6858000"/>
          </a:xfrm>
          <a:prstGeom prst="rect">
            <a:avLst/>
          </a:prstGeom>
        </p:spPr>
      </p:pic>
      <p:sp>
        <p:nvSpPr>
          <p:cNvPr id="3" name="Text 0"/>
          <p:cNvSpPr txBox="1"/>
          <p:nvPr/>
        </p:nvSpPr>
        <p:spPr>
          <a:xfrm>
            <a:off x="812800" y="1529854"/>
            <a:ext cx="6096000" cy="285750"/>
          </a:xfrm>
          <a:prstGeom prst="rect">
            <a:avLst/>
          </a:prstGeom>
          <a:noFill/>
          <a:ln/>
        </p:spPr>
        <p:txBody>
          <a:bodyPr wrap="none" lIns="0" tIns="0" rIns="0" bIns="0" rtlCol="0" anchor="t"/>
          <a:lstStyle/>
          <a:p>
            <a:pPr algn="l" indent="0" marL="0">
              <a:lnSpc>
                <a:spcPct val="140000"/>
              </a:lnSpc>
              <a:buNone/>
            </a:pPr>
            <a:r>
              <a:rPr lang="en-US" sz="1500" spc="200" kern="0" dirty="0">
                <a:solidFill>
                  <a:srgbClr val="F08A4B"/>
                </a:solidFill>
                <a:latin typeface="Avenir Next Condensed" pitchFamily="34" charset="0"/>
                <a:ea typeface="Avenir Next Condensed" pitchFamily="34" charset="-122"/>
                <a:cs typeface="Avenir Next Condensed" pitchFamily="34" charset="-120"/>
              </a:rPr>
              <a:t>SILICON VALLEY STUDY TOUR — 2026.10.14–16</a:t>
            </a:r>
            <a:endParaRPr lang="en-US" sz="1500" dirty="0"/>
          </a:p>
        </p:txBody>
      </p:sp>
      <p:sp>
        <p:nvSpPr>
          <p:cNvPr id="4" name="Text 1"/>
          <p:cNvSpPr txBox="1"/>
          <p:nvPr/>
        </p:nvSpPr>
        <p:spPr>
          <a:xfrm>
            <a:off x="812800" y="2069604"/>
            <a:ext cx="6172200" cy="1401961"/>
          </a:xfrm>
          <a:prstGeom prst="rect">
            <a:avLst/>
          </a:prstGeom>
          <a:noFill/>
          <a:ln/>
        </p:spPr>
        <p:txBody>
          <a:bodyPr wrap="square" lIns="0" tIns="0" rIns="0" bIns="0" rtlCol="0" anchor="t"/>
          <a:lstStyle/>
          <a:p>
            <a:pPr algn="l" indent="0" marL="0">
              <a:lnSpc>
                <a:spcPct val="115000"/>
              </a:lnSpc>
              <a:buNone/>
            </a:pPr>
            <a:r>
              <a:rPr lang="en-US" sz="4800" b="1" dirty="0">
                <a:solidFill>
                  <a:srgbClr val="F6F4EF"/>
                </a:solidFill>
                <a:latin typeface="Hiragino Sans" pitchFamily="34" charset="0"/>
                <a:ea typeface="Hiragino Sans" pitchFamily="34" charset="-122"/>
                <a:cs typeface="Hiragino Sans" pitchFamily="34" charset="-120"/>
              </a:rPr>
              <a:t>シリコンバレー</a:t>
            </a:r>
            <a:endParaRPr lang="en-US" sz="4800" dirty="0"/>
          </a:p>
          <a:p>
            <a:pPr algn="l" indent="0" marL="0">
              <a:lnSpc>
                <a:spcPct val="115000"/>
              </a:lnSpc>
              <a:buNone/>
            </a:pPr>
            <a:r>
              <a:rPr lang="en-US" sz="4800" b="1" dirty="0">
                <a:solidFill>
                  <a:srgbClr val="F6F4EF"/>
                </a:solidFill>
                <a:latin typeface="Hiragino Sans" pitchFamily="34" charset="0"/>
                <a:ea typeface="Hiragino Sans" pitchFamily="34" charset="-122"/>
                <a:cs typeface="Hiragino Sans" pitchFamily="34" charset="-120"/>
              </a:rPr>
              <a:t>企業研修 報告</a:t>
            </a:r>
            <a:endParaRPr lang="en-US" sz="4800" dirty="0"/>
          </a:p>
        </p:txBody>
      </p:sp>
      <p:sp>
        <p:nvSpPr>
          <p:cNvPr id="5" name="Text 2"/>
          <p:cNvSpPr txBox="1"/>
          <p:nvPr/>
        </p:nvSpPr>
        <p:spPr>
          <a:xfrm>
            <a:off x="812800" y="3725565"/>
            <a:ext cx="6172200" cy="650081"/>
          </a:xfrm>
          <a:prstGeom prst="rect">
            <a:avLst/>
          </a:prstGeom>
          <a:noFill/>
          <a:ln/>
        </p:spPr>
        <p:txBody>
          <a:bodyPr wrap="square" lIns="0" tIns="0" rIns="0" bIns="0" rtlCol="0" anchor="t"/>
          <a:lstStyle/>
          <a:p>
            <a:pPr algn="l" indent="0" marL="0">
              <a:lnSpc>
                <a:spcPct val="160000"/>
              </a:lnSpc>
              <a:buNone/>
            </a:pPr>
            <a:r>
              <a:rPr lang="en-US" sz="1600" dirty="0">
                <a:solidFill>
                  <a:srgbClr val="C9D3E6"/>
                </a:solidFill>
                <a:latin typeface="Hiragino Sans" pitchFamily="34" charset="0"/>
                <a:ea typeface="Hiragino Sans" pitchFamily="34" charset="-122"/>
                <a:cs typeface="Hiragino Sans" pitchFamily="34" charset="-120"/>
              </a:rPr>
              <a:t>世界トップクラス企業の人事システムをスワイプし、</a:t>
            </a:r>
            <a:endParaRPr lang="en-US" sz="1600" dirty="0"/>
          </a:p>
          <a:p>
            <a:pPr algn="l" indent="0" marL="0">
              <a:lnSpc>
                <a:spcPct val="160000"/>
              </a:lnSpc>
              <a:buNone/>
            </a:pPr>
            <a:r>
              <a:rPr lang="en-US" sz="1600" dirty="0">
                <a:solidFill>
                  <a:srgbClr val="C9D3E6"/>
                </a:solidFill>
                <a:latin typeface="Hiragino Sans" pitchFamily="34" charset="0"/>
                <a:ea typeface="Hiragino Sans" pitchFamily="34" charset="-122"/>
                <a:cs typeface="Hiragino Sans" pitchFamily="34" charset="-120"/>
              </a:rPr>
              <a:t>生産性 </a:t>
            </a:r>
            <a:pPr algn="l" indent="0" marL="0">
              <a:lnSpc>
                <a:spcPct val="160000"/>
              </a:lnSpc>
              <a:buNone/>
            </a:pPr>
            <a:r>
              <a:rPr lang="en-US" sz="1600" b="1" dirty="0">
                <a:solidFill>
                  <a:srgbClr val="F6F4EF"/>
                </a:solidFill>
                <a:latin typeface="Hiragino Sans" pitchFamily="34" charset="0"/>
                <a:ea typeface="Hiragino Sans" pitchFamily="34" charset="-122"/>
                <a:cs typeface="Hiragino Sans" pitchFamily="34" charset="-120"/>
              </a:rPr>
              <a:t>2億円／人</a:t>
            </a:r>
            <a:pPr algn="l" indent="0" marL="0">
              <a:lnSpc>
                <a:spcPct val="160000"/>
              </a:lnSpc>
              <a:buNone/>
            </a:pPr>
            <a:r>
              <a:rPr lang="en-US" sz="1600" dirty="0">
                <a:solidFill>
                  <a:srgbClr val="C9D3E6"/>
                </a:solidFill>
                <a:latin typeface="Hiragino Sans" pitchFamily="34" charset="0"/>
                <a:ea typeface="Hiragino Sans" pitchFamily="34" charset="-122"/>
                <a:cs typeface="Hiragino Sans" pitchFamily="34" charset="-120"/>
              </a:rPr>
              <a:t> を実現するために</a:t>
            </a:r>
            <a:endParaRPr lang="en-US" sz="1600" dirty="0"/>
          </a:p>
        </p:txBody>
      </p:sp>
      <p:sp>
        <p:nvSpPr>
          <p:cNvPr id="6" name="Text 3"/>
          <p:cNvSpPr txBox="1"/>
          <p:nvPr/>
        </p:nvSpPr>
        <p:spPr>
          <a:xfrm>
            <a:off x="812800" y="4629646"/>
            <a:ext cx="6096000" cy="222250"/>
          </a:xfrm>
          <a:prstGeom prst="rect">
            <a:avLst/>
          </a:prstGeom>
          <a:noFill/>
          <a:ln/>
        </p:spPr>
        <p:txBody>
          <a:bodyPr wrap="none" lIns="0" tIns="0" rIns="0" bIns="0" rtlCol="0" anchor="t"/>
          <a:lstStyle/>
          <a:p>
            <a:pPr algn="l" indent="0" marL="0">
              <a:lnSpc>
                <a:spcPct val="140000"/>
              </a:lnSpc>
              <a:buNone/>
            </a:pPr>
            <a:r>
              <a:rPr lang="en-US" sz="1200" spc="50" kern="0" dirty="0">
                <a:solidFill>
                  <a:srgbClr val="C9D3E6"/>
                </a:solidFill>
                <a:latin typeface="Hiragino Sans" pitchFamily="34" charset="0"/>
                <a:ea typeface="Hiragino Sans" pitchFamily="34" charset="-122"/>
                <a:cs typeface="Hiragino Sans" pitchFamily="34" charset="-120"/>
              </a:rPr>
              <a:t>Tesla ・ NASA ・ Google ・ Meta ・ Stanford ・ Pasona ・ Sora Preschool</a:t>
            </a:r>
            <a:endParaRPr lang="en-US" sz="1200" dirty="0"/>
          </a:p>
        </p:txBody>
      </p:sp>
      <p:sp>
        <p:nvSpPr>
          <p:cNvPr id="7" name="Text 4"/>
          <p:cNvSpPr txBox="1"/>
          <p:nvPr/>
        </p:nvSpPr>
        <p:spPr>
          <a:xfrm>
            <a:off x="812800" y="5105896"/>
            <a:ext cx="6096000" cy="222250"/>
          </a:xfrm>
          <a:prstGeom prst="rect">
            <a:avLst/>
          </a:prstGeom>
          <a:noFill/>
          <a:ln/>
        </p:spPr>
        <p:txBody>
          <a:bodyPr wrap="none" lIns="0" tIns="0" rIns="0" bIns="0" rtlCol="0" anchor="t"/>
          <a:lstStyle/>
          <a:p>
            <a:pPr algn="l" indent="0" marL="0">
              <a:lnSpc>
                <a:spcPct val="140000"/>
              </a:lnSpc>
              <a:buNone/>
            </a:pPr>
            <a:r>
              <a:rPr lang="en-US" sz="1200" dirty="0">
                <a:solidFill>
                  <a:srgbClr val="F6F4EF"/>
                </a:solidFill>
                <a:latin typeface="Hiragino Sans" pitchFamily="34" charset="0"/>
                <a:ea typeface="Hiragino Sans" pitchFamily="34" charset="-122"/>
                <a:cs typeface="Hiragino Sans" pitchFamily="34" charset="-120"/>
              </a:rPr>
              <a:t>報告：松田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AGENDA</a:t>
            </a:r>
            <a:endParaRPr lang="en-US" sz="1200" dirty="0"/>
          </a:p>
        </p:txBody>
      </p:sp>
      <p:sp>
        <p:nvSpPr>
          <p:cNvPr id="3" name="Text 1"/>
          <p:cNvSpPr txBox="1"/>
          <p:nvPr/>
        </p:nvSpPr>
        <p:spPr>
          <a:xfrm>
            <a:off x="812800" y="111760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本日の報告の流れ</a:t>
            </a:r>
            <a:endParaRPr lang="en-US" sz="3200" dirty="0"/>
          </a:p>
        </p:txBody>
      </p:sp>
      <p:sp>
        <p:nvSpPr>
          <p:cNvPr id="4" name="Shape 2"/>
          <p:cNvSpPr/>
          <p:nvPr/>
        </p:nvSpPr>
        <p:spPr>
          <a:xfrm>
            <a:off x="812800" y="1940520"/>
            <a:ext cx="3386634" cy="1676400"/>
          </a:xfrm>
          <a:prstGeom prst="roundRect">
            <a:avLst>
              <a:gd name="adj" fmla="val 3306"/>
            </a:avLst>
          </a:prstGeom>
          <a:solidFill>
            <a:srgbClr val="FDFCF9"/>
          </a:solidFill>
          <a:ln w="6350">
            <a:solidFill>
              <a:srgbClr val="E2DED5"/>
            </a:solidFill>
            <a:prstDash val="solid"/>
          </a:ln>
        </p:spPr>
      </p:sp>
      <p:sp>
        <p:nvSpPr>
          <p:cNvPr id="5" name="Text 3"/>
          <p:cNvSpPr txBox="1"/>
          <p:nvPr/>
        </p:nvSpPr>
        <p:spPr>
          <a:xfrm>
            <a:off x="1073150" y="2200870"/>
            <a:ext cx="2865934" cy="412750"/>
          </a:xfrm>
          <a:prstGeom prst="rect">
            <a:avLst/>
          </a:prstGeom>
          <a:noFill/>
          <a:ln/>
        </p:spPr>
        <p:txBody>
          <a:bodyPr wrap="none" lIns="0" tIns="0" rIns="0" bIns="0" rtlCol="0" anchor="t"/>
          <a:lstStyle/>
          <a:p>
            <a:pPr algn="l" indent="0" marL="0">
              <a:lnSpc>
                <a:spcPct val="140000"/>
              </a:lnSpc>
              <a:buNone/>
            </a:pPr>
            <a:r>
              <a:rPr lang="en-US" sz="2200" dirty="0">
                <a:solidFill>
                  <a:srgbClr val="B4481A"/>
                </a:solidFill>
                <a:latin typeface="Avenir Next Condensed" pitchFamily="34" charset="0"/>
                <a:ea typeface="Avenir Next Condensed" pitchFamily="34" charset="-122"/>
                <a:cs typeface="Avenir Next Condensed" pitchFamily="34" charset="-120"/>
              </a:rPr>
              <a:t>01</a:t>
            </a:r>
            <a:endParaRPr lang="en-US" sz="2200" dirty="0"/>
          </a:p>
        </p:txBody>
      </p:sp>
      <p:sp>
        <p:nvSpPr>
          <p:cNvPr id="6" name="Text 4"/>
          <p:cNvSpPr txBox="1"/>
          <p:nvPr/>
        </p:nvSpPr>
        <p:spPr>
          <a:xfrm>
            <a:off x="1073150" y="2689820"/>
            <a:ext cx="2865934" cy="368300"/>
          </a:xfrm>
          <a:prstGeom prst="rect">
            <a:avLst/>
          </a:prstGeom>
          <a:noFill/>
          <a:ln/>
        </p:spPr>
        <p:txBody>
          <a:bodyPr wrap="none" lIns="0" tIns="0" rIns="0" bIns="0" rtlCol="0" anchor="t"/>
          <a:lstStyle/>
          <a:p>
            <a:pPr algn="l" indent="0" marL="0">
              <a:lnSpc>
                <a:spcPct val="140000"/>
              </a:lnSpc>
              <a:buNone/>
            </a:pPr>
            <a:r>
              <a:rPr lang="en-US" sz="2000" b="1" dirty="0">
                <a:solidFill>
                  <a:srgbClr val="14213D"/>
                </a:solidFill>
                <a:latin typeface="Hiragino Sans" pitchFamily="34" charset="0"/>
                <a:ea typeface="Hiragino Sans" pitchFamily="34" charset="-122"/>
                <a:cs typeface="Hiragino Sans" pitchFamily="34" charset="-120"/>
              </a:rPr>
              <a:t>目的</a:t>
            </a:r>
            <a:endParaRPr lang="en-US" sz="2000" dirty="0"/>
          </a:p>
        </p:txBody>
      </p:sp>
      <p:sp>
        <p:nvSpPr>
          <p:cNvPr id="7" name="Text 5"/>
          <p:cNvSpPr txBox="1"/>
          <p:nvPr/>
        </p:nvSpPr>
        <p:spPr>
          <a:xfrm>
            <a:off x="1073150" y="3134320"/>
            <a:ext cx="2865934" cy="222250"/>
          </a:xfrm>
          <a:prstGeom prst="rect">
            <a:avLst/>
          </a:prstGeom>
          <a:noFill/>
          <a:ln/>
        </p:spPr>
        <p:txBody>
          <a:bodyPr wrap="none" lIns="0" tIns="0" rIns="0" bIns="0" rtlCol="0" anchor="t"/>
          <a:lstStyle/>
          <a:p>
            <a:pPr algn="l" indent="0" marL="0">
              <a:lnSpc>
                <a:spcPct val="140000"/>
              </a:lnSpc>
              <a:buNone/>
            </a:pPr>
            <a:r>
              <a:rPr lang="en-US" sz="1200" dirty="0">
                <a:solidFill>
                  <a:srgbClr val="4A5568"/>
                </a:solidFill>
                <a:latin typeface="Hiragino Sans" pitchFamily="34" charset="0"/>
                <a:ea typeface="Hiragino Sans" pitchFamily="34" charset="-122"/>
                <a:cs typeface="Hiragino Sans" pitchFamily="34" charset="-120"/>
              </a:rPr>
              <a:t>なぜシリコンバレーに行ったのか</a:t>
            </a:r>
            <a:endParaRPr lang="en-US" sz="1200" dirty="0"/>
          </a:p>
        </p:txBody>
      </p:sp>
      <p:sp>
        <p:nvSpPr>
          <p:cNvPr id="8" name="Shape 6"/>
          <p:cNvSpPr/>
          <p:nvPr/>
        </p:nvSpPr>
        <p:spPr>
          <a:xfrm>
            <a:off x="4402634" y="1940520"/>
            <a:ext cx="3386634" cy="1676400"/>
          </a:xfrm>
          <a:prstGeom prst="roundRect">
            <a:avLst>
              <a:gd name="adj" fmla="val 3306"/>
            </a:avLst>
          </a:prstGeom>
          <a:solidFill>
            <a:srgbClr val="FDFCF9"/>
          </a:solidFill>
          <a:ln w="6350">
            <a:solidFill>
              <a:srgbClr val="E2DED5"/>
            </a:solidFill>
            <a:prstDash val="solid"/>
          </a:ln>
        </p:spPr>
      </p:sp>
      <p:sp>
        <p:nvSpPr>
          <p:cNvPr id="9" name="Text 7"/>
          <p:cNvSpPr txBox="1"/>
          <p:nvPr/>
        </p:nvSpPr>
        <p:spPr>
          <a:xfrm>
            <a:off x="4662984" y="2200870"/>
            <a:ext cx="2865934" cy="412750"/>
          </a:xfrm>
          <a:prstGeom prst="rect">
            <a:avLst/>
          </a:prstGeom>
          <a:noFill/>
          <a:ln/>
        </p:spPr>
        <p:txBody>
          <a:bodyPr wrap="none" lIns="0" tIns="0" rIns="0" bIns="0" rtlCol="0" anchor="t"/>
          <a:lstStyle/>
          <a:p>
            <a:pPr algn="l" indent="0" marL="0">
              <a:lnSpc>
                <a:spcPct val="140000"/>
              </a:lnSpc>
              <a:buNone/>
            </a:pPr>
            <a:r>
              <a:rPr lang="en-US" sz="2200" dirty="0">
                <a:solidFill>
                  <a:srgbClr val="B4481A"/>
                </a:solidFill>
                <a:latin typeface="Avenir Next Condensed" pitchFamily="34" charset="0"/>
                <a:ea typeface="Avenir Next Condensed" pitchFamily="34" charset="-122"/>
                <a:cs typeface="Avenir Next Condensed" pitchFamily="34" charset="-120"/>
              </a:rPr>
              <a:t>02</a:t>
            </a:r>
            <a:endParaRPr lang="en-US" sz="2200" dirty="0"/>
          </a:p>
        </p:txBody>
      </p:sp>
      <p:sp>
        <p:nvSpPr>
          <p:cNvPr id="10" name="Text 8"/>
          <p:cNvSpPr txBox="1"/>
          <p:nvPr/>
        </p:nvSpPr>
        <p:spPr>
          <a:xfrm>
            <a:off x="4662984" y="2689820"/>
            <a:ext cx="2865934" cy="368300"/>
          </a:xfrm>
          <a:prstGeom prst="rect">
            <a:avLst/>
          </a:prstGeom>
          <a:noFill/>
          <a:ln/>
        </p:spPr>
        <p:txBody>
          <a:bodyPr wrap="none" lIns="0" tIns="0" rIns="0" bIns="0" rtlCol="0" anchor="t"/>
          <a:lstStyle/>
          <a:p>
            <a:pPr algn="l" indent="0" marL="0">
              <a:lnSpc>
                <a:spcPct val="140000"/>
              </a:lnSpc>
              <a:buNone/>
            </a:pPr>
            <a:r>
              <a:rPr lang="en-US" sz="2000" b="1" dirty="0">
                <a:solidFill>
                  <a:srgbClr val="14213D"/>
                </a:solidFill>
                <a:latin typeface="Hiragino Sans" pitchFamily="34" charset="0"/>
                <a:ea typeface="Hiragino Sans" pitchFamily="34" charset="-122"/>
                <a:cs typeface="Hiragino Sans" pitchFamily="34" charset="-120"/>
              </a:rPr>
              <a:t>ゴール</a:t>
            </a:r>
            <a:endParaRPr lang="en-US" sz="2000" dirty="0"/>
          </a:p>
        </p:txBody>
      </p:sp>
      <p:sp>
        <p:nvSpPr>
          <p:cNvPr id="11" name="Text 9"/>
          <p:cNvSpPr txBox="1"/>
          <p:nvPr/>
        </p:nvSpPr>
        <p:spPr>
          <a:xfrm>
            <a:off x="4662984" y="3134320"/>
            <a:ext cx="2865934" cy="222250"/>
          </a:xfrm>
          <a:prstGeom prst="rect">
            <a:avLst/>
          </a:prstGeom>
          <a:noFill/>
          <a:ln/>
        </p:spPr>
        <p:txBody>
          <a:bodyPr wrap="none" lIns="0" tIns="0" rIns="0" bIns="0" rtlCol="0" anchor="t"/>
          <a:lstStyle/>
          <a:p>
            <a:pPr algn="l" indent="0" marL="0">
              <a:lnSpc>
                <a:spcPct val="140000"/>
              </a:lnSpc>
              <a:buNone/>
            </a:pPr>
            <a:r>
              <a:rPr lang="en-US" sz="1200" dirty="0">
                <a:solidFill>
                  <a:srgbClr val="4A5568"/>
                </a:solidFill>
                <a:latin typeface="Hiragino Sans" pitchFamily="34" charset="0"/>
                <a:ea typeface="Hiragino Sans" pitchFamily="34" charset="-122"/>
                <a:cs typeface="Hiragino Sans" pitchFamily="34" charset="-120"/>
              </a:rPr>
              <a:t>生産性 2億円／人</a:t>
            </a:r>
            <a:endParaRPr lang="en-US" sz="1200" dirty="0"/>
          </a:p>
        </p:txBody>
      </p:sp>
      <p:sp>
        <p:nvSpPr>
          <p:cNvPr id="12" name="Shape 10"/>
          <p:cNvSpPr/>
          <p:nvPr/>
        </p:nvSpPr>
        <p:spPr>
          <a:xfrm>
            <a:off x="7992467" y="1940520"/>
            <a:ext cx="3386634" cy="1676400"/>
          </a:xfrm>
          <a:prstGeom prst="roundRect">
            <a:avLst>
              <a:gd name="adj" fmla="val 3306"/>
            </a:avLst>
          </a:prstGeom>
          <a:solidFill>
            <a:srgbClr val="FDFCF9"/>
          </a:solidFill>
          <a:ln w="6350">
            <a:solidFill>
              <a:srgbClr val="E2DED5"/>
            </a:solidFill>
            <a:prstDash val="solid"/>
          </a:ln>
        </p:spPr>
      </p:sp>
      <p:sp>
        <p:nvSpPr>
          <p:cNvPr id="13" name="Text 11"/>
          <p:cNvSpPr txBox="1"/>
          <p:nvPr/>
        </p:nvSpPr>
        <p:spPr>
          <a:xfrm>
            <a:off x="8252817" y="2200870"/>
            <a:ext cx="2865934" cy="412750"/>
          </a:xfrm>
          <a:prstGeom prst="rect">
            <a:avLst/>
          </a:prstGeom>
          <a:noFill/>
          <a:ln/>
        </p:spPr>
        <p:txBody>
          <a:bodyPr wrap="none" lIns="0" tIns="0" rIns="0" bIns="0" rtlCol="0" anchor="t"/>
          <a:lstStyle/>
          <a:p>
            <a:pPr algn="l" indent="0" marL="0">
              <a:lnSpc>
                <a:spcPct val="140000"/>
              </a:lnSpc>
              <a:buNone/>
            </a:pPr>
            <a:r>
              <a:rPr lang="en-US" sz="2200" dirty="0">
                <a:solidFill>
                  <a:srgbClr val="B4481A"/>
                </a:solidFill>
                <a:latin typeface="Avenir Next Condensed" pitchFamily="34" charset="0"/>
                <a:ea typeface="Avenir Next Condensed" pitchFamily="34" charset="-122"/>
                <a:cs typeface="Avenir Next Condensed" pitchFamily="34" charset="-120"/>
              </a:rPr>
              <a:t>03</a:t>
            </a:r>
            <a:endParaRPr lang="en-US" sz="2200" dirty="0"/>
          </a:p>
        </p:txBody>
      </p:sp>
      <p:sp>
        <p:nvSpPr>
          <p:cNvPr id="14" name="Text 12"/>
          <p:cNvSpPr txBox="1"/>
          <p:nvPr/>
        </p:nvSpPr>
        <p:spPr>
          <a:xfrm>
            <a:off x="8252817" y="2689820"/>
            <a:ext cx="2865934" cy="368300"/>
          </a:xfrm>
          <a:prstGeom prst="rect">
            <a:avLst/>
          </a:prstGeom>
          <a:noFill/>
          <a:ln/>
        </p:spPr>
        <p:txBody>
          <a:bodyPr wrap="none" lIns="0" tIns="0" rIns="0" bIns="0" rtlCol="0" anchor="t"/>
          <a:lstStyle/>
          <a:p>
            <a:pPr algn="l" indent="0" marL="0">
              <a:lnSpc>
                <a:spcPct val="140000"/>
              </a:lnSpc>
              <a:buNone/>
            </a:pPr>
            <a:r>
              <a:rPr lang="en-US" sz="2000" b="1" dirty="0">
                <a:solidFill>
                  <a:srgbClr val="14213D"/>
                </a:solidFill>
                <a:latin typeface="Hiragino Sans" pitchFamily="34" charset="0"/>
                <a:ea typeface="Hiragino Sans" pitchFamily="34" charset="-122"/>
                <a:cs typeface="Hiragino Sans" pitchFamily="34" charset="-120"/>
              </a:rPr>
              <a:t>現状と問題点</a:t>
            </a:r>
            <a:endParaRPr lang="en-US" sz="2000" dirty="0"/>
          </a:p>
        </p:txBody>
      </p:sp>
      <p:sp>
        <p:nvSpPr>
          <p:cNvPr id="15" name="Text 13"/>
          <p:cNvSpPr txBox="1"/>
          <p:nvPr/>
        </p:nvSpPr>
        <p:spPr>
          <a:xfrm>
            <a:off x="8252817" y="3134320"/>
            <a:ext cx="2865934" cy="222250"/>
          </a:xfrm>
          <a:prstGeom prst="rect">
            <a:avLst/>
          </a:prstGeom>
          <a:noFill/>
          <a:ln/>
        </p:spPr>
        <p:txBody>
          <a:bodyPr wrap="none" lIns="0" tIns="0" rIns="0" bIns="0" rtlCol="0" anchor="t"/>
          <a:lstStyle/>
          <a:p>
            <a:pPr algn="l" indent="0" marL="0">
              <a:lnSpc>
                <a:spcPct val="140000"/>
              </a:lnSpc>
              <a:buNone/>
            </a:pPr>
            <a:r>
              <a:rPr lang="en-US" sz="1200" dirty="0">
                <a:solidFill>
                  <a:srgbClr val="4A5568"/>
                </a:solidFill>
                <a:latin typeface="Hiragino Sans" pitchFamily="34" charset="0"/>
                <a:ea typeface="Hiragino Sans" pitchFamily="34" charset="-122"/>
                <a:cs typeface="Hiragino Sans" pitchFamily="34" charset="-120"/>
              </a:rPr>
              <a:t>生産性が下がり続けている理由</a:t>
            </a:r>
            <a:endParaRPr lang="en-US" sz="1200" dirty="0"/>
          </a:p>
        </p:txBody>
      </p:sp>
      <p:sp>
        <p:nvSpPr>
          <p:cNvPr id="16" name="Shape 14"/>
          <p:cNvSpPr/>
          <p:nvPr/>
        </p:nvSpPr>
        <p:spPr>
          <a:xfrm>
            <a:off x="812800" y="3820120"/>
            <a:ext cx="3386634" cy="1676400"/>
          </a:xfrm>
          <a:prstGeom prst="roundRect">
            <a:avLst>
              <a:gd name="adj" fmla="val 3306"/>
            </a:avLst>
          </a:prstGeom>
          <a:solidFill>
            <a:srgbClr val="FDFCF9"/>
          </a:solidFill>
          <a:ln w="6350">
            <a:solidFill>
              <a:srgbClr val="E2DED5"/>
            </a:solidFill>
            <a:prstDash val="solid"/>
          </a:ln>
        </p:spPr>
      </p:sp>
      <p:sp>
        <p:nvSpPr>
          <p:cNvPr id="17" name="Text 15"/>
          <p:cNvSpPr txBox="1"/>
          <p:nvPr/>
        </p:nvSpPr>
        <p:spPr>
          <a:xfrm>
            <a:off x="1073150" y="4080470"/>
            <a:ext cx="2865934" cy="412750"/>
          </a:xfrm>
          <a:prstGeom prst="rect">
            <a:avLst/>
          </a:prstGeom>
          <a:noFill/>
          <a:ln/>
        </p:spPr>
        <p:txBody>
          <a:bodyPr wrap="none" lIns="0" tIns="0" rIns="0" bIns="0" rtlCol="0" anchor="t"/>
          <a:lstStyle/>
          <a:p>
            <a:pPr algn="l" indent="0" marL="0">
              <a:lnSpc>
                <a:spcPct val="140000"/>
              </a:lnSpc>
              <a:buNone/>
            </a:pPr>
            <a:r>
              <a:rPr lang="en-US" sz="2200" dirty="0">
                <a:solidFill>
                  <a:srgbClr val="B4481A"/>
                </a:solidFill>
                <a:latin typeface="Avenir Next Condensed" pitchFamily="34" charset="0"/>
                <a:ea typeface="Avenir Next Condensed" pitchFamily="34" charset="-122"/>
                <a:cs typeface="Avenir Next Condensed" pitchFamily="34" charset="-120"/>
              </a:rPr>
              <a:t>04</a:t>
            </a:r>
            <a:endParaRPr lang="en-US" sz="2200" dirty="0"/>
          </a:p>
        </p:txBody>
      </p:sp>
      <p:sp>
        <p:nvSpPr>
          <p:cNvPr id="18" name="Text 16"/>
          <p:cNvSpPr txBox="1"/>
          <p:nvPr/>
        </p:nvSpPr>
        <p:spPr>
          <a:xfrm>
            <a:off x="1073150" y="4569420"/>
            <a:ext cx="2865934" cy="368300"/>
          </a:xfrm>
          <a:prstGeom prst="rect">
            <a:avLst/>
          </a:prstGeom>
          <a:noFill/>
          <a:ln/>
        </p:spPr>
        <p:txBody>
          <a:bodyPr wrap="none" lIns="0" tIns="0" rIns="0" bIns="0" rtlCol="0" anchor="t"/>
          <a:lstStyle/>
          <a:p>
            <a:pPr algn="l" indent="0" marL="0">
              <a:lnSpc>
                <a:spcPct val="140000"/>
              </a:lnSpc>
              <a:buNone/>
            </a:pPr>
            <a:r>
              <a:rPr lang="en-US" sz="2000" b="1" dirty="0">
                <a:solidFill>
                  <a:srgbClr val="14213D"/>
                </a:solidFill>
                <a:latin typeface="Hiragino Sans" pitchFamily="34" charset="0"/>
                <a:ea typeface="Hiragino Sans" pitchFamily="34" charset="-122"/>
                <a:cs typeface="Hiragino Sans" pitchFamily="34" charset="-120"/>
              </a:rPr>
              <a:t>研修内容</a:t>
            </a:r>
            <a:endParaRPr lang="en-US" sz="2000" dirty="0"/>
          </a:p>
        </p:txBody>
      </p:sp>
      <p:sp>
        <p:nvSpPr>
          <p:cNvPr id="19" name="Text 17"/>
          <p:cNvSpPr txBox="1"/>
          <p:nvPr/>
        </p:nvSpPr>
        <p:spPr>
          <a:xfrm>
            <a:off x="1073150" y="5013920"/>
            <a:ext cx="2865934" cy="222250"/>
          </a:xfrm>
          <a:prstGeom prst="rect">
            <a:avLst/>
          </a:prstGeom>
          <a:noFill/>
          <a:ln/>
        </p:spPr>
        <p:txBody>
          <a:bodyPr wrap="none" lIns="0" tIns="0" rIns="0" bIns="0" rtlCol="0" anchor="t"/>
          <a:lstStyle/>
          <a:p>
            <a:pPr algn="l" indent="0" marL="0">
              <a:lnSpc>
                <a:spcPct val="140000"/>
              </a:lnSpc>
              <a:buNone/>
            </a:pPr>
            <a:r>
              <a:rPr lang="en-US" sz="1200" dirty="0">
                <a:solidFill>
                  <a:srgbClr val="4A5568"/>
                </a:solidFill>
                <a:latin typeface="Hiragino Sans" pitchFamily="34" charset="0"/>
                <a:ea typeface="Hiragino Sans" pitchFamily="34" charset="-122"/>
                <a:cs typeface="Hiragino Sans" pitchFamily="34" charset="-120"/>
              </a:rPr>
              <a:t>7つの訪問先で聞いたこと・感じたこと</a:t>
            </a:r>
            <a:endParaRPr lang="en-US" sz="1200" dirty="0"/>
          </a:p>
        </p:txBody>
      </p:sp>
      <p:sp>
        <p:nvSpPr>
          <p:cNvPr id="20" name="Shape 18"/>
          <p:cNvSpPr/>
          <p:nvPr/>
        </p:nvSpPr>
        <p:spPr>
          <a:xfrm>
            <a:off x="4402634" y="3820120"/>
            <a:ext cx="3386634" cy="1676400"/>
          </a:xfrm>
          <a:prstGeom prst="roundRect">
            <a:avLst>
              <a:gd name="adj" fmla="val 3306"/>
            </a:avLst>
          </a:prstGeom>
          <a:solidFill>
            <a:srgbClr val="FDFCF9"/>
          </a:solidFill>
          <a:ln w="6350">
            <a:solidFill>
              <a:srgbClr val="E2DED5"/>
            </a:solidFill>
            <a:prstDash val="solid"/>
          </a:ln>
        </p:spPr>
      </p:sp>
      <p:sp>
        <p:nvSpPr>
          <p:cNvPr id="21" name="Text 19"/>
          <p:cNvSpPr txBox="1"/>
          <p:nvPr/>
        </p:nvSpPr>
        <p:spPr>
          <a:xfrm>
            <a:off x="4662984" y="4080470"/>
            <a:ext cx="2865934" cy="412750"/>
          </a:xfrm>
          <a:prstGeom prst="rect">
            <a:avLst/>
          </a:prstGeom>
          <a:noFill/>
          <a:ln/>
        </p:spPr>
        <p:txBody>
          <a:bodyPr wrap="none" lIns="0" tIns="0" rIns="0" bIns="0" rtlCol="0" anchor="t"/>
          <a:lstStyle/>
          <a:p>
            <a:pPr algn="l" indent="0" marL="0">
              <a:lnSpc>
                <a:spcPct val="140000"/>
              </a:lnSpc>
              <a:buNone/>
            </a:pPr>
            <a:r>
              <a:rPr lang="en-US" sz="2200" dirty="0">
                <a:solidFill>
                  <a:srgbClr val="B4481A"/>
                </a:solidFill>
                <a:latin typeface="Avenir Next Condensed" pitchFamily="34" charset="0"/>
                <a:ea typeface="Avenir Next Condensed" pitchFamily="34" charset="-122"/>
                <a:cs typeface="Avenir Next Condensed" pitchFamily="34" charset="-120"/>
              </a:rPr>
              <a:t>05</a:t>
            </a:r>
            <a:endParaRPr lang="en-US" sz="2200" dirty="0"/>
          </a:p>
        </p:txBody>
      </p:sp>
      <p:sp>
        <p:nvSpPr>
          <p:cNvPr id="22" name="Text 20"/>
          <p:cNvSpPr txBox="1"/>
          <p:nvPr/>
        </p:nvSpPr>
        <p:spPr>
          <a:xfrm>
            <a:off x="4662984" y="4569420"/>
            <a:ext cx="2865934" cy="368300"/>
          </a:xfrm>
          <a:prstGeom prst="rect">
            <a:avLst/>
          </a:prstGeom>
          <a:noFill/>
          <a:ln/>
        </p:spPr>
        <p:txBody>
          <a:bodyPr wrap="none" lIns="0" tIns="0" rIns="0" bIns="0" rtlCol="0" anchor="t"/>
          <a:lstStyle/>
          <a:p>
            <a:pPr algn="l" indent="0" marL="0">
              <a:lnSpc>
                <a:spcPct val="140000"/>
              </a:lnSpc>
              <a:buNone/>
            </a:pPr>
            <a:r>
              <a:rPr lang="en-US" sz="2000" b="1" dirty="0">
                <a:solidFill>
                  <a:srgbClr val="14213D"/>
                </a:solidFill>
                <a:latin typeface="Hiragino Sans" pitchFamily="34" charset="0"/>
                <a:ea typeface="Hiragino Sans" pitchFamily="34" charset="-122"/>
                <a:cs typeface="Hiragino Sans" pitchFamily="34" charset="-120"/>
              </a:rPr>
              <a:t>気づき</a:t>
            </a:r>
            <a:endParaRPr lang="en-US" sz="2000" dirty="0"/>
          </a:p>
        </p:txBody>
      </p:sp>
      <p:sp>
        <p:nvSpPr>
          <p:cNvPr id="23" name="Text 21"/>
          <p:cNvSpPr txBox="1"/>
          <p:nvPr/>
        </p:nvSpPr>
        <p:spPr>
          <a:xfrm>
            <a:off x="4662984" y="5013920"/>
            <a:ext cx="2865934" cy="222250"/>
          </a:xfrm>
          <a:prstGeom prst="rect">
            <a:avLst/>
          </a:prstGeom>
          <a:noFill/>
          <a:ln/>
        </p:spPr>
        <p:txBody>
          <a:bodyPr wrap="none" lIns="0" tIns="0" rIns="0" bIns="0" rtlCol="0" anchor="t"/>
          <a:lstStyle/>
          <a:p>
            <a:pPr algn="l" indent="0" marL="0">
              <a:lnSpc>
                <a:spcPct val="140000"/>
              </a:lnSpc>
              <a:buNone/>
            </a:pPr>
            <a:r>
              <a:rPr lang="en-US" sz="1200" dirty="0">
                <a:solidFill>
                  <a:srgbClr val="4A5568"/>
                </a:solidFill>
                <a:latin typeface="Hiragino Sans" pitchFamily="34" charset="0"/>
                <a:ea typeface="Hiragino Sans" pitchFamily="34" charset="-122"/>
                <a:cs typeface="Hiragino Sans" pitchFamily="34" charset="-120"/>
              </a:rPr>
              <a:t>人事システムのスワイプ結果</a:t>
            </a:r>
            <a:endParaRPr lang="en-US" sz="1200" dirty="0"/>
          </a:p>
        </p:txBody>
      </p:sp>
      <p:sp>
        <p:nvSpPr>
          <p:cNvPr id="24" name="Shape 22"/>
          <p:cNvSpPr/>
          <p:nvPr/>
        </p:nvSpPr>
        <p:spPr>
          <a:xfrm>
            <a:off x="7992467" y="3820120"/>
            <a:ext cx="3386634" cy="1676400"/>
          </a:xfrm>
          <a:prstGeom prst="roundRect">
            <a:avLst>
              <a:gd name="adj" fmla="val 3306"/>
            </a:avLst>
          </a:prstGeom>
          <a:solidFill>
            <a:srgbClr val="14213D"/>
          </a:solidFill>
          <a:ln/>
        </p:spPr>
      </p:sp>
      <p:sp>
        <p:nvSpPr>
          <p:cNvPr id="25" name="Text 23"/>
          <p:cNvSpPr txBox="1"/>
          <p:nvPr/>
        </p:nvSpPr>
        <p:spPr>
          <a:xfrm>
            <a:off x="8246467" y="4074120"/>
            <a:ext cx="2878634" cy="412750"/>
          </a:xfrm>
          <a:prstGeom prst="rect">
            <a:avLst/>
          </a:prstGeom>
          <a:noFill/>
          <a:ln/>
        </p:spPr>
        <p:txBody>
          <a:bodyPr wrap="none" lIns="0" tIns="0" rIns="0" bIns="0" rtlCol="0" anchor="t"/>
          <a:lstStyle/>
          <a:p>
            <a:pPr algn="l" indent="0" marL="0">
              <a:lnSpc>
                <a:spcPct val="140000"/>
              </a:lnSpc>
              <a:buNone/>
            </a:pPr>
            <a:r>
              <a:rPr lang="en-US" sz="2200" dirty="0">
                <a:solidFill>
                  <a:srgbClr val="F08A4B"/>
                </a:solidFill>
                <a:latin typeface="Avenir Next Condensed" pitchFamily="34" charset="0"/>
                <a:ea typeface="Avenir Next Condensed" pitchFamily="34" charset="-122"/>
                <a:cs typeface="Avenir Next Condensed" pitchFamily="34" charset="-120"/>
              </a:rPr>
              <a:t>06</a:t>
            </a:r>
            <a:endParaRPr lang="en-US" sz="2200" dirty="0"/>
          </a:p>
        </p:txBody>
      </p:sp>
      <p:sp>
        <p:nvSpPr>
          <p:cNvPr id="26" name="Text 24"/>
          <p:cNvSpPr txBox="1"/>
          <p:nvPr/>
        </p:nvSpPr>
        <p:spPr>
          <a:xfrm>
            <a:off x="8246467" y="4563070"/>
            <a:ext cx="2878634" cy="368300"/>
          </a:xfrm>
          <a:prstGeom prst="rect">
            <a:avLst/>
          </a:prstGeom>
          <a:noFill/>
          <a:ln/>
        </p:spPr>
        <p:txBody>
          <a:bodyPr wrap="none" lIns="0" tIns="0" rIns="0" bIns="0" rtlCol="0" anchor="t"/>
          <a:lstStyle/>
          <a:p>
            <a:pPr algn="l" indent="0" marL="0">
              <a:lnSpc>
                <a:spcPct val="140000"/>
              </a:lnSpc>
              <a:buNone/>
            </a:pPr>
            <a:r>
              <a:rPr lang="en-US" sz="2000" b="1" dirty="0">
                <a:solidFill>
                  <a:srgbClr val="F6F4EF"/>
                </a:solidFill>
                <a:latin typeface="Hiragino Sans" pitchFamily="34" charset="0"/>
                <a:ea typeface="Hiragino Sans" pitchFamily="34" charset="-122"/>
                <a:cs typeface="Hiragino Sans" pitchFamily="34" charset="-120"/>
              </a:rPr>
              <a:t>アクションプラン</a:t>
            </a:r>
            <a:endParaRPr lang="en-US" sz="2000" dirty="0"/>
          </a:p>
        </p:txBody>
      </p:sp>
      <p:sp>
        <p:nvSpPr>
          <p:cNvPr id="27" name="Text 25"/>
          <p:cNvSpPr txBox="1"/>
          <p:nvPr/>
        </p:nvSpPr>
        <p:spPr>
          <a:xfrm>
            <a:off x="8246467" y="5007570"/>
            <a:ext cx="2878634" cy="222250"/>
          </a:xfrm>
          <a:prstGeom prst="rect">
            <a:avLst/>
          </a:prstGeom>
          <a:noFill/>
          <a:ln/>
        </p:spPr>
        <p:txBody>
          <a:bodyPr wrap="none" lIns="0" tIns="0" rIns="0" bIns="0" rtlCol="0" anchor="t"/>
          <a:lstStyle/>
          <a:p>
            <a:pPr algn="l" indent="0" marL="0">
              <a:lnSpc>
                <a:spcPct val="140000"/>
              </a:lnSpc>
              <a:buNone/>
            </a:pPr>
            <a:r>
              <a:rPr lang="en-US" sz="1200" dirty="0">
                <a:solidFill>
                  <a:srgbClr val="C9D3E6"/>
                </a:solidFill>
                <a:latin typeface="Hiragino Sans" pitchFamily="34" charset="0"/>
                <a:ea typeface="Hiragino Sans" pitchFamily="34" charset="-122"/>
                <a:cs typeface="Hiragino Sans" pitchFamily="34" charset="-120"/>
              </a:rPr>
              <a:t>明日から自社で何をするか</a:t>
            </a:r>
            <a:endParaRPr lang="en-US" sz="1200" dirty="0"/>
          </a:p>
        </p:txBody>
      </p:sp>
      <p:sp>
        <p:nvSpPr>
          <p:cNvPr id="28" name="Text 26"/>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29" name="Text 27"/>
          <p:cNvSpPr txBox="1"/>
          <p:nvPr/>
        </p:nvSpPr>
        <p:spPr>
          <a:xfrm>
            <a:off x="11227495" y="6223000"/>
            <a:ext cx="15170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01 ／ PURPOSE — WHY</a:t>
            </a:r>
            <a:endParaRPr lang="en-US" sz="1200" dirty="0"/>
          </a:p>
        </p:txBody>
      </p:sp>
      <p:sp>
        <p:nvSpPr>
          <p:cNvPr id="3" name="Text 1"/>
          <p:cNvSpPr txBox="1"/>
          <p:nvPr/>
        </p:nvSpPr>
        <p:spPr>
          <a:xfrm>
            <a:off x="812800" y="1123950"/>
            <a:ext cx="106426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世界トップクラスの企業の</a:t>
            </a:r>
            <a:endParaRPr lang="en-US" sz="3200" dirty="0"/>
          </a:p>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人事システムを自社に導入する</a:t>
            </a:r>
            <a:endParaRPr lang="en-US" sz="3200" dirty="0"/>
          </a:p>
        </p:txBody>
      </p:sp>
      <p:sp>
        <p:nvSpPr>
          <p:cNvPr id="4" name="Shape 2"/>
          <p:cNvSpPr/>
          <p:nvPr/>
        </p:nvSpPr>
        <p:spPr>
          <a:xfrm>
            <a:off x="812800" y="2363391"/>
            <a:ext cx="1991320" cy="1905000"/>
          </a:xfrm>
          <a:prstGeom prst="roundRect">
            <a:avLst>
              <a:gd name="adj" fmla="val 2560"/>
            </a:avLst>
          </a:prstGeom>
          <a:solidFill>
            <a:srgbClr val="FDFCF9"/>
          </a:solidFill>
          <a:ln w="6350">
            <a:solidFill>
              <a:srgbClr val="E2DED5"/>
            </a:solidFill>
            <a:prstDash val="solid"/>
          </a:ln>
        </p:spPr>
      </p:sp>
      <p:sp>
        <p:nvSpPr>
          <p:cNvPr id="5" name="Shape 3"/>
          <p:cNvSpPr/>
          <p:nvPr/>
        </p:nvSpPr>
        <p:spPr>
          <a:xfrm>
            <a:off x="1022350" y="2572941"/>
            <a:ext cx="304800" cy="304800"/>
          </a:xfrm>
          <a:prstGeom prst="ellipse">
            <a:avLst/>
          </a:prstGeom>
          <a:solidFill>
            <a:srgbClr val="B4481A">
              <a:alpha val="20000"/>
            </a:srgbClr>
          </a:solidFill>
          <a:ln w="19050">
            <a:solidFill>
              <a:srgbClr val="B4481A"/>
            </a:solidFill>
            <a:prstDash val="solid"/>
          </a:ln>
        </p:spPr>
      </p:sp>
      <p:sp>
        <p:nvSpPr>
          <p:cNvPr id="6" name="Text 4"/>
          <p:cNvSpPr txBox="1"/>
          <p:nvPr/>
        </p:nvSpPr>
        <p:spPr>
          <a:xfrm>
            <a:off x="1022350" y="2979341"/>
            <a:ext cx="1572220"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評価システム</a:t>
            </a:r>
            <a:endParaRPr lang="en-US" sz="1600" dirty="0"/>
          </a:p>
        </p:txBody>
      </p:sp>
      <p:sp>
        <p:nvSpPr>
          <p:cNvPr id="7" name="Text 5"/>
          <p:cNvSpPr txBox="1"/>
          <p:nvPr/>
        </p:nvSpPr>
        <p:spPr>
          <a:xfrm>
            <a:off x="1022350" y="3373041"/>
            <a:ext cx="1648420" cy="6858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何をしたら評価され、何をしたら評価されないか</a:t>
            </a:r>
            <a:endParaRPr lang="en-US" sz="1200" dirty="0"/>
          </a:p>
        </p:txBody>
      </p:sp>
      <p:sp>
        <p:nvSpPr>
          <p:cNvPr id="8" name="Shape 6"/>
          <p:cNvSpPr/>
          <p:nvPr/>
        </p:nvSpPr>
        <p:spPr>
          <a:xfrm>
            <a:off x="2956520" y="2363391"/>
            <a:ext cx="1991320" cy="1905000"/>
          </a:xfrm>
          <a:prstGeom prst="roundRect">
            <a:avLst>
              <a:gd name="adj" fmla="val 2560"/>
            </a:avLst>
          </a:prstGeom>
          <a:solidFill>
            <a:srgbClr val="FDFCF9"/>
          </a:solidFill>
          <a:ln w="6350">
            <a:solidFill>
              <a:srgbClr val="E2DED5"/>
            </a:solidFill>
            <a:prstDash val="solid"/>
          </a:ln>
        </p:spPr>
      </p:sp>
      <p:sp>
        <p:nvSpPr>
          <p:cNvPr id="9" name="Shape 7"/>
          <p:cNvSpPr/>
          <p:nvPr/>
        </p:nvSpPr>
        <p:spPr>
          <a:xfrm>
            <a:off x="3166070" y="2572941"/>
            <a:ext cx="304800" cy="304800"/>
          </a:xfrm>
          <a:prstGeom prst="ellipse">
            <a:avLst/>
          </a:prstGeom>
          <a:solidFill>
            <a:srgbClr val="B4481A">
              <a:alpha val="20000"/>
            </a:srgbClr>
          </a:solidFill>
          <a:ln w="19050">
            <a:solidFill>
              <a:srgbClr val="B4481A"/>
            </a:solidFill>
            <a:prstDash val="solid"/>
          </a:ln>
        </p:spPr>
      </p:sp>
      <p:sp>
        <p:nvSpPr>
          <p:cNvPr id="10" name="Text 8"/>
          <p:cNvSpPr txBox="1"/>
          <p:nvPr/>
        </p:nvSpPr>
        <p:spPr>
          <a:xfrm>
            <a:off x="3166070" y="2979341"/>
            <a:ext cx="1572220"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組織システム</a:t>
            </a:r>
            <a:endParaRPr lang="en-US" sz="1600" dirty="0"/>
          </a:p>
        </p:txBody>
      </p:sp>
      <p:sp>
        <p:nvSpPr>
          <p:cNvPr id="11" name="Text 9"/>
          <p:cNvSpPr txBox="1"/>
          <p:nvPr/>
        </p:nvSpPr>
        <p:spPr>
          <a:xfrm>
            <a:off x="3166070" y="3373041"/>
            <a:ext cx="164842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誰が何に責任を持ち、どう動くか</a:t>
            </a:r>
            <a:endParaRPr lang="en-US" sz="1200" dirty="0"/>
          </a:p>
        </p:txBody>
      </p:sp>
      <p:sp>
        <p:nvSpPr>
          <p:cNvPr id="12" name="Shape 10"/>
          <p:cNvSpPr/>
          <p:nvPr/>
        </p:nvSpPr>
        <p:spPr>
          <a:xfrm>
            <a:off x="5100241" y="2363391"/>
            <a:ext cx="1991420" cy="1905000"/>
          </a:xfrm>
          <a:prstGeom prst="roundRect">
            <a:avLst>
              <a:gd name="adj" fmla="val 2560"/>
            </a:avLst>
          </a:prstGeom>
          <a:solidFill>
            <a:srgbClr val="FDFCF9"/>
          </a:solidFill>
          <a:ln w="6350">
            <a:solidFill>
              <a:srgbClr val="E2DED5"/>
            </a:solidFill>
            <a:prstDash val="solid"/>
          </a:ln>
        </p:spPr>
      </p:sp>
      <p:sp>
        <p:nvSpPr>
          <p:cNvPr id="13" name="Shape 11"/>
          <p:cNvSpPr/>
          <p:nvPr/>
        </p:nvSpPr>
        <p:spPr>
          <a:xfrm>
            <a:off x="5309791" y="2572941"/>
            <a:ext cx="304800" cy="304800"/>
          </a:xfrm>
          <a:prstGeom prst="ellipse">
            <a:avLst/>
          </a:prstGeom>
          <a:solidFill>
            <a:srgbClr val="B4481A">
              <a:alpha val="20000"/>
            </a:srgbClr>
          </a:solidFill>
          <a:ln w="19050">
            <a:solidFill>
              <a:srgbClr val="B4481A"/>
            </a:solidFill>
            <a:prstDash val="solid"/>
          </a:ln>
        </p:spPr>
      </p:sp>
      <p:sp>
        <p:nvSpPr>
          <p:cNvPr id="14" name="Text 12"/>
          <p:cNvSpPr txBox="1"/>
          <p:nvPr/>
        </p:nvSpPr>
        <p:spPr>
          <a:xfrm>
            <a:off x="5309791" y="2979341"/>
            <a:ext cx="1572320"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給与システム</a:t>
            </a:r>
            <a:endParaRPr lang="en-US" sz="1600" dirty="0"/>
          </a:p>
        </p:txBody>
      </p:sp>
      <p:sp>
        <p:nvSpPr>
          <p:cNvPr id="15" name="Text 13"/>
          <p:cNvSpPr txBox="1"/>
          <p:nvPr/>
        </p:nvSpPr>
        <p:spPr>
          <a:xfrm>
            <a:off x="5309791" y="3373041"/>
            <a:ext cx="164852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成果がどう報酬に還元されるか</a:t>
            </a:r>
            <a:endParaRPr lang="en-US" sz="1200" dirty="0"/>
          </a:p>
        </p:txBody>
      </p:sp>
      <p:sp>
        <p:nvSpPr>
          <p:cNvPr id="16" name="Shape 14"/>
          <p:cNvSpPr/>
          <p:nvPr/>
        </p:nvSpPr>
        <p:spPr>
          <a:xfrm>
            <a:off x="7244060" y="2363391"/>
            <a:ext cx="1991320" cy="1905000"/>
          </a:xfrm>
          <a:prstGeom prst="roundRect">
            <a:avLst>
              <a:gd name="adj" fmla="val 2560"/>
            </a:avLst>
          </a:prstGeom>
          <a:solidFill>
            <a:srgbClr val="FDFCF9"/>
          </a:solidFill>
          <a:ln w="6350">
            <a:solidFill>
              <a:srgbClr val="E2DED5"/>
            </a:solidFill>
            <a:prstDash val="solid"/>
          </a:ln>
        </p:spPr>
      </p:sp>
      <p:sp>
        <p:nvSpPr>
          <p:cNvPr id="17" name="Shape 15"/>
          <p:cNvSpPr/>
          <p:nvPr/>
        </p:nvSpPr>
        <p:spPr>
          <a:xfrm>
            <a:off x="7453610" y="2572941"/>
            <a:ext cx="304800" cy="304800"/>
          </a:xfrm>
          <a:prstGeom prst="ellipse">
            <a:avLst/>
          </a:prstGeom>
          <a:solidFill>
            <a:srgbClr val="B4481A">
              <a:alpha val="20000"/>
            </a:srgbClr>
          </a:solidFill>
          <a:ln w="19050">
            <a:solidFill>
              <a:srgbClr val="B4481A"/>
            </a:solidFill>
            <a:prstDash val="solid"/>
          </a:ln>
        </p:spPr>
      </p:sp>
      <p:sp>
        <p:nvSpPr>
          <p:cNvPr id="18" name="Text 16"/>
          <p:cNvSpPr txBox="1"/>
          <p:nvPr/>
        </p:nvSpPr>
        <p:spPr>
          <a:xfrm>
            <a:off x="7453610" y="2979341"/>
            <a:ext cx="1572220"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教育システム</a:t>
            </a:r>
            <a:endParaRPr lang="en-US" sz="1600" dirty="0"/>
          </a:p>
        </p:txBody>
      </p:sp>
      <p:sp>
        <p:nvSpPr>
          <p:cNvPr id="19" name="Text 17"/>
          <p:cNvSpPr txBox="1"/>
          <p:nvPr/>
        </p:nvSpPr>
        <p:spPr>
          <a:xfrm>
            <a:off x="7453610" y="3373041"/>
            <a:ext cx="164842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人がどう育ち、自律していくか</a:t>
            </a:r>
            <a:endParaRPr lang="en-US" sz="1200" dirty="0"/>
          </a:p>
        </p:txBody>
      </p:sp>
      <p:sp>
        <p:nvSpPr>
          <p:cNvPr id="20" name="Shape 18"/>
          <p:cNvSpPr/>
          <p:nvPr/>
        </p:nvSpPr>
        <p:spPr>
          <a:xfrm>
            <a:off x="9387780" y="2363391"/>
            <a:ext cx="1991420" cy="1905000"/>
          </a:xfrm>
          <a:prstGeom prst="roundRect">
            <a:avLst>
              <a:gd name="adj" fmla="val 2560"/>
            </a:avLst>
          </a:prstGeom>
          <a:solidFill>
            <a:srgbClr val="FDFCF9"/>
          </a:solidFill>
          <a:ln w="6350">
            <a:solidFill>
              <a:srgbClr val="E2DED5"/>
            </a:solidFill>
            <a:prstDash val="solid"/>
          </a:ln>
        </p:spPr>
      </p:sp>
      <p:sp>
        <p:nvSpPr>
          <p:cNvPr id="21" name="Shape 19"/>
          <p:cNvSpPr/>
          <p:nvPr/>
        </p:nvSpPr>
        <p:spPr>
          <a:xfrm>
            <a:off x="9597330" y="2572941"/>
            <a:ext cx="304800" cy="304800"/>
          </a:xfrm>
          <a:prstGeom prst="ellipse">
            <a:avLst/>
          </a:prstGeom>
          <a:solidFill>
            <a:srgbClr val="B4481A">
              <a:alpha val="20000"/>
            </a:srgbClr>
          </a:solidFill>
          <a:ln w="19050">
            <a:solidFill>
              <a:srgbClr val="B4481A"/>
            </a:solidFill>
            <a:prstDash val="solid"/>
          </a:ln>
        </p:spPr>
      </p:sp>
      <p:sp>
        <p:nvSpPr>
          <p:cNvPr id="22" name="Text 20"/>
          <p:cNvSpPr txBox="1"/>
          <p:nvPr/>
        </p:nvSpPr>
        <p:spPr>
          <a:xfrm>
            <a:off x="9597330" y="2979341"/>
            <a:ext cx="1572320"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採用システム</a:t>
            </a:r>
            <a:endParaRPr lang="en-US" sz="1600" dirty="0"/>
          </a:p>
        </p:txBody>
      </p:sp>
      <p:sp>
        <p:nvSpPr>
          <p:cNvPr id="23" name="Text 21"/>
          <p:cNvSpPr txBox="1"/>
          <p:nvPr/>
        </p:nvSpPr>
        <p:spPr>
          <a:xfrm>
            <a:off x="9597330" y="3373041"/>
            <a:ext cx="164852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誰を、どう見抜いて採るか</a:t>
            </a:r>
            <a:endParaRPr lang="en-US" sz="1200" dirty="0"/>
          </a:p>
        </p:txBody>
      </p:sp>
      <p:sp>
        <p:nvSpPr>
          <p:cNvPr id="24" name="Shape 22"/>
          <p:cNvSpPr/>
          <p:nvPr/>
        </p:nvSpPr>
        <p:spPr>
          <a:xfrm>
            <a:off x="812800" y="4573191"/>
            <a:ext cx="10566400" cy="660400"/>
          </a:xfrm>
          <a:prstGeom prst="roundRect">
            <a:avLst>
              <a:gd name="adj" fmla="val 21302"/>
            </a:avLst>
          </a:prstGeom>
          <a:solidFill>
            <a:srgbClr val="14213D"/>
          </a:solidFill>
          <a:ln/>
        </p:spPr>
      </p:sp>
      <p:sp>
        <p:nvSpPr>
          <p:cNvPr id="25" name="Text 23"/>
          <p:cNvSpPr txBox="1"/>
          <p:nvPr/>
        </p:nvSpPr>
        <p:spPr>
          <a:xfrm>
            <a:off x="1066800" y="4776391"/>
            <a:ext cx="533499" cy="254000"/>
          </a:xfrm>
          <a:prstGeom prst="rect">
            <a:avLst/>
          </a:prstGeom>
          <a:noFill/>
          <a:ln/>
        </p:spPr>
        <p:txBody>
          <a:bodyPr wrap="none" lIns="0" tIns="0" rIns="0" bIns="0" rtlCol="0" anchor="t"/>
          <a:lstStyle/>
          <a:p>
            <a:pPr algn="l" indent="0" marL="0">
              <a:lnSpc>
                <a:spcPct val="140000"/>
              </a:lnSpc>
              <a:buNone/>
            </a:pPr>
            <a:r>
              <a:rPr lang="en-US" sz="1400" b="1" dirty="0">
                <a:solidFill>
                  <a:srgbClr val="F08A4B"/>
                </a:solidFill>
                <a:latin typeface="Hiragino Sans" pitchFamily="34" charset="0"/>
                <a:ea typeface="Hiragino Sans" pitchFamily="34" charset="-122"/>
                <a:cs typeface="Hiragino Sans" pitchFamily="34" charset="-120"/>
              </a:rPr>
              <a:t>進め方</a:t>
            </a:r>
            <a:endParaRPr lang="en-US" sz="1400" dirty="0"/>
          </a:p>
        </p:txBody>
      </p:sp>
      <p:sp>
        <p:nvSpPr>
          <p:cNvPr id="26" name="Text 24"/>
          <p:cNvSpPr txBox="1"/>
          <p:nvPr/>
        </p:nvSpPr>
        <p:spPr>
          <a:xfrm>
            <a:off x="1752699" y="4776391"/>
            <a:ext cx="8155484" cy="254000"/>
          </a:xfrm>
          <a:prstGeom prst="rect">
            <a:avLst/>
          </a:prstGeom>
          <a:noFill/>
          <a:ln/>
        </p:spPr>
        <p:txBody>
          <a:bodyPr wrap="none" lIns="0" tIns="0" rIns="0" bIns="0" rtlCol="0" anchor="t"/>
          <a:lstStyle/>
          <a:p>
            <a:pPr algn="l" indent="0" marL="0">
              <a:lnSpc>
                <a:spcPct val="140000"/>
              </a:lnSpc>
              <a:buNone/>
            </a:pPr>
            <a:r>
              <a:rPr lang="en-US" sz="1400" dirty="0">
                <a:solidFill>
                  <a:srgbClr val="F6F4EF"/>
                </a:solidFill>
                <a:latin typeface="Hiragino Sans" pitchFamily="34" charset="0"/>
                <a:ea typeface="Hiragino Sans" pitchFamily="34" charset="-122"/>
                <a:cs typeface="Hiragino Sans" pitchFamily="34" charset="-120"/>
              </a:rPr>
              <a:t>シリコンバレー企業の人事システムを</a:t>
            </a:r>
            <a:pPr algn="l" indent="0" marL="0">
              <a:lnSpc>
                <a:spcPct val="140000"/>
              </a:lnSpc>
              <a:buNone/>
            </a:pPr>
            <a:r>
              <a:rPr lang="en-US" sz="1400" b="1" dirty="0">
                <a:solidFill>
                  <a:srgbClr val="F6F4EF"/>
                </a:solidFill>
                <a:latin typeface="Hiragino Sans" pitchFamily="34" charset="0"/>
                <a:ea typeface="Hiragino Sans" pitchFamily="34" charset="-122"/>
                <a:cs typeface="Hiragino Sans" pitchFamily="34" charset="-120"/>
              </a:rPr>
              <a:t>スワイプ</a:t>
            </a:r>
            <a:pPr algn="l" indent="0" marL="0">
              <a:lnSpc>
                <a:spcPct val="140000"/>
              </a:lnSpc>
              <a:buNone/>
            </a:pPr>
            <a:r>
              <a:rPr lang="en-US" sz="1400" dirty="0">
                <a:solidFill>
                  <a:srgbClr val="F6F4EF"/>
                </a:solidFill>
                <a:latin typeface="Hiragino Sans" pitchFamily="34" charset="0"/>
                <a:ea typeface="Hiragino Sans" pitchFamily="34" charset="-122"/>
                <a:cs typeface="Hiragino Sans" pitchFamily="34" charset="-120"/>
              </a:rPr>
              <a:t> → 人事戦術の</a:t>
            </a:r>
            <a:pPr algn="l" indent="0" marL="0">
              <a:lnSpc>
                <a:spcPct val="140000"/>
              </a:lnSpc>
              <a:buNone/>
            </a:pPr>
            <a:r>
              <a:rPr lang="en-US" sz="1400" b="1" dirty="0">
                <a:solidFill>
                  <a:srgbClr val="F6F4EF"/>
                </a:solidFill>
                <a:latin typeface="Hiragino Sans" pitchFamily="34" charset="0"/>
                <a:ea typeface="Hiragino Sans" pitchFamily="34" charset="-122"/>
                <a:cs typeface="Hiragino Sans" pitchFamily="34" charset="-120"/>
              </a:rPr>
              <a:t>タスク化</a:t>
            </a:r>
            <a:pPr algn="l" indent="0" marL="0">
              <a:lnSpc>
                <a:spcPct val="140000"/>
              </a:lnSpc>
              <a:buNone/>
            </a:pPr>
            <a:r>
              <a:rPr lang="en-US" sz="1400" dirty="0">
                <a:solidFill>
                  <a:srgbClr val="F6F4EF"/>
                </a:solidFill>
                <a:latin typeface="Hiragino Sans" pitchFamily="34" charset="0"/>
                <a:ea typeface="Hiragino Sans" pitchFamily="34" charset="-122"/>
                <a:cs typeface="Hiragino Sans" pitchFamily="34" charset="-120"/>
              </a:rPr>
              <a:t> → </a:t>
            </a:r>
            <a:pPr algn="l" indent="0" marL="0">
              <a:lnSpc>
                <a:spcPct val="140000"/>
              </a:lnSpc>
              <a:buNone/>
            </a:pPr>
            <a:r>
              <a:rPr lang="en-US" sz="1400" b="1" dirty="0">
                <a:solidFill>
                  <a:srgbClr val="F6F4EF"/>
                </a:solidFill>
                <a:latin typeface="Hiragino Sans" pitchFamily="34" charset="0"/>
                <a:ea typeface="Hiragino Sans" pitchFamily="34" charset="-122"/>
                <a:cs typeface="Hiragino Sans" pitchFamily="34" charset="-120"/>
              </a:rPr>
              <a:t>自社への落とし込み</a:t>
            </a:r>
            <a:pPr algn="l" indent="0" marL="0">
              <a:lnSpc>
                <a:spcPct val="140000"/>
              </a:lnSpc>
              <a:buNone/>
            </a:pPr>
            <a:r>
              <a:rPr lang="en-US" sz="1400" dirty="0">
                <a:solidFill>
                  <a:srgbClr val="F6F4EF"/>
                </a:solidFill>
                <a:latin typeface="Hiragino Sans" pitchFamily="34" charset="0"/>
                <a:ea typeface="Hiragino Sans" pitchFamily="34" charset="-122"/>
                <a:cs typeface="Hiragino Sans" pitchFamily="34" charset="-120"/>
              </a:rPr>
              <a:t>まで実施</a:t>
            </a:r>
            <a:endParaRPr lang="en-US" sz="1400" dirty="0"/>
          </a:p>
        </p:txBody>
      </p:sp>
      <p:sp>
        <p:nvSpPr>
          <p:cNvPr id="27" name="Text 25"/>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28" name="Text 26"/>
          <p:cNvSpPr txBox="1"/>
          <p:nvPr/>
        </p:nvSpPr>
        <p:spPr>
          <a:xfrm>
            <a:off x="11227693" y="6223000"/>
            <a:ext cx="151507"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02 ／ GOAL</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ゴールは 1人あたり生産性 2億円</a:t>
            </a:r>
            <a:endParaRPr lang="en-US" sz="3200" dirty="0"/>
          </a:p>
        </p:txBody>
      </p:sp>
      <p:sp>
        <p:nvSpPr>
          <p:cNvPr id="4" name="Shape 2"/>
          <p:cNvSpPr/>
          <p:nvPr/>
        </p:nvSpPr>
        <p:spPr>
          <a:xfrm>
            <a:off x="812800" y="1946870"/>
            <a:ext cx="4603750" cy="2489200"/>
          </a:xfrm>
          <a:prstGeom prst="roundRect">
            <a:avLst>
              <a:gd name="adj" fmla="val 1499"/>
            </a:avLst>
          </a:prstGeom>
          <a:solidFill>
            <a:srgbClr val="FDFCF9"/>
          </a:solidFill>
          <a:ln w="6350">
            <a:solidFill>
              <a:srgbClr val="E2DED5"/>
            </a:solidFill>
            <a:prstDash val="solid"/>
          </a:ln>
        </p:spPr>
      </p:sp>
      <p:sp>
        <p:nvSpPr>
          <p:cNvPr id="5" name="Text 3"/>
          <p:cNvSpPr txBox="1"/>
          <p:nvPr/>
        </p:nvSpPr>
        <p:spPr>
          <a:xfrm>
            <a:off x="1123950" y="2258020"/>
            <a:ext cx="3981450" cy="279400"/>
          </a:xfrm>
          <a:prstGeom prst="rect">
            <a:avLst/>
          </a:prstGeom>
          <a:noFill/>
          <a:ln/>
        </p:spPr>
        <p:txBody>
          <a:bodyPr wrap="none" lIns="0" tIns="0" rIns="0" bIns="0" rtlCol="0" anchor="t"/>
          <a:lstStyle/>
          <a:p>
            <a:pPr algn="l" indent="0" marL="0">
              <a:lnSpc>
                <a:spcPct val="140000"/>
              </a:lnSpc>
              <a:buNone/>
            </a:pPr>
            <a:r>
              <a:rPr lang="en-US" sz="1500" b="1" dirty="0">
                <a:solidFill>
                  <a:srgbClr val="4A5568"/>
                </a:solidFill>
                <a:latin typeface="Hiragino Sans" pitchFamily="34" charset="0"/>
                <a:ea typeface="Hiragino Sans" pitchFamily="34" charset="-122"/>
                <a:cs typeface="Hiragino Sans" pitchFamily="34" charset="-120"/>
              </a:rPr>
              <a:t>現状（5期目・MBJ）</a:t>
            </a:r>
            <a:endParaRPr lang="en-US" sz="1500" dirty="0"/>
          </a:p>
        </p:txBody>
      </p:sp>
      <p:sp>
        <p:nvSpPr>
          <p:cNvPr id="6" name="Text 4"/>
          <p:cNvSpPr txBox="1"/>
          <p:nvPr/>
        </p:nvSpPr>
        <p:spPr>
          <a:xfrm>
            <a:off x="1123950" y="2588220"/>
            <a:ext cx="3981450" cy="1117600"/>
          </a:xfrm>
          <a:prstGeom prst="rect">
            <a:avLst/>
          </a:prstGeom>
          <a:noFill/>
          <a:ln/>
        </p:spPr>
        <p:txBody>
          <a:bodyPr wrap="none" lIns="0" tIns="0" rIns="0" bIns="0" rtlCol="0" anchor="t"/>
          <a:lstStyle/>
          <a:p>
            <a:pPr algn="l" indent="0" marL="0">
              <a:lnSpc>
                <a:spcPct val="110000"/>
              </a:lnSpc>
              <a:buNone/>
            </a:pPr>
            <a:r>
              <a:rPr lang="en-US" sz="8000" dirty="0">
                <a:solidFill>
                  <a:srgbClr val="4A5568"/>
                </a:solidFill>
                <a:latin typeface="Avenir Next Condensed" pitchFamily="34" charset="0"/>
                <a:ea typeface="Avenir Next Condensed" pitchFamily="34" charset="-122"/>
                <a:cs typeface="Avenir Next Condensed" pitchFamily="34" charset="-120"/>
              </a:rPr>
              <a:t>8,000</a:t>
            </a:r>
            <a:endParaRPr lang="en-US" sz="8000" dirty="0"/>
          </a:p>
        </p:txBody>
      </p:sp>
      <p:sp>
        <p:nvSpPr>
          <p:cNvPr id="7" name="Text 5"/>
          <p:cNvSpPr txBox="1"/>
          <p:nvPr/>
        </p:nvSpPr>
        <p:spPr>
          <a:xfrm>
            <a:off x="1123950" y="3756620"/>
            <a:ext cx="3981450" cy="368300"/>
          </a:xfrm>
          <a:prstGeom prst="rect">
            <a:avLst/>
          </a:prstGeom>
          <a:noFill/>
          <a:ln/>
        </p:spPr>
        <p:txBody>
          <a:bodyPr wrap="none" lIns="0" tIns="0" rIns="0" bIns="0" rtlCol="0" anchor="t"/>
          <a:lstStyle/>
          <a:p>
            <a:pPr algn="l" indent="0" marL="0">
              <a:lnSpc>
                <a:spcPct val="140000"/>
              </a:lnSpc>
              <a:buNone/>
            </a:pPr>
            <a:r>
              <a:rPr lang="en-US" sz="2000" b="1" dirty="0">
                <a:solidFill>
                  <a:srgbClr val="4A5568"/>
                </a:solidFill>
                <a:latin typeface="Hiragino Sans" pitchFamily="34" charset="0"/>
                <a:ea typeface="Hiragino Sans" pitchFamily="34" charset="-122"/>
                <a:cs typeface="Hiragino Sans" pitchFamily="34" charset="-120"/>
              </a:rPr>
              <a:t>万円弱 ／ 人</a:t>
            </a:r>
            <a:endParaRPr lang="en-US" sz="2000" dirty="0"/>
          </a:p>
        </p:txBody>
      </p:sp>
      <p:sp>
        <p:nvSpPr>
          <p:cNvPr id="8" name="Shape 6"/>
          <p:cNvSpPr/>
          <p:nvPr/>
        </p:nvSpPr>
        <p:spPr>
          <a:xfrm>
            <a:off x="5721350" y="2988270"/>
            <a:ext cx="762000" cy="406400"/>
          </a:xfrm>
          <a:prstGeom prst="rightArrow">
            <a:avLst/>
          </a:prstGeom>
          <a:solidFill>
            <a:srgbClr val="E0662B"/>
          </a:solidFill>
          <a:ln/>
        </p:spPr>
      </p:sp>
      <p:sp>
        <p:nvSpPr>
          <p:cNvPr id="9" name="Shape 7"/>
          <p:cNvSpPr/>
          <p:nvPr/>
        </p:nvSpPr>
        <p:spPr>
          <a:xfrm>
            <a:off x="6788150" y="1953220"/>
            <a:ext cx="4591050" cy="2476500"/>
          </a:xfrm>
          <a:prstGeom prst="roundRect">
            <a:avLst>
              <a:gd name="adj" fmla="val 1515"/>
            </a:avLst>
          </a:prstGeom>
          <a:solidFill>
            <a:srgbClr val="14213D"/>
          </a:solidFill>
          <a:ln/>
        </p:spPr>
      </p:sp>
      <p:sp>
        <p:nvSpPr>
          <p:cNvPr id="10" name="Text 8"/>
          <p:cNvSpPr txBox="1"/>
          <p:nvPr/>
        </p:nvSpPr>
        <p:spPr>
          <a:xfrm>
            <a:off x="7092950" y="2258020"/>
            <a:ext cx="3981450" cy="279400"/>
          </a:xfrm>
          <a:prstGeom prst="rect">
            <a:avLst/>
          </a:prstGeom>
          <a:noFill/>
          <a:ln/>
        </p:spPr>
        <p:txBody>
          <a:bodyPr wrap="none" lIns="0" tIns="0" rIns="0" bIns="0" rtlCol="0" anchor="t"/>
          <a:lstStyle/>
          <a:p>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ゴール</a:t>
            </a:r>
            <a:endParaRPr lang="en-US" sz="1500" dirty="0"/>
          </a:p>
        </p:txBody>
      </p:sp>
      <p:sp>
        <p:nvSpPr>
          <p:cNvPr id="11" name="Text 9"/>
          <p:cNvSpPr txBox="1"/>
          <p:nvPr/>
        </p:nvSpPr>
        <p:spPr>
          <a:xfrm>
            <a:off x="7092950" y="2588220"/>
            <a:ext cx="3981450" cy="1117600"/>
          </a:xfrm>
          <a:prstGeom prst="rect">
            <a:avLst/>
          </a:prstGeom>
          <a:noFill/>
          <a:ln/>
        </p:spPr>
        <p:txBody>
          <a:bodyPr wrap="none" lIns="0" tIns="0" rIns="0" bIns="0" rtlCol="0" anchor="t"/>
          <a:lstStyle/>
          <a:p>
            <a:pPr algn="l" indent="0" marL="0">
              <a:lnSpc>
                <a:spcPct val="110000"/>
              </a:lnSpc>
              <a:buNone/>
            </a:pPr>
            <a:r>
              <a:rPr lang="en-US" sz="8000" dirty="0">
                <a:solidFill>
                  <a:srgbClr val="F6F4EF"/>
                </a:solidFill>
                <a:latin typeface="Avenir Next Condensed" pitchFamily="34" charset="0"/>
                <a:ea typeface="Avenir Next Condensed" pitchFamily="34" charset="-122"/>
                <a:cs typeface="Avenir Next Condensed" pitchFamily="34" charset="-120"/>
              </a:rPr>
              <a:t>2</a:t>
            </a:r>
            <a:endParaRPr lang="en-US" sz="8000" dirty="0"/>
          </a:p>
        </p:txBody>
      </p:sp>
      <p:sp>
        <p:nvSpPr>
          <p:cNvPr id="12" name="Text 10"/>
          <p:cNvSpPr txBox="1"/>
          <p:nvPr/>
        </p:nvSpPr>
        <p:spPr>
          <a:xfrm>
            <a:off x="7092950" y="3756620"/>
            <a:ext cx="3981450" cy="368300"/>
          </a:xfrm>
          <a:prstGeom prst="rect">
            <a:avLst/>
          </a:prstGeom>
          <a:noFill/>
          <a:ln/>
        </p:spPr>
        <p:txBody>
          <a:bodyPr wrap="none" lIns="0" tIns="0" rIns="0" bIns="0" rtlCol="0" anchor="t"/>
          <a:lstStyle/>
          <a:p>
            <a:pPr algn="l" indent="0" marL="0">
              <a:lnSpc>
                <a:spcPct val="140000"/>
              </a:lnSpc>
              <a:buNone/>
            </a:pPr>
            <a:r>
              <a:rPr lang="en-US" sz="2000" b="1" dirty="0">
                <a:solidFill>
                  <a:srgbClr val="F6F4EF"/>
                </a:solidFill>
                <a:latin typeface="Hiragino Sans" pitchFamily="34" charset="0"/>
                <a:ea typeface="Hiragino Sans" pitchFamily="34" charset="-122"/>
                <a:cs typeface="Hiragino Sans" pitchFamily="34" charset="-120"/>
              </a:rPr>
              <a:t>億円 ／ 人</a:t>
            </a:r>
            <a:endParaRPr lang="en-US" sz="2000" dirty="0"/>
          </a:p>
        </p:txBody>
      </p:sp>
      <p:sp>
        <p:nvSpPr>
          <p:cNvPr id="13" name="Text 11"/>
          <p:cNvSpPr txBox="1"/>
          <p:nvPr/>
        </p:nvSpPr>
        <p:spPr>
          <a:xfrm>
            <a:off x="812800" y="4791670"/>
            <a:ext cx="10566400" cy="304800"/>
          </a:xfrm>
          <a:prstGeom prst="rect">
            <a:avLst/>
          </a:prstGeom>
          <a:noFill/>
          <a:ln/>
        </p:spPr>
        <p:txBody>
          <a:bodyPr wrap="none" lIns="0" tIns="0" rIns="0" bIns="0" rtlCol="0" anchor="t"/>
          <a:lstStyle/>
          <a:p>
            <a:pPr algn="l" indent="0" marL="0">
              <a:lnSpc>
                <a:spcPct val="150000"/>
              </a:lnSpc>
              <a:buNone/>
            </a:pPr>
            <a:r>
              <a:rPr lang="en-US" sz="1600" b="1" dirty="0">
                <a:solidFill>
                  <a:srgbClr val="14213D"/>
                </a:solidFill>
                <a:latin typeface="Hiragino Sans" pitchFamily="34" charset="0"/>
                <a:ea typeface="Hiragino Sans" pitchFamily="34" charset="-122"/>
                <a:cs typeface="Hiragino Sans" pitchFamily="34" charset="-120"/>
              </a:rPr>
              <a:t>約2.5倍</a:t>
            </a:r>
            <a:pPr algn="l" indent="0" marL="0">
              <a:lnSpc>
                <a:spcPct val="150000"/>
              </a:lnSpc>
              <a:buNone/>
            </a:pPr>
            <a:r>
              <a:rPr lang="en-US" sz="1600" dirty="0">
                <a:solidFill>
                  <a:srgbClr val="14213D"/>
                </a:solidFill>
                <a:latin typeface="Hiragino Sans" pitchFamily="34" charset="0"/>
                <a:ea typeface="Hiragino Sans" pitchFamily="34" charset="-122"/>
                <a:cs typeface="Hiragino Sans" pitchFamily="34" charset="-120"/>
              </a:rPr>
              <a:t>の生産性が必要。人を増やすだけでは届かない — </a:t>
            </a:r>
            <a:pPr algn="l" indent="0" marL="0">
              <a:lnSpc>
                <a:spcPct val="150000"/>
              </a:lnSpc>
              <a:buNone/>
            </a:pPr>
            <a:r>
              <a:rPr lang="en-US" sz="1600" b="1" dirty="0">
                <a:solidFill>
                  <a:srgbClr val="B4481A"/>
                </a:solidFill>
                <a:latin typeface="Hiragino Sans" pitchFamily="34" charset="0"/>
                <a:ea typeface="Hiragino Sans" pitchFamily="34" charset="-122"/>
                <a:cs typeface="Hiragino Sans" pitchFamily="34" charset="-120"/>
              </a:rPr>
              <a:t>仕組み（人事システム）</a:t>
            </a:r>
            <a:pPr algn="l" indent="0" marL="0">
              <a:lnSpc>
                <a:spcPct val="150000"/>
              </a:lnSpc>
              <a:buNone/>
            </a:pPr>
            <a:r>
              <a:rPr lang="en-US" sz="1600" dirty="0">
                <a:solidFill>
                  <a:srgbClr val="14213D"/>
                </a:solidFill>
                <a:latin typeface="Hiragino Sans" pitchFamily="34" charset="0"/>
                <a:ea typeface="Hiragino Sans" pitchFamily="34" charset="-122"/>
                <a:cs typeface="Hiragino Sans" pitchFamily="34" charset="-120"/>
              </a:rPr>
              <a:t>から変える。</a:t>
            </a:r>
            <a:endParaRPr lang="en-US" sz="1600" dirty="0"/>
          </a:p>
        </p:txBody>
      </p:sp>
      <p:sp>
        <p:nvSpPr>
          <p:cNvPr id="14" name="Text 12"/>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5" name="Text 13"/>
          <p:cNvSpPr txBox="1"/>
          <p:nvPr/>
        </p:nvSpPr>
        <p:spPr>
          <a:xfrm>
            <a:off x="11226800" y="6223000"/>
            <a:ext cx="152400"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03 ／ ANALYSIS &amp; PROBLEM</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問題点：生産性が下がり続けている</a:t>
            </a:r>
            <a:endParaRPr lang="en-US" sz="3200" dirty="0"/>
          </a:p>
        </p:txBody>
      </p:sp>
      <p:sp>
        <p:nvSpPr>
          <p:cNvPr id="4" name="Text 2"/>
          <p:cNvSpPr txBox="1"/>
          <p:nvPr/>
        </p:nvSpPr>
        <p:spPr>
          <a:xfrm>
            <a:off x="812800" y="1845270"/>
            <a:ext cx="4902200" cy="234950"/>
          </a:xfrm>
          <a:prstGeom prst="rect">
            <a:avLst/>
          </a:prstGeom>
          <a:noFill/>
          <a:ln/>
        </p:spPr>
        <p:txBody>
          <a:bodyPr wrap="none" lIns="0" tIns="0" rIns="0" bIns="0" rtlCol="0" anchor="t"/>
          <a:lstStyle/>
          <a:p>
            <a:pPr algn="l" indent="0" marL="0">
              <a:lnSpc>
                <a:spcPct val="140000"/>
              </a:lnSpc>
              <a:buNone/>
            </a:pPr>
            <a:r>
              <a:rPr lang="en-US" sz="1300" b="1" dirty="0">
                <a:solidFill>
                  <a:srgbClr val="6B7280"/>
                </a:solidFill>
                <a:latin typeface="Hiragino Sans" pitchFamily="34" charset="0"/>
                <a:ea typeface="Hiragino Sans" pitchFamily="34" charset="-122"/>
                <a:cs typeface="Hiragino Sans" pitchFamily="34" charset="-120"/>
              </a:rPr>
              <a:t>起きていること</a:t>
            </a:r>
            <a:endParaRPr lang="en-US" sz="1300" dirty="0"/>
          </a:p>
        </p:txBody>
      </p:sp>
      <p:sp>
        <p:nvSpPr>
          <p:cNvPr id="5" name="Text 3"/>
          <p:cNvSpPr txBox="1"/>
          <p:nvPr/>
        </p:nvSpPr>
        <p:spPr>
          <a:xfrm>
            <a:off x="6477000" y="1845270"/>
            <a:ext cx="4902200" cy="234950"/>
          </a:xfrm>
          <a:prstGeom prst="rect">
            <a:avLst/>
          </a:prstGeom>
          <a:noFill/>
          <a:ln/>
        </p:spPr>
        <p:txBody>
          <a:bodyPr wrap="none" lIns="0" tIns="0" rIns="0" bIns="0" rtlCol="0" anchor="t"/>
          <a:lstStyle/>
          <a:p>
            <a:pPr algn="l" indent="0" marL="0">
              <a:lnSpc>
                <a:spcPct val="140000"/>
              </a:lnSpc>
              <a:buNone/>
            </a:pPr>
            <a:r>
              <a:rPr lang="en-US" sz="1300" b="1" dirty="0">
                <a:solidFill>
                  <a:srgbClr val="6B7280"/>
                </a:solidFill>
                <a:latin typeface="Hiragino Sans" pitchFamily="34" charset="0"/>
                <a:ea typeface="Hiragino Sans" pitchFamily="34" charset="-122"/>
                <a:cs typeface="Hiragino Sans" pitchFamily="34" charset="-120"/>
              </a:rPr>
              <a:t>原因</a:t>
            </a:r>
            <a:endParaRPr lang="en-US" sz="1300" dirty="0"/>
          </a:p>
        </p:txBody>
      </p:sp>
      <p:sp>
        <p:nvSpPr>
          <p:cNvPr id="6" name="Shape 4"/>
          <p:cNvSpPr/>
          <p:nvPr/>
        </p:nvSpPr>
        <p:spPr>
          <a:xfrm>
            <a:off x="812800" y="2334220"/>
            <a:ext cx="4886325" cy="660400"/>
          </a:xfrm>
          <a:prstGeom prst="roundRect">
            <a:avLst>
              <a:gd name="adj" fmla="val 15976"/>
            </a:avLst>
          </a:prstGeom>
          <a:solidFill>
            <a:srgbClr val="FDFCF9"/>
          </a:solidFill>
          <a:ln w="6350">
            <a:solidFill>
              <a:srgbClr val="E2DED5"/>
            </a:solidFill>
            <a:prstDash val="solid"/>
          </a:ln>
        </p:spPr>
      </p:sp>
      <p:sp>
        <p:nvSpPr>
          <p:cNvPr id="7" name="Text 5"/>
          <p:cNvSpPr txBox="1"/>
          <p:nvPr/>
        </p:nvSpPr>
        <p:spPr>
          <a:xfrm>
            <a:off x="1022350" y="2518370"/>
            <a:ext cx="4467225"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ボトム層が全体を引っ張っている</a:t>
            </a:r>
            <a:endParaRPr lang="en-US" sz="1600" dirty="0"/>
          </a:p>
        </p:txBody>
      </p:sp>
      <p:sp>
        <p:nvSpPr>
          <p:cNvPr id="8" name="Shape 6"/>
          <p:cNvSpPr/>
          <p:nvPr/>
        </p:nvSpPr>
        <p:spPr>
          <a:xfrm>
            <a:off x="5851525" y="2550120"/>
            <a:ext cx="457200" cy="228600"/>
          </a:xfrm>
          <a:prstGeom prst="rightArrow">
            <a:avLst/>
          </a:prstGeom>
          <a:solidFill>
            <a:srgbClr val="E0662B"/>
          </a:solidFill>
          <a:ln/>
        </p:spPr>
      </p:sp>
      <p:sp>
        <p:nvSpPr>
          <p:cNvPr id="9" name="Shape 7"/>
          <p:cNvSpPr/>
          <p:nvPr/>
        </p:nvSpPr>
        <p:spPr>
          <a:xfrm>
            <a:off x="6461125" y="2340570"/>
            <a:ext cx="4918075" cy="647700"/>
          </a:xfrm>
          <a:prstGeom prst="roundRect">
            <a:avLst>
              <a:gd name="adj" fmla="val 16609"/>
            </a:avLst>
          </a:prstGeom>
          <a:solidFill>
            <a:srgbClr val="FDFCF9"/>
          </a:solidFill>
          <a:ln/>
        </p:spPr>
      </p:sp>
      <p:sp>
        <p:nvSpPr>
          <p:cNvPr id="10" name="Shape 8"/>
          <p:cNvSpPr/>
          <p:nvPr/>
        </p:nvSpPr>
        <p:spPr>
          <a:xfrm>
            <a:off x="6461125" y="2340570"/>
            <a:ext cx="4918075" cy="6350"/>
          </a:xfrm>
          <a:prstGeom prst="rect">
            <a:avLst/>
          </a:prstGeom>
          <a:solidFill>
            <a:srgbClr val="E2DED5"/>
          </a:solidFill>
          <a:ln/>
        </p:spPr>
      </p:sp>
      <p:sp>
        <p:nvSpPr>
          <p:cNvPr id="11" name="Shape 9"/>
          <p:cNvSpPr/>
          <p:nvPr/>
        </p:nvSpPr>
        <p:spPr>
          <a:xfrm>
            <a:off x="11372850" y="2340570"/>
            <a:ext cx="6350" cy="647700"/>
          </a:xfrm>
          <a:prstGeom prst="rect">
            <a:avLst/>
          </a:prstGeom>
          <a:solidFill>
            <a:srgbClr val="E2DED5"/>
          </a:solidFill>
          <a:ln/>
        </p:spPr>
      </p:sp>
      <p:sp>
        <p:nvSpPr>
          <p:cNvPr id="12" name="Shape 10"/>
          <p:cNvSpPr/>
          <p:nvPr/>
        </p:nvSpPr>
        <p:spPr>
          <a:xfrm>
            <a:off x="6461125" y="2981920"/>
            <a:ext cx="4918075" cy="6350"/>
          </a:xfrm>
          <a:prstGeom prst="rect">
            <a:avLst/>
          </a:prstGeom>
          <a:solidFill>
            <a:srgbClr val="E2DED5"/>
          </a:solidFill>
          <a:ln/>
        </p:spPr>
      </p:sp>
      <p:sp>
        <p:nvSpPr>
          <p:cNvPr id="13" name="Shape 11"/>
          <p:cNvSpPr/>
          <p:nvPr/>
        </p:nvSpPr>
        <p:spPr>
          <a:xfrm>
            <a:off x="6461125" y="2340570"/>
            <a:ext cx="38100" cy="647700"/>
          </a:xfrm>
          <a:prstGeom prst="rect">
            <a:avLst/>
          </a:prstGeom>
          <a:solidFill>
            <a:srgbClr val="E0662B"/>
          </a:solidFill>
          <a:ln/>
        </p:spPr>
      </p:sp>
      <p:sp>
        <p:nvSpPr>
          <p:cNvPr id="14" name="Text 12"/>
          <p:cNvSpPr txBox="1"/>
          <p:nvPr/>
        </p:nvSpPr>
        <p:spPr>
          <a:xfrm>
            <a:off x="6702425" y="2524720"/>
            <a:ext cx="4467225" cy="279400"/>
          </a:xfrm>
          <a:prstGeom prst="rect">
            <a:avLst/>
          </a:prstGeom>
          <a:noFill/>
          <a:ln/>
        </p:spPr>
        <p:txBody>
          <a:bodyPr wrap="none" lIns="0" tIns="0" rIns="0" bIns="0" rtlCol="0" anchor="t"/>
          <a:lstStyle/>
          <a:p>
            <a:pPr algn="l" indent="0" marL="0">
              <a:lnSpc>
                <a:spcPct val="140000"/>
              </a:lnSpc>
              <a:buNone/>
            </a:pPr>
            <a:r>
              <a:rPr lang="en-US" sz="1500" dirty="0">
                <a:solidFill>
                  <a:srgbClr val="14213D"/>
                </a:solidFill>
                <a:latin typeface="Hiragino Sans" pitchFamily="34" charset="0"/>
                <a:ea typeface="Hiragino Sans" pitchFamily="34" charset="-122"/>
                <a:cs typeface="Hiragino Sans" pitchFamily="34" charset="-120"/>
              </a:rPr>
              <a:t>教育が行き届いていない</a:t>
            </a:r>
            <a:endParaRPr lang="en-US" sz="1500" dirty="0"/>
          </a:p>
        </p:txBody>
      </p:sp>
      <p:sp>
        <p:nvSpPr>
          <p:cNvPr id="15" name="Shape 13"/>
          <p:cNvSpPr/>
          <p:nvPr/>
        </p:nvSpPr>
        <p:spPr>
          <a:xfrm>
            <a:off x="812800" y="3121620"/>
            <a:ext cx="4886325" cy="660400"/>
          </a:xfrm>
          <a:prstGeom prst="roundRect">
            <a:avLst>
              <a:gd name="adj" fmla="val 15976"/>
            </a:avLst>
          </a:prstGeom>
          <a:solidFill>
            <a:srgbClr val="FDFCF9"/>
          </a:solidFill>
          <a:ln w="6350">
            <a:solidFill>
              <a:srgbClr val="E2DED5"/>
            </a:solidFill>
            <a:prstDash val="solid"/>
          </a:ln>
        </p:spPr>
      </p:sp>
      <p:sp>
        <p:nvSpPr>
          <p:cNvPr id="16" name="Text 14"/>
          <p:cNvSpPr txBox="1"/>
          <p:nvPr/>
        </p:nvSpPr>
        <p:spPr>
          <a:xfrm>
            <a:off x="1022350" y="3305770"/>
            <a:ext cx="4467225"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生産性のない人材が増えてきた</a:t>
            </a:r>
            <a:endParaRPr lang="en-US" sz="1600" dirty="0"/>
          </a:p>
        </p:txBody>
      </p:sp>
      <p:sp>
        <p:nvSpPr>
          <p:cNvPr id="17" name="Shape 15"/>
          <p:cNvSpPr/>
          <p:nvPr/>
        </p:nvSpPr>
        <p:spPr>
          <a:xfrm>
            <a:off x="5851525" y="3337520"/>
            <a:ext cx="457200" cy="228600"/>
          </a:xfrm>
          <a:prstGeom prst="rightArrow">
            <a:avLst/>
          </a:prstGeom>
          <a:solidFill>
            <a:srgbClr val="E0662B"/>
          </a:solidFill>
          <a:ln/>
        </p:spPr>
      </p:sp>
      <p:sp>
        <p:nvSpPr>
          <p:cNvPr id="18" name="Shape 16"/>
          <p:cNvSpPr/>
          <p:nvPr/>
        </p:nvSpPr>
        <p:spPr>
          <a:xfrm>
            <a:off x="6461125" y="3127970"/>
            <a:ext cx="4918075" cy="647700"/>
          </a:xfrm>
          <a:prstGeom prst="roundRect">
            <a:avLst>
              <a:gd name="adj" fmla="val 16609"/>
            </a:avLst>
          </a:prstGeom>
          <a:solidFill>
            <a:srgbClr val="FDFCF9"/>
          </a:solidFill>
          <a:ln/>
        </p:spPr>
      </p:sp>
      <p:sp>
        <p:nvSpPr>
          <p:cNvPr id="19" name="Shape 17"/>
          <p:cNvSpPr/>
          <p:nvPr/>
        </p:nvSpPr>
        <p:spPr>
          <a:xfrm>
            <a:off x="6461125" y="3127970"/>
            <a:ext cx="4918075" cy="6350"/>
          </a:xfrm>
          <a:prstGeom prst="rect">
            <a:avLst/>
          </a:prstGeom>
          <a:solidFill>
            <a:srgbClr val="E2DED5"/>
          </a:solidFill>
          <a:ln/>
        </p:spPr>
      </p:sp>
      <p:sp>
        <p:nvSpPr>
          <p:cNvPr id="20" name="Shape 18"/>
          <p:cNvSpPr/>
          <p:nvPr/>
        </p:nvSpPr>
        <p:spPr>
          <a:xfrm>
            <a:off x="11372850" y="3127970"/>
            <a:ext cx="6350" cy="647700"/>
          </a:xfrm>
          <a:prstGeom prst="rect">
            <a:avLst/>
          </a:prstGeom>
          <a:solidFill>
            <a:srgbClr val="E2DED5"/>
          </a:solidFill>
          <a:ln/>
        </p:spPr>
      </p:sp>
      <p:sp>
        <p:nvSpPr>
          <p:cNvPr id="21" name="Shape 19"/>
          <p:cNvSpPr/>
          <p:nvPr/>
        </p:nvSpPr>
        <p:spPr>
          <a:xfrm>
            <a:off x="6461125" y="3769320"/>
            <a:ext cx="4918075" cy="6350"/>
          </a:xfrm>
          <a:prstGeom prst="rect">
            <a:avLst/>
          </a:prstGeom>
          <a:solidFill>
            <a:srgbClr val="E2DED5"/>
          </a:solidFill>
          <a:ln/>
        </p:spPr>
      </p:sp>
      <p:sp>
        <p:nvSpPr>
          <p:cNvPr id="22" name="Shape 20"/>
          <p:cNvSpPr/>
          <p:nvPr/>
        </p:nvSpPr>
        <p:spPr>
          <a:xfrm>
            <a:off x="6461125" y="3127970"/>
            <a:ext cx="38100" cy="647700"/>
          </a:xfrm>
          <a:prstGeom prst="rect">
            <a:avLst/>
          </a:prstGeom>
          <a:solidFill>
            <a:srgbClr val="E0662B"/>
          </a:solidFill>
          <a:ln/>
        </p:spPr>
      </p:sp>
      <p:sp>
        <p:nvSpPr>
          <p:cNvPr id="23" name="Text 21"/>
          <p:cNvSpPr txBox="1"/>
          <p:nvPr/>
        </p:nvSpPr>
        <p:spPr>
          <a:xfrm>
            <a:off x="6702425" y="3312120"/>
            <a:ext cx="4467225" cy="279400"/>
          </a:xfrm>
          <a:prstGeom prst="rect">
            <a:avLst/>
          </a:prstGeom>
          <a:noFill/>
          <a:ln/>
        </p:spPr>
        <p:txBody>
          <a:bodyPr wrap="none" lIns="0" tIns="0" rIns="0" bIns="0" rtlCol="0" anchor="t"/>
          <a:lstStyle/>
          <a:p>
            <a:pPr algn="l" indent="0" marL="0">
              <a:lnSpc>
                <a:spcPct val="140000"/>
              </a:lnSpc>
              <a:buNone/>
            </a:pPr>
            <a:r>
              <a:rPr lang="en-US" sz="1500" dirty="0">
                <a:solidFill>
                  <a:srgbClr val="14213D"/>
                </a:solidFill>
                <a:latin typeface="Hiragino Sans" pitchFamily="34" charset="0"/>
                <a:ea typeface="Hiragino Sans" pitchFamily="34" charset="-122"/>
                <a:cs typeface="Hiragino Sans" pitchFamily="34" charset="-120"/>
              </a:rPr>
              <a:t>評価制度がない ／ 教育が行き届いていない</a:t>
            </a:r>
            <a:endParaRPr lang="en-US" sz="1500" dirty="0"/>
          </a:p>
        </p:txBody>
      </p:sp>
      <p:sp>
        <p:nvSpPr>
          <p:cNvPr id="24" name="Shape 22"/>
          <p:cNvSpPr/>
          <p:nvPr/>
        </p:nvSpPr>
        <p:spPr>
          <a:xfrm>
            <a:off x="812800" y="3909020"/>
            <a:ext cx="4886325" cy="660400"/>
          </a:xfrm>
          <a:prstGeom prst="roundRect">
            <a:avLst>
              <a:gd name="adj" fmla="val 15976"/>
            </a:avLst>
          </a:prstGeom>
          <a:solidFill>
            <a:srgbClr val="FDFCF9"/>
          </a:solidFill>
          <a:ln w="6350">
            <a:solidFill>
              <a:srgbClr val="E2DED5"/>
            </a:solidFill>
            <a:prstDash val="solid"/>
          </a:ln>
        </p:spPr>
      </p:sp>
      <p:sp>
        <p:nvSpPr>
          <p:cNvPr id="25" name="Text 23"/>
          <p:cNvSpPr txBox="1"/>
          <p:nvPr/>
        </p:nvSpPr>
        <p:spPr>
          <a:xfrm>
            <a:off x="1022350" y="4093170"/>
            <a:ext cx="4467225" cy="292100"/>
          </a:xfrm>
          <a:prstGeom prst="rect">
            <a:avLst/>
          </a:prstGeom>
          <a:noFill/>
          <a:ln/>
        </p:spPr>
        <p:txBody>
          <a:bodyPr wrap="none" lIns="0" tIns="0" rIns="0" bIns="0" rtlCol="0" anchor="t"/>
          <a:lstStyle/>
          <a:p>
            <a:pPr algn="l" indent="0" marL="0">
              <a:lnSpc>
                <a:spcPct val="140000"/>
              </a:lnSpc>
              <a:buNone/>
            </a:pPr>
            <a:r>
              <a:rPr lang="en-US" sz="1600" b="1" dirty="0">
                <a:solidFill>
                  <a:srgbClr val="14213D"/>
                </a:solidFill>
                <a:latin typeface="Hiragino Sans" pitchFamily="34" charset="0"/>
                <a:ea typeface="Hiragino Sans" pitchFamily="34" charset="-122"/>
                <a:cs typeface="Hiragino Sans" pitchFamily="34" charset="-120"/>
              </a:rPr>
              <a:t>生産性を上げられる人が増えない</a:t>
            </a:r>
            <a:endParaRPr lang="en-US" sz="1600" dirty="0"/>
          </a:p>
        </p:txBody>
      </p:sp>
      <p:sp>
        <p:nvSpPr>
          <p:cNvPr id="26" name="Shape 24"/>
          <p:cNvSpPr/>
          <p:nvPr/>
        </p:nvSpPr>
        <p:spPr>
          <a:xfrm>
            <a:off x="5851525" y="4124920"/>
            <a:ext cx="457200" cy="228600"/>
          </a:xfrm>
          <a:prstGeom prst="rightArrow">
            <a:avLst/>
          </a:prstGeom>
          <a:solidFill>
            <a:srgbClr val="E0662B"/>
          </a:solidFill>
          <a:ln/>
        </p:spPr>
      </p:sp>
      <p:sp>
        <p:nvSpPr>
          <p:cNvPr id="27" name="Shape 25"/>
          <p:cNvSpPr/>
          <p:nvPr/>
        </p:nvSpPr>
        <p:spPr>
          <a:xfrm>
            <a:off x="6461125" y="3915370"/>
            <a:ext cx="4918075" cy="647700"/>
          </a:xfrm>
          <a:prstGeom prst="roundRect">
            <a:avLst>
              <a:gd name="adj" fmla="val 16609"/>
            </a:avLst>
          </a:prstGeom>
          <a:solidFill>
            <a:srgbClr val="FDFCF9"/>
          </a:solidFill>
          <a:ln/>
        </p:spPr>
      </p:sp>
      <p:sp>
        <p:nvSpPr>
          <p:cNvPr id="28" name="Shape 26"/>
          <p:cNvSpPr/>
          <p:nvPr/>
        </p:nvSpPr>
        <p:spPr>
          <a:xfrm>
            <a:off x="6461125" y="3915370"/>
            <a:ext cx="4918075" cy="6350"/>
          </a:xfrm>
          <a:prstGeom prst="rect">
            <a:avLst/>
          </a:prstGeom>
          <a:solidFill>
            <a:srgbClr val="E2DED5"/>
          </a:solidFill>
          <a:ln/>
        </p:spPr>
      </p:sp>
      <p:sp>
        <p:nvSpPr>
          <p:cNvPr id="29" name="Shape 27"/>
          <p:cNvSpPr/>
          <p:nvPr/>
        </p:nvSpPr>
        <p:spPr>
          <a:xfrm>
            <a:off x="11372850" y="3915370"/>
            <a:ext cx="6350" cy="647700"/>
          </a:xfrm>
          <a:prstGeom prst="rect">
            <a:avLst/>
          </a:prstGeom>
          <a:solidFill>
            <a:srgbClr val="E2DED5"/>
          </a:solidFill>
          <a:ln/>
        </p:spPr>
      </p:sp>
      <p:sp>
        <p:nvSpPr>
          <p:cNvPr id="30" name="Shape 28"/>
          <p:cNvSpPr/>
          <p:nvPr/>
        </p:nvSpPr>
        <p:spPr>
          <a:xfrm>
            <a:off x="6461125" y="4556720"/>
            <a:ext cx="4918075" cy="6350"/>
          </a:xfrm>
          <a:prstGeom prst="rect">
            <a:avLst/>
          </a:prstGeom>
          <a:solidFill>
            <a:srgbClr val="E2DED5"/>
          </a:solidFill>
          <a:ln/>
        </p:spPr>
      </p:sp>
      <p:sp>
        <p:nvSpPr>
          <p:cNvPr id="31" name="Shape 29"/>
          <p:cNvSpPr/>
          <p:nvPr/>
        </p:nvSpPr>
        <p:spPr>
          <a:xfrm>
            <a:off x="6461125" y="3915370"/>
            <a:ext cx="38100" cy="647700"/>
          </a:xfrm>
          <a:prstGeom prst="rect">
            <a:avLst/>
          </a:prstGeom>
          <a:solidFill>
            <a:srgbClr val="E0662B"/>
          </a:solidFill>
          <a:ln/>
        </p:spPr>
      </p:sp>
      <p:sp>
        <p:nvSpPr>
          <p:cNvPr id="32" name="Text 30"/>
          <p:cNvSpPr txBox="1"/>
          <p:nvPr/>
        </p:nvSpPr>
        <p:spPr>
          <a:xfrm>
            <a:off x="6702425" y="4099520"/>
            <a:ext cx="4467225" cy="279400"/>
          </a:xfrm>
          <a:prstGeom prst="rect">
            <a:avLst/>
          </a:prstGeom>
          <a:noFill/>
          <a:ln/>
        </p:spPr>
        <p:txBody>
          <a:bodyPr wrap="none" lIns="0" tIns="0" rIns="0" bIns="0" rtlCol="0" anchor="t"/>
          <a:lstStyle/>
          <a:p>
            <a:pPr algn="l" indent="0" marL="0">
              <a:lnSpc>
                <a:spcPct val="140000"/>
              </a:lnSpc>
              <a:buNone/>
            </a:pPr>
            <a:r>
              <a:rPr lang="en-US" sz="1500" dirty="0">
                <a:solidFill>
                  <a:srgbClr val="14213D"/>
                </a:solidFill>
                <a:latin typeface="Hiragino Sans" pitchFamily="34" charset="0"/>
                <a:ea typeface="Hiragino Sans" pitchFamily="34" charset="-122"/>
                <a:cs typeface="Hiragino Sans" pitchFamily="34" charset="-120"/>
              </a:rPr>
              <a:t>評価・組織・給与制度が構築されていない</a:t>
            </a:r>
            <a:endParaRPr lang="en-US" sz="1500" dirty="0"/>
          </a:p>
        </p:txBody>
      </p:sp>
      <p:sp>
        <p:nvSpPr>
          <p:cNvPr id="33" name="Shape 31"/>
          <p:cNvSpPr/>
          <p:nvPr/>
        </p:nvSpPr>
        <p:spPr>
          <a:xfrm>
            <a:off x="812800" y="4823420"/>
            <a:ext cx="10566400" cy="635000"/>
          </a:xfrm>
          <a:prstGeom prst="roundRect">
            <a:avLst>
              <a:gd name="adj" fmla="val 23040"/>
            </a:avLst>
          </a:prstGeom>
          <a:solidFill>
            <a:srgbClr val="14213D"/>
          </a:solidFill>
          <a:ln/>
        </p:spPr>
      </p:sp>
      <p:sp>
        <p:nvSpPr>
          <p:cNvPr id="34" name="Text 32"/>
          <p:cNvSpPr txBox="1"/>
          <p:nvPr/>
        </p:nvSpPr>
        <p:spPr>
          <a:xfrm>
            <a:off x="1066800" y="5001220"/>
            <a:ext cx="10058400" cy="279400"/>
          </a:xfrm>
          <a:prstGeom prst="rect">
            <a:avLst/>
          </a:prstGeom>
          <a:noFill/>
          <a:ln/>
        </p:spPr>
        <p:txBody>
          <a:bodyPr wrap="none" lIns="0" tIns="0" rIns="0" bIns="0" rtlCol="0" anchor="t"/>
          <a:lstStyle/>
          <a:p>
            <a:pPr algn="l" indent="0" marL="0">
              <a:lnSpc>
                <a:spcPct val="140000"/>
              </a:lnSpc>
              <a:buNone/>
            </a:pPr>
            <a:r>
              <a:rPr lang="en-US" sz="1500" dirty="0">
                <a:solidFill>
                  <a:srgbClr val="F6F4EF"/>
                </a:solidFill>
                <a:latin typeface="Hiragino Sans" pitchFamily="34" charset="0"/>
                <a:ea typeface="Hiragino Sans" pitchFamily="34" charset="-122"/>
                <a:cs typeface="Hiragino Sans" pitchFamily="34" charset="-120"/>
              </a:rPr>
              <a:t>根本は「人」ではなく</a:t>
            </a:r>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経営層が仕組みを作れていないこと</a:t>
            </a:r>
            <a:pPr algn="l" indent="0" marL="0">
              <a:lnSpc>
                <a:spcPct val="140000"/>
              </a:lnSpc>
              <a:buNone/>
            </a:pPr>
            <a:r>
              <a:rPr lang="en-US" sz="1500" dirty="0">
                <a:solidFill>
                  <a:srgbClr val="F6F4EF"/>
                </a:solidFill>
                <a:latin typeface="Hiragino Sans" pitchFamily="34" charset="0"/>
                <a:ea typeface="Hiragino Sans" pitchFamily="34" charset="-122"/>
                <a:cs typeface="Hiragino Sans" pitchFamily="34" charset="-120"/>
              </a:rPr>
              <a:t>。だから人事システムを学びに行った。</a:t>
            </a:r>
            <a:endParaRPr lang="en-US" sz="1500" dirty="0"/>
          </a:p>
        </p:txBody>
      </p:sp>
      <p:sp>
        <p:nvSpPr>
          <p:cNvPr id="35" name="Text 33"/>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36" name="Text 34"/>
          <p:cNvSpPr txBox="1"/>
          <p:nvPr/>
        </p:nvSpPr>
        <p:spPr>
          <a:xfrm>
            <a:off x="11227792" y="6223000"/>
            <a:ext cx="151408"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9E0"/>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04 ／ PROGRAM — 2026.10.14–16</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3日間・7つの訪問先</a:t>
            </a:r>
            <a:endParaRPr lang="en-US" sz="3200" dirty="0"/>
          </a:p>
        </p:txBody>
      </p:sp>
      <p:sp>
        <p:nvSpPr>
          <p:cNvPr id="4" name="Shape 2"/>
          <p:cNvSpPr/>
          <p:nvPr/>
        </p:nvSpPr>
        <p:spPr>
          <a:xfrm>
            <a:off x="812800" y="1845270"/>
            <a:ext cx="10566400" cy="3352800"/>
          </a:xfrm>
          <a:prstGeom prst="roundRect">
            <a:avLst>
              <a:gd name="adj" fmla="val 620"/>
            </a:avLst>
          </a:prstGeom>
          <a:solidFill>
            <a:srgbClr val="FDFCF9"/>
          </a:solidFill>
          <a:ln/>
        </p:spPr>
      </p:sp>
      <p:sp>
        <p:nvSpPr>
          <p:cNvPr id="5" name="Shape 3"/>
          <p:cNvSpPr/>
          <p:nvPr/>
        </p:nvSpPr>
        <p:spPr>
          <a:xfrm>
            <a:off x="812800" y="1845270"/>
            <a:ext cx="10566400" cy="415925"/>
          </a:xfrm>
          <a:prstGeom prst="rect">
            <a:avLst/>
          </a:prstGeom>
          <a:solidFill>
            <a:srgbClr val="14213D"/>
          </a:solidFill>
          <a:ln/>
        </p:spPr>
      </p:sp>
      <p:sp>
        <p:nvSpPr>
          <p:cNvPr id="6" name="Shape 4"/>
          <p:cNvSpPr/>
          <p:nvPr/>
        </p:nvSpPr>
        <p:spPr>
          <a:xfrm>
            <a:off x="812800" y="2254845"/>
            <a:ext cx="2958505" cy="6350"/>
          </a:xfrm>
          <a:prstGeom prst="rect">
            <a:avLst/>
          </a:prstGeom>
          <a:solidFill>
            <a:srgbClr val="E2DED5"/>
          </a:solidFill>
          <a:ln/>
        </p:spPr>
      </p:sp>
      <p:sp>
        <p:nvSpPr>
          <p:cNvPr id="7" name="Text 5"/>
          <p:cNvSpPr txBox="1"/>
          <p:nvPr/>
        </p:nvSpPr>
        <p:spPr>
          <a:xfrm>
            <a:off x="965200" y="1934170"/>
            <a:ext cx="2653705" cy="238125"/>
          </a:xfrm>
          <a:prstGeom prst="rect">
            <a:avLst/>
          </a:prstGeom>
          <a:noFill/>
          <a:ln/>
        </p:spPr>
        <p:txBody>
          <a:bodyPr wrap="none" lIns="0" tIns="0" rIns="0" bIns="0" rtlCol="0" anchor="ctr"/>
          <a:lstStyle/>
          <a:p>
            <a:pPr algn="l" indent="0" marL="0">
              <a:lnSpc>
                <a:spcPct val="140000"/>
              </a:lnSpc>
              <a:buNone/>
            </a:pPr>
            <a:r>
              <a:rPr lang="en-US" sz="1300" b="1" dirty="0">
                <a:solidFill>
                  <a:srgbClr val="F6F4EF"/>
                </a:solidFill>
                <a:latin typeface="Hiragino Sans" pitchFamily="34" charset="0"/>
                <a:ea typeface="Hiragino Sans" pitchFamily="34" charset="-122"/>
                <a:cs typeface="Hiragino Sans" pitchFamily="34" charset="-120"/>
              </a:rPr>
              <a:t>訪問先</a:t>
            </a:r>
            <a:endParaRPr lang="en-US" sz="1300" dirty="0"/>
          </a:p>
        </p:txBody>
      </p:sp>
      <p:sp>
        <p:nvSpPr>
          <p:cNvPr id="8" name="Shape 6"/>
          <p:cNvSpPr/>
          <p:nvPr/>
        </p:nvSpPr>
        <p:spPr>
          <a:xfrm>
            <a:off x="3771305" y="2254845"/>
            <a:ext cx="2113260" cy="6350"/>
          </a:xfrm>
          <a:prstGeom prst="rect">
            <a:avLst/>
          </a:prstGeom>
          <a:solidFill>
            <a:srgbClr val="E2DED5"/>
          </a:solidFill>
          <a:ln/>
        </p:spPr>
      </p:sp>
      <p:sp>
        <p:nvSpPr>
          <p:cNvPr id="9" name="Text 7"/>
          <p:cNvSpPr txBox="1"/>
          <p:nvPr/>
        </p:nvSpPr>
        <p:spPr>
          <a:xfrm>
            <a:off x="3923705" y="1934170"/>
            <a:ext cx="1808460" cy="238125"/>
          </a:xfrm>
          <a:prstGeom prst="rect">
            <a:avLst/>
          </a:prstGeom>
          <a:noFill/>
          <a:ln/>
        </p:spPr>
        <p:txBody>
          <a:bodyPr wrap="none" lIns="0" tIns="0" rIns="0" bIns="0" rtlCol="0" anchor="ctr"/>
          <a:lstStyle/>
          <a:p>
            <a:pPr algn="l" indent="0" marL="0">
              <a:lnSpc>
                <a:spcPct val="140000"/>
              </a:lnSpc>
              <a:buNone/>
            </a:pPr>
            <a:r>
              <a:rPr lang="en-US" sz="1300" b="1" dirty="0">
                <a:solidFill>
                  <a:srgbClr val="F6F4EF"/>
                </a:solidFill>
                <a:latin typeface="Hiragino Sans" pitchFamily="34" charset="0"/>
                <a:ea typeface="Hiragino Sans" pitchFamily="34" charset="-122"/>
                <a:cs typeface="Hiragino Sans" pitchFamily="34" charset="-120"/>
              </a:rPr>
              <a:t>お話を伺った方</a:t>
            </a:r>
            <a:endParaRPr lang="en-US" sz="1300" dirty="0"/>
          </a:p>
        </p:txBody>
      </p:sp>
      <p:sp>
        <p:nvSpPr>
          <p:cNvPr id="10" name="Shape 8"/>
          <p:cNvSpPr/>
          <p:nvPr/>
        </p:nvSpPr>
        <p:spPr>
          <a:xfrm>
            <a:off x="5884565" y="2254845"/>
            <a:ext cx="5494635" cy="6350"/>
          </a:xfrm>
          <a:prstGeom prst="rect">
            <a:avLst/>
          </a:prstGeom>
          <a:solidFill>
            <a:srgbClr val="E2DED5"/>
          </a:solidFill>
          <a:ln/>
        </p:spPr>
      </p:sp>
      <p:sp>
        <p:nvSpPr>
          <p:cNvPr id="11" name="Text 9"/>
          <p:cNvSpPr txBox="1"/>
          <p:nvPr/>
        </p:nvSpPr>
        <p:spPr>
          <a:xfrm>
            <a:off x="6036965" y="1934170"/>
            <a:ext cx="5189835" cy="238125"/>
          </a:xfrm>
          <a:prstGeom prst="rect">
            <a:avLst/>
          </a:prstGeom>
          <a:noFill/>
          <a:ln/>
        </p:spPr>
        <p:txBody>
          <a:bodyPr wrap="none" lIns="0" tIns="0" rIns="0" bIns="0" rtlCol="0" anchor="ctr"/>
          <a:lstStyle/>
          <a:p>
            <a:pPr algn="l" indent="0" marL="0">
              <a:lnSpc>
                <a:spcPct val="140000"/>
              </a:lnSpc>
              <a:buNone/>
            </a:pPr>
            <a:r>
              <a:rPr lang="en-US" sz="1300" b="1" dirty="0">
                <a:solidFill>
                  <a:srgbClr val="F6F4EF"/>
                </a:solidFill>
                <a:latin typeface="Hiragino Sans" pitchFamily="34" charset="0"/>
                <a:ea typeface="Hiragino Sans" pitchFamily="34" charset="-122"/>
                <a:cs typeface="Hiragino Sans" pitchFamily="34" charset="-120"/>
              </a:rPr>
              <a:t>主なテーマ</a:t>
            </a:r>
            <a:endParaRPr lang="en-US" sz="1300" dirty="0"/>
          </a:p>
        </p:txBody>
      </p:sp>
      <p:sp>
        <p:nvSpPr>
          <p:cNvPr id="12" name="Shape 10"/>
          <p:cNvSpPr/>
          <p:nvPr/>
        </p:nvSpPr>
        <p:spPr>
          <a:xfrm>
            <a:off x="812800" y="2673945"/>
            <a:ext cx="2958505" cy="6350"/>
          </a:xfrm>
          <a:prstGeom prst="rect">
            <a:avLst/>
          </a:prstGeom>
          <a:solidFill>
            <a:srgbClr val="E2DED5"/>
          </a:solidFill>
          <a:ln/>
        </p:spPr>
      </p:sp>
      <p:sp>
        <p:nvSpPr>
          <p:cNvPr id="13" name="Text 11"/>
          <p:cNvSpPr txBox="1"/>
          <p:nvPr/>
        </p:nvSpPr>
        <p:spPr>
          <a:xfrm>
            <a:off x="965200" y="23500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Tesla（Fremont Factory）</a:t>
            </a:r>
            <a:endParaRPr lang="en-US" sz="1300" dirty="0"/>
          </a:p>
        </p:txBody>
      </p:sp>
      <p:sp>
        <p:nvSpPr>
          <p:cNvPr id="14" name="Shape 12"/>
          <p:cNvSpPr/>
          <p:nvPr/>
        </p:nvSpPr>
        <p:spPr>
          <a:xfrm>
            <a:off x="3771305" y="2673945"/>
            <a:ext cx="2113260" cy="6350"/>
          </a:xfrm>
          <a:prstGeom prst="rect">
            <a:avLst/>
          </a:prstGeom>
          <a:solidFill>
            <a:srgbClr val="E2DED5"/>
          </a:solidFill>
          <a:ln/>
        </p:spPr>
      </p:sp>
      <p:sp>
        <p:nvSpPr>
          <p:cNvPr id="15" name="Text 13"/>
          <p:cNvSpPr txBox="1"/>
          <p:nvPr/>
        </p:nvSpPr>
        <p:spPr>
          <a:xfrm>
            <a:off x="3923705" y="23500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Sergioさん</a:t>
            </a:r>
            <a:endParaRPr lang="en-US" sz="1300" dirty="0"/>
          </a:p>
        </p:txBody>
      </p:sp>
      <p:sp>
        <p:nvSpPr>
          <p:cNvPr id="16" name="Shape 14"/>
          <p:cNvSpPr/>
          <p:nvPr/>
        </p:nvSpPr>
        <p:spPr>
          <a:xfrm>
            <a:off x="5884565" y="2673945"/>
            <a:ext cx="5494635" cy="6350"/>
          </a:xfrm>
          <a:prstGeom prst="rect">
            <a:avLst/>
          </a:prstGeom>
          <a:solidFill>
            <a:srgbClr val="E2DED5"/>
          </a:solidFill>
          <a:ln/>
        </p:spPr>
      </p:sp>
      <p:sp>
        <p:nvSpPr>
          <p:cNvPr id="17" name="Text 15"/>
          <p:cNvSpPr txBox="1"/>
          <p:nvPr/>
        </p:nvSpPr>
        <p:spPr>
          <a:xfrm>
            <a:off x="6036965" y="23500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採用基準・ベネフィット・ビジョン・AIとロボの融合</a:t>
            </a:r>
            <a:endParaRPr lang="en-US" sz="1300" dirty="0"/>
          </a:p>
        </p:txBody>
      </p:sp>
      <p:sp>
        <p:nvSpPr>
          <p:cNvPr id="18" name="Shape 16"/>
          <p:cNvSpPr/>
          <p:nvPr/>
        </p:nvSpPr>
        <p:spPr>
          <a:xfrm>
            <a:off x="812800" y="2680295"/>
            <a:ext cx="10566400" cy="419100"/>
          </a:xfrm>
          <a:prstGeom prst="rect">
            <a:avLst/>
          </a:prstGeom>
          <a:solidFill>
            <a:srgbClr val="F6F4EF"/>
          </a:solidFill>
          <a:ln/>
        </p:spPr>
      </p:sp>
      <p:sp>
        <p:nvSpPr>
          <p:cNvPr id="19" name="Shape 17"/>
          <p:cNvSpPr/>
          <p:nvPr/>
        </p:nvSpPr>
        <p:spPr>
          <a:xfrm>
            <a:off x="812800" y="3093045"/>
            <a:ext cx="2958505" cy="6350"/>
          </a:xfrm>
          <a:prstGeom prst="rect">
            <a:avLst/>
          </a:prstGeom>
          <a:solidFill>
            <a:srgbClr val="E2DED5"/>
          </a:solidFill>
          <a:ln/>
        </p:spPr>
      </p:sp>
      <p:sp>
        <p:nvSpPr>
          <p:cNvPr id="20" name="Text 18"/>
          <p:cNvSpPr txBox="1"/>
          <p:nvPr/>
        </p:nvSpPr>
        <p:spPr>
          <a:xfrm>
            <a:off x="965200" y="27691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NASA（Ames Research Park）</a:t>
            </a:r>
            <a:endParaRPr lang="en-US" sz="1300" dirty="0"/>
          </a:p>
        </p:txBody>
      </p:sp>
      <p:sp>
        <p:nvSpPr>
          <p:cNvPr id="21" name="Shape 19"/>
          <p:cNvSpPr/>
          <p:nvPr/>
        </p:nvSpPr>
        <p:spPr>
          <a:xfrm>
            <a:off x="3771305" y="3093045"/>
            <a:ext cx="2113260" cy="6350"/>
          </a:xfrm>
          <a:prstGeom prst="rect">
            <a:avLst/>
          </a:prstGeom>
          <a:solidFill>
            <a:srgbClr val="E2DED5"/>
          </a:solidFill>
          <a:ln/>
        </p:spPr>
      </p:sp>
      <p:sp>
        <p:nvSpPr>
          <p:cNvPr id="22" name="Text 20"/>
          <p:cNvSpPr txBox="1"/>
          <p:nvPr/>
        </p:nvSpPr>
        <p:spPr>
          <a:xfrm>
            <a:off x="3923705" y="27691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Chrisさん</a:t>
            </a:r>
            <a:endParaRPr lang="en-US" sz="1300" dirty="0"/>
          </a:p>
        </p:txBody>
      </p:sp>
      <p:sp>
        <p:nvSpPr>
          <p:cNvPr id="23" name="Shape 21"/>
          <p:cNvSpPr/>
          <p:nvPr/>
        </p:nvSpPr>
        <p:spPr>
          <a:xfrm>
            <a:off x="5884565" y="3093045"/>
            <a:ext cx="5494635" cy="6350"/>
          </a:xfrm>
          <a:prstGeom prst="rect">
            <a:avLst/>
          </a:prstGeom>
          <a:solidFill>
            <a:srgbClr val="E2DED5"/>
          </a:solidFill>
          <a:ln/>
        </p:spPr>
      </p:sp>
      <p:sp>
        <p:nvSpPr>
          <p:cNvPr id="24" name="Text 22"/>
          <p:cNvSpPr txBox="1"/>
          <p:nvPr/>
        </p:nvSpPr>
        <p:spPr>
          <a:xfrm>
            <a:off x="6036965" y="27691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生命探査のミッション、好きを仕事にする</a:t>
            </a:r>
            <a:endParaRPr lang="en-US" sz="1300" dirty="0"/>
          </a:p>
        </p:txBody>
      </p:sp>
      <p:sp>
        <p:nvSpPr>
          <p:cNvPr id="25" name="Shape 23"/>
          <p:cNvSpPr/>
          <p:nvPr/>
        </p:nvSpPr>
        <p:spPr>
          <a:xfrm>
            <a:off x="812800" y="3512145"/>
            <a:ext cx="2958505" cy="6350"/>
          </a:xfrm>
          <a:prstGeom prst="rect">
            <a:avLst/>
          </a:prstGeom>
          <a:solidFill>
            <a:srgbClr val="E2DED5"/>
          </a:solidFill>
          <a:ln/>
        </p:spPr>
      </p:sp>
      <p:sp>
        <p:nvSpPr>
          <p:cNvPr id="26" name="Text 24"/>
          <p:cNvSpPr txBox="1"/>
          <p:nvPr/>
        </p:nvSpPr>
        <p:spPr>
          <a:xfrm>
            <a:off x="965200" y="31882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Google</a:t>
            </a:r>
            <a:endParaRPr lang="en-US" sz="1300" dirty="0"/>
          </a:p>
        </p:txBody>
      </p:sp>
      <p:sp>
        <p:nvSpPr>
          <p:cNvPr id="27" name="Shape 25"/>
          <p:cNvSpPr/>
          <p:nvPr/>
        </p:nvSpPr>
        <p:spPr>
          <a:xfrm>
            <a:off x="3771305" y="3512145"/>
            <a:ext cx="2113260" cy="6350"/>
          </a:xfrm>
          <a:prstGeom prst="rect">
            <a:avLst/>
          </a:prstGeom>
          <a:solidFill>
            <a:srgbClr val="E2DED5"/>
          </a:solidFill>
          <a:ln/>
        </p:spPr>
      </p:sp>
      <p:sp>
        <p:nvSpPr>
          <p:cNvPr id="28" name="Text 26"/>
          <p:cNvSpPr txBox="1"/>
          <p:nvPr/>
        </p:nvSpPr>
        <p:spPr>
          <a:xfrm>
            <a:off x="3923705" y="31882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Yasuさん</a:t>
            </a:r>
            <a:endParaRPr lang="en-US" sz="1300" dirty="0"/>
          </a:p>
        </p:txBody>
      </p:sp>
      <p:sp>
        <p:nvSpPr>
          <p:cNvPr id="29" name="Shape 27"/>
          <p:cNvSpPr/>
          <p:nvPr/>
        </p:nvSpPr>
        <p:spPr>
          <a:xfrm>
            <a:off x="5884565" y="3512145"/>
            <a:ext cx="5494635" cy="6350"/>
          </a:xfrm>
          <a:prstGeom prst="rect">
            <a:avLst/>
          </a:prstGeom>
          <a:solidFill>
            <a:srgbClr val="E2DED5"/>
          </a:solidFill>
          <a:ln/>
        </p:spPr>
      </p:sp>
      <p:sp>
        <p:nvSpPr>
          <p:cNvPr id="30" name="Text 28"/>
          <p:cNvSpPr txBox="1"/>
          <p:nvPr/>
        </p:nvSpPr>
        <p:spPr>
          <a:xfrm>
            <a:off x="6036965" y="31882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評価・採用・給与・1on1・ジョブディスクリプション</a:t>
            </a:r>
            <a:endParaRPr lang="en-US" sz="1300" dirty="0"/>
          </a:p>
        </p:txBody>
      </p:sp>
      <p:sp>
        <p:nvSpPr>
          <p:cNvPr id="31" name="Shape 29"/>
          <p:cNvSpPr/>
          <p:nvPr/>
        </p:nvSpPr>
        <p:spPr>
          <a:xfrm>
            <a:off x="812800" y="3518495"/>
            <a:ext cx="10566400" cy="419100"/>
          </a:xfrm>
          <a:prstGeom prst="rect">
            <a:avLst/>
          </a:prstGeom>
          <a:solidFill>
            <a:srgbClr val="F6F4EF"/>
          </a:solidFill>
          <a:ln/>
        </p:spPr>
      </p:sp>
      <p:sp>
        <p:nvSpPr>
          <p:cNvPr id="32" name="Shape 30"/>
          <p:cNvSpPr/>
          <p:nvPr/>
        </p:nvSpPr>
        <p:spPr>
          <a:xfrm>
            <a:off x="812800" y="3931245"/>
            <a:ext cx="2958505" cy="6350"/>
          </a:xfrm>
          <a:prstGeom prst="rect">
            <a:avLst/>
          </a:prstGeom>
          <a:solidFill>
            <a:srgbClr val="E2DED5"/>
          </a:solidFill>
          <a:ln/>
        </p:spPr>
      </p:sp>
      <p:sp>
        <p:nvSpPr>
          <p:cNvPr id="33" name="Text 31"/>
          <p:cNvSpPr txBox="1"/>
          <p:nvPr/>
        </p:nvSpPr>
        <p:spPr>
          <a:xfrm>
            <a:off x="965200" y="36073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Meta</a:t>
            </a:r>
            <a:endParaRPr lang="en-US" sz="1300" dirty="0"/>
          </a:p>
        </p:txBody>
      </p:sp>
      <p:sp>
        <p:nvSpPr>
          <p:cNvPr id="34" name="Shape 32"/>
          <p:cNvSpPr/>
          <p:nvPr/>
        </p:nvSpPr>
        <p:spPr>
          <a:xfrm>
            <a:off x="3771305" y="3931245"/>
            <a:ext cx="2113260" cy="6350"/>
          </a:xfrm>
          <a:prstGeom prst="rect">
            <a:avLst/>
          </a:prstGeom>
          <a:solidFill>
            <a:srgbClr val="E2DED5"/>
          </a:solidFill>
          <a:ln/>
        </p:spPr>
      </p:sp>
      <p:sp>
        <p:nvSpPr>
          <p:cNvPr id="35" name="Text 33"/>
          <p:cNvSpPr txBox="1"/>
          <p:nvPr/>
        </p:nvSpPr>
        <p:spPr>
          <a:xfrm>
            <a:off x="3923705" y="36073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Naokoさん</a:t>
            </a:r>
            <a:endParaRPr lang="en-US" sz="1300" dirty="0"/>
          </a:p>
        </p:txBody>
      </p:sp>
      <p:sp>
        <p:nvSpPr>
          <p:cNvPr id="36" name="Shape 34"/>
          <p:cNvSpPr/>
          <p:nvPr/>
        </p:nvSpPr>
        <p:spPr>
          <a:xfrm>
            <a:off x="5884565" y="3931245"/>
            <a:ext cx="5494635" cy="6350"/>
          </a:xfrm>
          <a:prstGeom prst="rect">
            <a:avLst/>
          </a:prstGeom>
          <a:solidFill>
            <a:srgbClr val="E2DED5"/>
          </a:solidFill>
          <a:ln/>
        </p:spPr>
      </p:sp>
      <p:sp>
        <p:nvSpPr>
          <p:cNvPr id="37" name="Text 35"/>
          <p:cNvSpPr txBox="1"/>
          <p:nvPr/>
        </p:nvSpPr>
        <p:spPr>
          <a:xfrm>
            <a:off x="6036965" y="36073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自分でつくるキャリア、スキル文化、業務委託の活用</a:t>
            </a:r>
            <a:endParaRPr lang="en-US" sz="1300" dirty="0"/>
          </a:p>
        </p:txBody>
      </p:sp>
      <p:sp>
        <p:nvSpPr>
          <p:cNvPr id="38" name="Shape 36"/>
          <p:cNvSpPr/>
          <p:nvPr/>
        </p:nvSpPr>
        <p:spPr>
          <a:xfrm>
            <a:off x="812800" y="4350345"/>
            <a:ext cx="2958505" cy="6350"/>
          </a:xfrm>
          <a:prstGeom prst="rect">
            <a:avLst/>
          </a:prstGeom>
          <a:solidFill>
            <a:srgbClr val="E2DED5"/>
          </a:solidFill>
          <a:ln/>
        </p:spPr>
      </p:sp>
      <p:sp>
        <p:nvSpPr>
          <p:cNvPr id="39" name="Text 37"/>
          <p:cNvSpPr txBox="1"/>
          <p:nvPr/>
        </p:nvSpPr>
        <p:spPr>
          <a:xfrm>
            <a:off x="965200" y="40264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Stanford University</a:t>
            </a:r>
            <a:endParaRPr lang="en-US" sz="1300" dirty="0"/>
          </a:p>
        </p:txBody>
      </p:sp>
      <p:sp>
        <p:nvSpPr>
          <p:cNvPr id="40" name="Shape 38"/>
          <p:cNvSpPr/>
          <p:nvPr/>
        </p:nvSpPr>
        <p:spPr>
          <a:xfrm>
            <a:off x="3771305" y="4350345"/>
            <a:ext cx="2113260" cy="6350"/>
          </a:xfrm>
          <a:prstGeom prst="rect">
            <a:avLst/>
          </a:prstGeom>
          <a:solidFill>
            <a:srgbClr val="E2DED5"/>
          </a:solidFill>
          <a:ln/>
        </p:spPr>
      </p:sp>
      <p:sp>
        <p:nvSpPr>
          <p:cNvPr id="41" name="Text 39"/>
          <p:cNvSpPr txBox="1"/>
          <p:nvPr/>
        </p:nvSpPr>
        <p:spPr>
          <a:xfrm>
            <a:off x="3923705" y="40264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長野先生</a:t>
            </a:r>
            <a:endParaRPr lang="en-US" sz="1300" dirty="0"/>
          </a:p>
        </p:txBody>
      </p:sp>
      <p:sp>
        <p:nvSpPr>
          <p:cNvPr id="42" name="Shape 40"/>
          <p:cNvSpPr/>
          <p:nvPr/>
        </p:nvSpPr>
        <p:spPr>
          <a:xfrm>
            <a:off x="5884565" y="4350345"/>
            <a:ext cx="5494635" cy="6350"/>
          </a:xfrm>
          <a:prstGeom prst="rect">
            <a:avLst/>
          </a:prstGeom>
          <a:solidFill>
            <a:srgbClr val="E2DED5"/>
          </a:solidFill>
          <a:ln/>
        </p:spPr>
      </p:sp>
      <p:sp>
        <p:nvSpPr>
          <p:cNvPr id="43" name="Text 41"/>
          <p:cNvSpPr txBox="1"/>
          <p:nvPr/>
        </p:nvSpPr>
        <p:spPr>
          <a:xfrm>
            <a:off x="6036965" y="40264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幹細胞・人工胚の研究と倫理</a:t>
            </a:r>
            <a:endParaRPr lang="en-US" sz="1300" dirty="0"/>
          </a:p>
        </p:txBody>
      </p:sp>
      <p:sp>
        <p:nvSpPr>
          <p:cNvPr id="44" name="Shape 42"/>
          <p:cNvSpPr/>
          <p:nvPr/>
        </p:nvSpPr>
        <p:spPr>
          <a:xfrm>
            <a:off x="812800" y="4356695"/>
            <a:ext cx="10566400" cy="419100"/>
          </a:xfrm>
          <a:prstGeom prst="rect">
            <a:avLst/>
          </a:prstGeom>
          <a:solidFill>
            <a:srgbClr val="F6F4EF"/>
          </a:solidFill>
          <a:ln/>
        </p:spPr>
      </p:sp>
      <p:sp>
        <p:nvSpPr>
          <p:cNvPr id="45" name="Shape 43"/>
          <p:cNvSpPr/>
          <p:nvPr/>
        </p:nvSpPr>
        <p:spPr>
          <a:xfrm>
            <a:off x="812800" y="4769445"/>
            <a:ext cx="2958505" cy="6350"/>
          </a:xfrm>
          <a:prstGeom prst="rect">
            <a:avLst/>
          </a:prstGeom>
          <a:solidFill>
            <a:srgbClr val="E2DED5"/>
          </a:solidFill>
          <a:ln/>
        </p:spPr>
      </p:sp>
      <p:sp>
        <p:nvSpPr>
          <p:cNvPr id="46" name="Text 44"/>
          <p:cNvSpPr txBox="1"/>
          <p:nvPr/>
        </p:nvSpPr>
        <p:spPr>
          <a:xfrm>
            <a:off x="965200" y="44455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Pasona</a:t>
            </a:r>
            <a:endParaRPr lang="en-US" sz="1300" dirty="0"/>
          </a:p>
        </p:txBody>
      </p:sp>
      <p:sp>
        <p:nvSpPr>
          <p:cNvPr id="47" name="Shape 45"/>
          <p:cNvSpPr/>
          <p:nvPr/>
        </p:nvSpPr>
        <p:spPr>
          <a:xfrm>
            <a:off x="3771305" y="4769445"/>
            <a:ext cx="2113260" cy="6350"/>
          </a:xfrm>
          <a:prstGeom prst="rect">
            <a:avLst/>
          </a:prstGeom>
          <a:solidFill>
            <a:srgbClr val="E2DED5"/>
          </a:solidFill>
          <a:ln/>
        </p:spPr>
      </p:sp>
      <p:sp>
        <p:nvSpPr>
          <p:cNvPr id="48" name="Text 46"/>
          <p:cNvSpPr txBox="1"/>
          <p:nvPr/>
        </p:nvSpPr>
        <p:spPr>
          <a:xfrm>
            <a:off x="3923705" y="44455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けんじさん</a:t>
            </a:r>
            <a:endParaRPr lang="en-US" sz="1300" dirty="0"/>
          </a:p>
        </p:txBody>
      </p:sp>
      <p:sp>
        <p:nvSpPr>
          <p:cNvPr id="49" name="Shape 47"/>
          <p:cNvSpPr/>
          <p:nvPr/>
        </p:nvSpPr>
        <p:spPr>
          <a:xfrm>
            <a:off x="5884565" y="4769445"/>
            <a:ext cx="5494635" cy="6350"/>
          </a:xfrm>
          <a:prstGeom prst="rect">
            <a:avLst/>
          </a:prstGeom>
          <a:solidFill>
            <a:srgbClr val="E2DED5"/>
          </a:solidFill>
          <a:ln/>
        </p:spPr>
      </p:sp>
      <p:sp>
        <p:nvSpPr>
          <p:cNvPr id="50" name="Text 48"/>
          <p:cNvSpPr txBox="1"/>
          <p:nvPr/>
        </p:nvSpPr>
        <p:spPr>
          <a:xfrm>
            <a:off x="6036965" y="44455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日米の生産性の差、アクノレッジ、計画的偶発性理論</a:t>
            </a:r>
            <a:endParaRPr lang="en-US" sz="1300" dirty="0"/>
          </a:p>
        </p:txBody>
      </p:sp>
      <p:sp>
        <p:nvSpPr>
          <p:cNvPr id="51" name="Shape 49"/>
          <p:cNvSpPr/>
          <p:nvPr/>
        </p:nvSpPr>
        <p:spPr>
          <a:xfrm>
            <a:off x="812800" y="5188545"/>
            <a:ext cx="2958505" cy="6350"/>
          </a:xfrm>
          <a:prstGeom prst="rect">
            <a:avLst/>
          </a:prstGeom>
          <a:solidFill>
            <a:srgbClr val="E2DED5"/>
          </a:solidFill>
          <a:ln/>
        </p:spPr>
      </p:sp>
      <p:sp>
        <p:nvSpPr>
          <p:cNvPr id="52" name="Text 50"/>
          <p:cNvSpPr txBox="1"/>
          <p:nvPr/>
        </p:nvSpPr>
        <p:spPr>
          <a:xfrm>
            <a:off x="965200" y="4864695"/>
            <a:ext cx="265370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Sora Preschool</a:t>
            </a:r>
            <a:endParaRPr lang="en-US" sz="1300" dirty="0"/>
          </a:p>
        </p:txBody>
      </p:sp>
      <p:sp>
        <p:nvSpPr>
          <p:cNvPr id="53" name="Shape 51"/>
          <p:cNvSpPr/>
          <p:nvPr/>
        </p:nvSpPr>
        <p:spPr>
          <a:xfrm>
            <a:off x="3771305" y="5188545"/>
            <a:ext cx="2113260" cy="6350"/>
          </a:xfrm>
          <a:prstGeom prst="rect">
            <a:avLst/>
          </a:prstGeom>
          <a:solidFill>
            <a:srgbClr val="E2DED5"/>
          </a:solidFill>
          <a:ln/>
        </p:spPr>
      </p:sp>
      <p:sp>
        <p:nvSpPr>
          <p:cNvPr id="54" name="Text 52"/>
          <p:cNvSpPr txBox="1"/>
          <p:nvPr/>
        </p:nvSpPr>
        <p:spPr>
          <a:xfrm>
            <a:off x="3923705" y="4864695"/>
            <a:ext cx="1808460"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れいこ先生・まこ先生</a:t>
            </a:r>
            <a:endParaRPr lang="en-US" sz="1300" dirty="0"/>
          </a:p>
        </p:txBody>
      </p:sp>
      <p:sp>
        <p:nvSpPr>
          <p:cNvPr id="55" name="Shape 53"/>
          <p:cNvSpPr/>
          <p:nvPr/>
        </p:nvSpPr>
        <p:spPr>
          <a:xfrm>
            <a:off x="5884565" y="5188545"/>
            <a:ext cx="5494635" cy="6350"/>
          </a:xfrm>
          <a:prstGeom prst="rect">
            <a:avLst/>
          </a:prstGeom>
          <a:solidFill>
            <a:srgbClr val="E2DED5"/>
          </a:solidFill>
          <a:ln/>
        </p:spPr>
      </p:sp>
      <p:sp>
        <p:nvSpPr>
          <p:cNvPr id="56" name="Text 54"/>
          <p:cNvSpPr txBox="1"/>
          <p:nvPr/>
        </p:nvSpPr>
        <p:spPr>
          <a:xfrm>
            <a:off x="6036965" y="4864695"/>
            <a:ext cx="5189835" cy="241300"/>
          </a:xfrm>
          <a:prstGeom prst="rect">
            <a:avLst/>
          </a:prstGeom>
          <a:noFill/>
          <a:ln/>
        </p:spPr>
        <p:txBody>
          <a:bodyPr wrap="none" lIns="0" tIns="0" rIns="0" bIns="0" rtlCol="0" anchor="ctr"/>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環境設定と仕組み化された教育</a:t>
            </a:r>
            <a:endParaRPr lang="en-US" sz="1300" dirty="0"/>
          </a:p>
        </p:txBody>
      </p:sp>
      <p:sp>
        <p:nvSpPr>
          <p:cNvPr id="57" name="Text 55"/>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58" name="Text 56"/>
          <p:cNvSpPr txBox="1"/>
          <p:nvPr/>
        </p:nvSpPr>
        <p:spPr>
          <a:xfrm>
            <a:off x="11223724" y="6223000"/>
            <a:ext cx="155476"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TESLA ／ SERGIOさん</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Tesla：頑張りが自分に返ってくる仕組み</a:t>
            </a:r>
            <a:endParaRPr lang="en-US" sz="3200" dirty="0"/>
          </a:p>
        </p:txBody>
      </p:sp>
      <p:pic>
        <p:nvPicPr>
          <p:cNvPr id="4" name="Image 0" descr="/tmp/claude-0/-home-user--/3ca9cfef-63b4-5a4c-8641-852bc146d002/images/2.jpg">    </p:cNvPr>
          <p:cNvPicPr>
            <a:picLocks noChangeAspect="1"/>
          </p:cNvPicPr>
          <p:nvPr/>
        </p:nvPicPr>
        <p:blipFill>
          <a:blip r:embed="rId1"/>
          <a:srcRect l="6250" r="6250" t="0" b="0"/>
          <a:stretch/>
        </p:blipFill>
        <p:spPr>
          <a:xfrm>
            <a:off x="812800" y="1845270"/>
            <a:ext cx="2667000" cy="4064000"/>
          </a:xfrm>
          <a:prstGeom prst="rect">
            <a:avLst/>
          </a:prstGeom>
        </p:spPr>
      </p:pic>
      <p:sp>
        <p:nvSpPr>
          <p:cNvPr id="5" name="Shape 2"/>
          <p:cNvSpPr/>
          <p:nvPr/>
        </p:nvSpPr>
        <p:spPr>
          <a:xfrm>
            <a:off x="3683000" y="1845270"/>
            <a:ext cx="3771900" cy="2073870"/>
          </a:xfrm>
          <a:prstGeom prst="roundRect">
            <a:avLst>
              <a:gd name="adj" fmla="val 2160"/>
            </a:avLst>
          </a:prstGeom>
          <a:solidFill>
            <a:srgbClr val="FDFCF9"/>
          </a:solidFill>
          <a:ln w="6350">
            <a:solidFill>
              <a:srgbClr val="E2DED5"/>
            </a:solidFill>
            <a:prstDash val="solid"/>
          </a:ln>
        </p:spPr>
      </p:sp>
      <p:sp>
        <p:nvSpPr>
          <p:cNvPr id="6" name="Text 3"/>
          <p:cNvSpPr txBox="1"/>
          <p:nvPr/>
        </p:nvSpPr>
        <p:spPr>
          <a:xfrm>
            <a:off x="3892550" y="2054820"/>
            <a:ext cx="33528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採用基準</a:t>
            </a:r>
            <a:endParaRPr lang="en-US" sz="1500" dirty="0"/>
          </a:p>
        </p:txBody>
      </p:sp>
      <p:sp>
        <p:nvSpPr>
          <p:cNvPr id="7" name="Text 4"/>
          <p:cNvSpPr txBox="1"/>
          <p:nvPr/>
        </p:nvSpPr>
        <p:spPr>
          <a:xfrm>
            <a:off x="3892550" y="2410420"/>
            <a:ext cx="3429000" cy="472281"/>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学力ではなく</a:t>
            </a:r>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経験値</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を買って採用。Sergioさん自身の採用フローも聞け、具体的に理解できた。</a:t>
            </a:r>
            <a:endParaRPr lang="en-US" sz="1200" dirty="0"/>
          </a:p>
        </p:txBody>
      </p:sp>
      <p:sp>
        <p:nvSpPr>
          <p:cNvPr id="8" name="Shape 5"/>
          <p:cNvSpPr/>
          <p:nvPr/>
        </p:nvSpPr>
        <p:spPr>
          <a:xfrm>
            <a:off x="7607300" y="1845270"/>
            <a:ext cx="3771900" cy="2073870"/>
          </a:xfrm>
          <a:prstGeom prst="roundRect">
            <a:avLst>
              <a:gd name="adj" fmla="val 2160"/>
            </a:avLst>
          </a:prstGeom>
          <a:solidFill>
            <a:srgbClr val="FDFCF9"/>
          </a:solidFill>
          <a:ln w="6350">
            <a:solidFill>
              <a:srgbClr val="E2DED5"/>
            </a:solidFill>
            <a:prstDash val="solid"/>
          </a:ln>
        </p:spPr>
      </p:sp>
      <p:sp>
        <p:nvSpPr>
          <p:cNvPr id="9" name="Text 6"/>
          <p:cNvSpPr txBox="1"/>
          <p:nvPr/>
        </p:nvSpPr>
        <p:spPr>
          <a:xfrm>
            <a:off x="7816850" y="2054820"/>
            <a:ext cx="33528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一番のベネフィット</a:t>
            </a:r>
            <a:endParaRPr lang="en-US" sz="1500" dirty="0"/>
          </a:p>
        </p:txBody>
      </p:sp>
      <p:sp>
        <p:nvSpPr>
          <p:cNvPr id="10" name="Text 7"/>
          <p:cNvSpPr txBox="1"/>
          <p:nvPr/>
        </p:nvSpPr>
        <p:spPr>
          <a:xfrm>
            <a:off x="7816850" y="2410420"/>
            <a:ext cx="3429000" cy="944563"/>
          </a:xfrm>
          <a:prstGeom prst="rect">
            <a:avLst/>
          </a:prstGeom>
          <a:noFill/>
          <a:ln/>
        </p:spPr>
        <p:txBody>
          <a:bodyPr wrap="square" lIns="0" tIns="0" rIns="0" bIns="0" rtlCol="0" anchor="t"/>
          <a:lstStyle/>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ストックオプション</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。頑張り＝収入というシンプルな構造が自律を生む。ボーナスは現金・休暇・株から選べ、株は15%オフ、テスラ車は自動運転無料。</a:t>
            </a:r>
            <a:endParaRPr lang="en-US" sz="1200" dirty="0"/>
          </a:p>
        </p:txBody>
      </p:sp>
      <p:sp>
        <p:nvSpPr>
          <p:cNvPr id="11" name="Shape 8"/>
          <p:cNvSpPr/>
          <p:nvPr/>
        </p:nvSpPr>
        <p:spPr>
          <a:xfrm>
            <a:off x="3683000" y="4071541"/>
            <a:ext cx="3771900" cy="1837730"/>
          </a:xfrm>
          <a:prstGeom prst="roundRect">
            <a:avLst>
              <a:gd name="adj" fmla="val 2751"/>
            </a:avLst>
          </a:prstGeom>
          <a:solidFill>
            <a:srgbClr val="FDFCF9"/>
          </a:solidFill>
          <a:ln w="6350">
            <a:solidFill>
              <a:srgbClr val="E2DED5"/>
            </a:solidFill>
            <a:prstDash val="solid"/>
          </a:ln>
        </p:spPr>
      </p:sp>
      <p:sp>
        <p:nvSpPr>
          <p:cNvPr id="12" name="Text 9"/>
          <p:cNvSpPr txBox="1"/>
          <p:nvPr/>
        </p:nvSpPr>
        <p:spPr>
          <a:xfrm>
            <a:off x="3892550" y="4281091"/>
            <a:ext cx="33528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ビジョン</a:t>
            </a:r>
            <a:endParaRPr lang="en-US" sz="1500" dirty="0"/>
          </a:p>
        </p:txBody>
      </p:sp>
      <p:sp>
        <p:nvSpPr>
          <p:cNvPr id="13" name="Text 10"/>
          <p:cNvSpPr txBox="1"/>
          <p:nvPr/>
        </p:nvSpPr>
        <p:spPr>
          <a:xfrm>
            <a:off x="3892550" y="4636691"/>
            <a:ext cx="3429000" cy="708422"/>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大々的な共有はなくても、現場が</a:t>
            </a:r>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「どんな未来の問題と戦うか」</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を理解している。自動化の理由＝介護の負担を減らすため。</a:t>
            </a:r>
            <a:endParaRPr lang="en-US" sz="1200" dirty="0"/>
          </a:p>
        </p:txBody>
      </p:sp>
      <p:sp>
        <p:nvSpPr>
          <p:cNvPr id="14" name="Shape 11"/>
          <p:cNvSpPr/>
          <p:nvPr/>
        </p:nvSpPr>
        <p:spPr>
          <a:xfrm>
            <a:off x="7607300" y="4071541"/>
            <a:ext cx="3771900" cy="1837730"/>
          </a:xfrm>
          <a:prstGeom prst="roundRect">
            <a:avLst>
              <a:gd name="adj" fmla="val 2751"/>
            </a:avLst>
          </a:prstGeom>
          <a:solidFill>
            <a:srgbClr val="FDFCF9"/>
          </a:solidFill>
          <a:ln w="6350">
            <a:solidFill>
              <a:srgbClr val="E2DED5"/>
            </a:solidFill>
            <a:prstDash val="solid"/>
          </a:ln>
        </p:spPr>
      </p:sp>
      <p:sp>
        <p:nvSpPr>
          <p:cNvPr id="15" name="Text 12"/>
          <p:cNvSpPr txBox="1"/>
          <p:nvPr/>
        </p:nvSpPr>
        <p:spPr>
          <a:xfrm>
            <a:off x="7816850" y="4281091"/>
            <a:ext cx="33528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未来構想</a:t>
            </a:r>
            <a:endParaRPr lang="en-US" sz="1500" dirty="0"/>
          </a:p>
        </p:txBody>
      </p:sp>
      <p:sp>
        <p:nvSpPr>
          <p:cNvPr id="16" name="Text 13"/>
          <p:cNvSpPr txBox="1"/>
          <p:nvPr/>
        </p:nvSpPr>
        <p:spPr>
          <a:xfrm>
            <a:off x="7816850" y="4636691"/>
            <a:ext cx="3429000" cy="472281"/>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車を個人に売らず、</a:t>
            </a:r>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1人100ドル程度のサブスク</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でみんなでシェアしながら移動する世界へ。</a:t>
            </a:r>
            <a:endParaRPr lang="en-US" sz="1200" dirty="0"/>
          </a:p>
        </p:txBody>
      </p:sp>
      <p:sp>
        <p:nvSpPr>
          <p:cNvPr id="17" name="Text 14"/>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8" name="Text 15"/>
          <p:cNvSpPr txBox="1"/>
          <p:nvPr/>
        </p:nvSpPr>
        <p:spPr>
          <a:xfrm>
            <a:off x="11243171" y="6223000"/>
            <a:ext cx="136029"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F08A4B"/>
                </a:solidFill>
                <a:latin typeface="Avenir Next Condensed" pitchFamily="34" charset="0"/>
                <a:ea typeface="Avenir Next Condensed" pitchFamily="34" charset="-122"/>
                <a:cs typeface="Avenir Next Condensed" pitchFamily="34" charset="-120"/>
              </a:rPr>
              <a:t>TESLA ／ 感想</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F6F4EF"/>
                </a:solidFill>
                <a:latin typeface="Hiragino Sans" pitchFamily="34" charset="0"/>
                <a:ea typeface="Hiragino Sans" pitchFamily="34" charset="-122"/>
                <a:cs typeface="Hiragino Sans" pitchFamily="34" charset="-120"/>
              </a:rPr>
              <a:t>今回いちばん印象に残った訪問先</a:t>
            </a:r>
            <a:endParaRPr lang="en-US" sz="3200" dirty="0"/>
          </a:p>
        </p:txBody>
      </p:sp>
      <p:sp>
        <p:nvSpPr>
          <p:cNvPr id="4" name="Shape 2"/>
          <p:cNvSpPr/>
          <p:nvPr/>
        </p:nvSpPr>
        <p:spPr>
          <a:xfrm>
            <a:off x="812800" y="1845270"/>
            <a:ext cx="38100" cy="1130300"/>
          </a:xfrm>
          <a:prstGeom prst="rect">
            <a:avLst/>
          </a:prstGeom>
          <a:solidFill>
            <a:srgbClr val="E0662B"/>
          </a:solidFill>
          <a:ln/>
        </p:spPr>
      </p:sp>
      <p:sp>
        <p:nvSpPr>
          <p:cNvPr id="5" name="Text 3"/>
          <p:cNvSpPr txBox="1"/>
          <p:nvPr/>
        </p:nvSpPr>
        <p:spPr>
          <a:xfrm>
            <a:off x="1054100" y="1896070"/>
            <a:ext cx="6540500" cy="1028700"/>
          </a:xfrm>
          <a:prstGeom prst="rect">
            <a:avLst/>
          </a:prstGeom>
          <a:noFill/>
          <a:ln/>
        </p:spPr>
        <p:txBody>
          <a:bodyPr wrap="square" lIns="0" tIns="0" rIns="0" bIns="0" rtlCol="0" anchor="t"/>
          <a:lstStyle/>
          <a:p>
            <a:pPr algn="l" indent="0" marL="0">
              <a:lnSpc>
                <a:spcPct val="150000"/>
              </a:lnSpc>
              <a:buNone/>
            </a:pPr>
            <a:r>
              <a:rPr lang="en-US" sz="1800" b="1" dirty="0">
                <a:solidFill>
                  <a:srgbClr val="F6F4EF"/>
                </a:solidFill>
                <a:latin typeface="Hiragino Sans" pitchFamily="34" charset="0"/>
                <a:ea typeface="Hiragino Sans" pitchFamily="34" charset="-122"/>
                <a:cs typeface="Hiragino Sans" pitchFamily="34" charset="-120"/>
              </a:rPr>
              <a:t>人がロボを作り、管理する。</a:t>
            </a:r>
            <a:endParaRPr lang="en-US" sz="1800" dirty="0"/>
          </a:p>
          <a:p>
            <a:pPr algn="l" indent="0" marL="0">
              <a:lnSpc>
                <a:spcPct val="150000"/>
              </a:lnSpc>
              <a:buNone/>
            </a:pPr>
            <a:r>
              <a:rPr lang="en-US" sz="1800" b="1" dirty="0">
                <a:solidFill>
                  <a:srgbClr val="F6F4EF"/>
                </a:solidFill>
                <a:latin typeface="Hiragino Sans" pitchFamily="34" charset="0"/>
                <a:ea typeface="Hiragino Sans" pitchFamily="34" charset="-122"/>
                <a:cs typeface="Hiragino Sans" pitchFamily="34" charset="-120"/>
              </a:rPr>
              <a:t>AIとロボが、人の動きを管理する。</a:t>
            </a:r>
            <a:endParaRPr lang="en-US" sz="1800" dirty="0"/>
          </a:p>
          <a:p>
            <a:pPr algn="l" indent="0" marL="0">
              <a:lnSpc>
                <a:spcPct val="150000"/>
              </a:lnSpc>
              <a:buNone/>
            </a:pPr>
            <a:r>
              <a:rPr lang="en-US" sz="1800" b="1" dirty="0">
                <a:solidFill>
                  <a:srgbClr val="F6F4EF"/>
                </a:solidFill>
                <a:latin typeface="Hiragino Sans" pitchFamily="34" charset="0"/>
                <a:ea typeface="Hiragino Sans" pitchFamily="34" charset="-122"/>
                <a:cs typeface="Hiragino Sans" pitchFamily="34" charset="-120"/>
              </a:rPr>
              <a:t>お互いを見合いながら生産性を上げている。</a:t>
            </a:r>
            <a:endParaRPr lang="en-US" sz="1800" dirty="0"/>
          </a:p>
        </p:txBody>
      </p:sp>
      <p:sp>
        <p:nvSpPr>
          <p:cNvPr id="6" name="Text 4"/>
          <p:cNvSpPr txBox="1"/>
          <p:nvPr/>
        </p:nvSpPr>
        <p:spPr>
          <a:xfrm>
            <a:off x="812800" y="3178770"/>
            <a:ext cx="6705600" cy="264120"/>
          </a:xfrm>
          <a:prstGeom prst="rect">
            <a:avLst/>
          </a:prstGeom>
          <a:noFill/>
          <a:ln/>
        </p:spPr>
        <p:txBody>
          <a:bodyPr wrap="none" lIns="0" tIns="0" rIns="0" bIns="0" rtlCol="0" anchor="t"/>
          <a:lstStyle/>
          <a:p>
            <a:pPr algn="l" marL="228600" indent="-228600">
              <a:lnSpc>
                <a:spcPct val="160000"/>
              </a:lnSpc>
              <a:buSzPct val="100000"/>
              <a:buChar char="•"/>
            </a:pPr>
            <a:r>
              <a:rPr lang="en-US" sz="1300" dirty="0">
                <a:solidFill>
                  <a:srgbClr val="C9D3E6"/>
                </a:solidFill>
                <a:latin typeface="Hiragino Sans" pitchFamily="34" charset="0"/>
                <a:ea typeface="Hiragino Sans" pitchFamily="34" charset="-122"/>
                <a:cs typeface="Hiragino Sans" pitchFamily="34" charset="-120"/>
              </a:rPr>
              <a:t>トップダウン経営で、AI・ロボ・人が融合した未来の働き方が見えた</a:t>
            </a:r>
            <a:endParaRPr lang="en-US" sz="1300" dirty="0"/>
          </a:p>
        </p:txBody>
      </p:sp>
      <p:sp>
        <p:nvSpPr>
          <p:cNvPr id="7" name="Text 5"/>
          <p:cNvSpPr txBox="1"/>
          <p:nvPr/>
        </p:nvSpPr>
        <p:spPr>
          <a:xfrm>
            <a:off x="812800" y="3519091"/>
            <a:ext cx="6705600" cy="264120"/>
          </a:xfrm>
          <a:prstGeom prst="rect">
            <a:avLst/>
          </a:prstGeom>
          <a:noFill/>
          <a:ln/>
        </p:spPr>
        <p:txBody>
          <a:bodyPr wrap="none" lIns="0" tIns="0" rIns="0" bIns="0" rtlCol="0" anchor="t"/>
          <a:lstStyle/>
          <a:p>
            <a:pPr algn="l" marL="228600" indent="-228600">
              <a:lnSpc>
                <a:spcPct val="160000"/>
              </a:lnSpc>
              <a:buSzPct val="100000"/>
              <a:buChar char="•"/>
            </a:pPr>
            <a:r>
              <a:rPr lang="en-US" sz="1300" dirty="0">
                <a:solidFill>
                  <a:srgbClr val="C9D3E6"/>
                </a:solidFill>
                <a:latin typeface="Hiragino Sans" pitchFamily="34" charset="0"/>
                <a:ea typeface="Hiragino Sans" pitchFamily="34" charset="-122"/>
                <a:cs typeface="Hiragino Sans" pitchFamily="34" charset="-120"/>
              </a:rPr>
              <a:t>現場が「この商品が未来のどの問題を解決するか」を自分の言葉で話せる＝強い組織</a:t>
            </a:r>
            <a:endParaRPr lang="en-US" sz="1300" dirty="0"/>
          </a:p>
        </p:txBody>
      </p:sp>
      <p:sp>
        <p:nvSpPr>
          <p:cNvPr id="8" name="Text 6"/>
          <p:cNvSpPr txBox="1"/>
          <p:nvPr/>
        </p:nvSpPr>
        <p:spPr>
          <a:xfrm>
            <a:off x="812800" y="3859411"/>
            <a:ext cx="6781800" cy="528241"/>
          </a:xfrm>
          <a:prstGeom prst="rect">
            <a:avLst/>
          </a:prstGeom>
          <a:noFill/>
          <a:ln/>
        </p:spPr>
        <p:txBody>
          <a:bodyPr wrap="square" lIns="0" tIns="0" rIns="0" bIns="0" rtlCol="0" anchor="t"/>
          <a:lstStyle/>
          <a:p>
            <a:pPr algn="l" marL="228600" indent="-228600">
              <a:lnSpc>
                <a:spcPct val="160000"/>
              </a:lnSpc>
              <a:buSzPct val="100000"/>
              <a:buChar char="•"/>
            </a:pPr>
            <a:r>
              <a:rPr lang="en-US" sz="1300" dirty="0">
                <a:solidFill>
                  <a:srgbClr val="C9D3E6"/>
                </a:solidFill>
                <a:latin typeface="Hiragino Sans" pitchFamily="34" charset="0"/>
                <a:ea typeface="Hiragino Sans" pitchFamily="34" charset="-122"/>
                <a:cs typeface="Hiragino Sans" pitchFamily="34" charset="-120"/>
              </a:rPr>
              <a:t>サブスクで高齢化の問題を解く壮大な構想と、それを実現まで持っていくイーロン・マスクの考え方と行動力</a:t>
            </a:r>
            <a:endParaRPr lang="en-US" sz="1300" dirty="0"/>
          </a:p>
        </p:txBody>
      </p:sp>
      <p:pic>
        <p:nvPicPr>
          <p:cNvPr id="9" name="Image 0" descr="/tmp/claude-0/-home-user--/3ca9cfef-63b4-5a4c-8641-852bc146d002/images/4.jpg">    </p:cNvPr>
          <p:cNvPicPr>
            <a:picLocks noChangeAspect="1"/>
          </p:cNvPicPr>
          <p:nvPr/>
        </p:nvPicPr>
        <p:blipFill>
          <a:blip r:embed="rId1"/>
          <a:srcRect l="0" r="0" t="13333" b="13333"/>
          <a:stretch/>
        </p:blipFill>
        <p:spPr>
          <a:xfrm>
            <a:off x="7823200" y="1845270"/>
            <a:ext cx="3556000" cy="1955800"/>
          </a:xfrm>
          <a:prstGeom prst="rect">
            <a:avLst/>
          </a:prstGeom>
        </p:spPr>
      </p:pic>
      <p:pic>
        <p:nvPicPr>
          <p:cNvPr id="10" name="Image 1" descr="/tmp/claude-0/-home-user--/3ca9cfef-63b4-5a4c-8641-852bc146d002/images/3.jpg">    </p:cNvPr>
          <p:cNvPicPr>
            <a:picLocks noChangeAspect="1"/>
          </p:cNvPicPr>
          <p:nvPr/>
        </p:nvPicPr>
        <p:blipFill>
          <a:blip r:embed="rId2"/>
          <a:srcRect l="0" r="0" t="13333" b="13333"/>
          <a:stretch/>
        </p:blipFill>
        <p:spPr>
          <a:xfrm>
            <a:off x="7823200" y="3953470"/>
            <a:ext cx="3556000" cy="1955800"/>
          </a:xfrm>
          <a:prstGeom prst="rect">
            <a:avLst/>
          </a:prstGeom>
        </p:spPr>
      </p:pic>
      <p:sp>
        <p:nvSpPr>
          <p:cNvPr id="11" name="Text 7"/>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8E9BB5"/>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2" name="Text 8"/>
          <p:cNvSpPr txBox="1"/>
          <p:nvPr/>
        </p:nvSpPr>
        <p:spPr>
          <a:xfrm>
            <a:off x="11224320" y="6223000"/>
            <a:ext cx="154880" cy="228600"/>
          </a:xfrm>
          <a:prstGeom prst="rect">
            <a:avLst/>
          </a:prstGeom>
          <a:noFill/>
          <a:ln/>
        </p:spPr>
        <p:txBody>
          <a:bodyPr wrap="none" lIns="0" tIns="0" rIns="0" bIns="0" rtlCol="0" anchor="t"/>
          <a:lstStyle/>
          <a:p>
            <a:pPr algn="l" indent="0" marL="0">
              <a:lnSpc>
                <a:spcPct val="140000"/>
              </a:lnSpc>
              <a:buNone/>
            </a:pPr>
            <a:r>
              <a:rPr lang="en-US" sz="1200" dirty="0">
                <a:solidFill>
                  <a:srgbClr val="8E9BB5"/>
                </a:solidFill>
                <a:latin typeface="Avenir Next Condensed" pitchFamily="34" charset="0"/>
                <a:ea typeface="Avenir Next Condensed" pitchFamily="34" charset="-122"/>
                <a:cs typeface="Avenir Next Condensed"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NASA AMES RESEARCH PARK ／ CHRISさん</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NASA：好奇心をそのまま仕事にする</a:t>
            </a:r>
            <a:endParaRPr lang="en-US" sz="3200" dirty="0"/>
          </a:p>
        </p:txBody>
      </p:sp>
      <p:pic>
        <p:nvPicPr>
          <p:cNvPr id="4" name="Image 0" descr="/tmp/claude-0/-home-user--/3ca9cfef-63b4-5a4c-8641-852bc146d002/images/5.jpg">    </p:cNvPr>
          <p:cNvPicPr>
            <a:picLocks noChangeAspect="1"/>
          </p:cNvPicPr>
          <p:nvPr/>
        </p:nvPicPr>
        <p:blipFill>
          <a:blip r:embed="rId1"/>
          <a:srcRect l="0" r="0" t="26124" b="26124"/>
          <a:stretch/>
        </p:blipFill>
        <p:spPr>
          <a:xfrm>
            <a:off x="812800" y="1845270"/>
            <a:ext cx="5461000" cy="1955800"/>
          </a:xfrm>
          <a:prstGeom prst="rect">
            <a:avLst/>
          </a:prstGeom>
        </p:spPr>
      </p:pic>
      <p:pic>
        <p:nvPicPr>
          <p:cNvPr id="5" name="Image 1" descr="/tmp/claude-0/-home-user--/3ca9cfef-63b4-5a4c-8641-852bc146d002/images/11.jpg">    </p:cNvPr>
          <p:cNvPicPr>
            <a:picLocks noChangeAspect="1"/>
          </p:cNvPicPr>
          <p:nvPr/>
        </p:nvPicPr>
        <p:blipFill>
          <a:blip r:embed="rId2"/>
          <a:srcRect l="0" r="0" t="26124" b="26124"/>
          <a:stretch/>
        </p:blipFill>
        <p:spPr>
          <a:xfrm>
            <a:off x="812800" y="3953470"/>
            <a:ext cx="5461000" cy="1955800"/>
          </a:xfrm>
          <a:prstGeom prst="rect">
            <a:avLst/>
          </a:prstGeom>
        </p:spPr>
      </p:pic>
      <p:sp>
        <p:nvSpPr>
          <p:cNvPr id="6" name="Text 2"/>
          <p:cNvSpPr txBox="1"/>
          <p:nvPr/>
        </p:nvSpPr>
        <p:spPr>
          <a:xfrm>
            <a:off x="6578600" y="1845270"/>
            <a:ext cx="48006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NASAのゴール（Chrisさん）</a:t>
            </a:r>
            <a:endParaRPr lang="en-US" sz="1500" dirty="0"/>
          </a:p>
        </p:txBody>
      </p:sp>
      <p:sp>
        <p:nvSpPr>
          <p:cNvPr id="7" name="Text 3"/>
          <p:cNvSpPr txBox="1"/>
          <p:nvPr/>
        </p:nvSpPr>
        <p:spPr>
          <a:xfrm>
            <a:off x="6578600" y="2200870"/>
            <a:ext cx="4800600" cy="266700"/>
          </a:xfrm>
          <a:prstGeom prst="rect">
            <a:avLst/>
          </a:prstGeom>
          <a:noFill/>
          <a:ln/>
        </p:spPr>
        <p:txBody>
          <a:bodyPr wrap="none" lIns="0" tIns="0" rIns="0" bIns="0" rtlCol="0" anchor="t"/>
          <a:lstStyle/>
          <a:p>
            <a:pPr algn="l" indent="0" marL="0">
              <a:lnSpc>
                <a:spcPct val="150000"/>
              </a:lnSpc>
              <a:buNone/>
            </a:pPr>
            <a:r>
              <a:rPr lang="en-US" sz="1400" dirty="0">
                <a:solidFill>
                  <a:srgbClr val="14213D"/>
                </a:solidFill>
                <a:latin typeface="Hiragino Sans" pitchFamily="34" charset="0"/>
                <a:ea typeface="Hiragino Sans" pitchFamily="34" charset="-122"/>
                <a:cs typeface="Hiragino Sans" pitchFamily="34" charset="-120"/>
              </a:rPr>
              <a:t>地球の外に</a:t>
            </a:r>
            <a:pPr algn="l" indent="0" marL="0">
              <a:lnSpc>
                <a:spcPct val="150000"/>
              </a:lnSpc>
              <a:buNone/>
            </a:pPr>
            <a:r>
              <a:rPr lang="en-US" sz="1400" b="1" dirty="0">
                <a:solidFill>
                  <a:srgbClr val="14213D"/>
                </a:solidFill>
                <a:latin typeface="Hiragino Sans" pitchFamily="34" charset="0"/>
                <a:ea typeface="Hiragino Sans" pitchFamily="34" charset="-122"/>
                <a:cs typeface="Hiragino Sans" pitchFamily="34" charset="-120"/>
              </a:rPr>
              <a:t>生命体があるか</a:t>
            </a:r>
            <a:pPr algn="l" indent="0" marL="0">
              <a:lnSpc>
                <a:spcPct val="150000"/>
              </a:lnSpc>
              <a:buNone/>
            </a:pPr>
            <a:r>
              <a:rPr lang="en-US" sz="1400" dirty="0">
                <a:solidFill>
                  <a:srgbClr val="14213D"/>
                </a:solidFill>
                <a:latin typeface="Hiragino Sans" pitchFamily="34" charset="0"/>
                <a:ea typeface="Hiragino Sans" pitchFamily="34" charset="-122"/>
                <a:cs typeface="Hiragino Sans" pitchFamily="34" charset="-120"/>
              </a:rPr>
              <a:t>を探すこと</a:t>
            </a:r>
            <a:endParaRPr lang="en-US" sz="1400" dirty="0"/>
          </a:p>
        </p:txBody>
      </p:sp>
      <p:sp>
        <p:nvSpPr>
          <p:cNvPr id="8" name="Text 4"/>
          <p:cNvSpPr txBox="1"/>
          <p:nvPr/>
        </p:nvSpPr>
        <p:spPr>
          <a:xfrm>
            <a:off x="6578600" y="2645370"/>
            <a:ext cx="48006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生命が存在しうる星</a:t>
            </a:r>
            <a:endParaRPr lang="en-US" sz="1500" dirty="0"/>
          </a:p>
        </p:txBody>
      </p:sp>
      <p:sp>
        <p:nvSpPr>
          <p:cNvPr id="9" name="Text 5"/>
          <p:cNvSpPr txBox="1"/>
          <p:nvPr/>
        </p:nvSpPr>
        <p:spPr>
          <a:xfrm>
            <a:off x="6578600" y="3000970"/>
            <a:ext cx="4876800" cy="792361"/>
          </a:xfrm>
          <a:prstGeom prst="rect">
            <a:avLst/>
          </a:prstGeom>
          <a:noFill/>
          <a:ln/>
        </p:spPr>
        <p:txBody>
          <a:bodyPr wrap="square" lIns="0" tIns="0" rIns="0" bIns="0" rtlCol="0" anchor="t"/>
          <a:lstStyle/>
          <a:p>
            <a:pPr algn="l" indent="0" marL="0">
              <a:lnSpc>
                <a:spcPct val="160000"/>
              </a:lnSpc>
              <a:buNone/>
            </a:pPr>
            <a:r>
              <a:rPr lang="en-US" sz="1300" dirty="0">
                <a:solidFill>
                  <a:srgbClr val="4A5568"/>
                </a:solidFill>
                <a:latin typeface="Hiragino Sans" pitchFamily="34" charset="0"/>
                <a:ea typeface="Hiragino Sans" pitchFamily="34" charset="-122"/>
                <a:cs typeface="Hiragino Sans" pitchFamily="34" charset="-120"/>
              </a:rPr>
              <a:t>タイタン（土星の衛星・極寒の世界）</a:t>
            </a:r>
            <a:endParaRPr lang="en-US" sz="1300" dirty="0"/>
          </a:p>
          <a:p>
            <a:pPr algn="l" indent="0" marL="0">
              <a:lnSpc>
                <a:spcPct val="160000"/>
              </a:lnSpc>
              <a:buNone/>
            </a:pPr>
            <a:r>
              <a:rPr lang="en-US" sz="1300" dirty="0">
                <a:solidFill>
                  <a:srgbClr val="4A5568"/>
                </a:solidFill>
                <a:latin typeface="Hiragino Sans" pitchFamily="34" charset="0"/>
                <a:ea typeface="Hiragino Sans" pitchFamily="34" charset="-122"/>
                <a:cs typeface="Hiragino Sans" pitchFamily="34" charset="-120"/>
              </a:rPr>
              <a:t>火星</a:t>
            </a:r>
            <a:endParaRPr lang="en-US" sz="1300" dirty="0"/>
          </a:p>
          <a:p>
            <a:pPr algn="l" indent="0" marL="0">
              <a:lnSpc>
                <a:spcPct val="160000"/>
              </a:lnSpc>
              <a:buNone/>
            </a:pPr>
            <a:r>
              <a:rPr lang="en-US" sz="1300" dirty="0">
                <a:solidFill>
                  <a:srgbClr val="4A5568"/>
                </a:solidFill>
                <a:latin typeface="Hiragino Sans" pitchFamily="34" charset="0"/>
                <a:ea typeface="Hiragino Sans" pitchFamily="34" charset="-122"/>
                <a:cs typeface="Hiragino Sans" pitchFamily="34" charset="-120"/>
              </a:rPr>
              <a:t>エウロパ（木星の衛星）など</a:t>
            </a:r>
            <a:endParaRPr lang="en-US" sz="1300" dirty="0"/>
          </a:p>
        </p:txBody>
      </p:sp>
      <p:sp>
        <p:nvSpPr>
          <p:cNvPr id="10" name="Shape 6"/>
          <p:cNvSpPr/>
          <p:nvPr/>
        </p:nvSpPr>
        <p:spPr>
          <a:xfrm>
            <a:off x="6578600" y="3971131"/>
            <a:ext cx="4800600" cy="1467941"/>
          </a:xfrm>
          <a:prstGeom prst="roundRect">
            <a:avLst>
              <a:gd name="adj" fmla="val 4311"/>
            </a:avLst>
          </a:prstGeom>
          <a:solidFill>
            <a:srgbClr val="14213D"/>
          </a:solidFill>
          <a:ln/>
        </p:spPr>
      </p:sp>
      <p:sp>
        <p:nvSpPr>
          <p:cNvPr id="11" name="Text 7"/>
          <p:cNvSpPr txBox="1"/>
          <p:nvPr/>
        </p:nvSpPr>
        <p:spPr>
          <a:xfrm>
            <a:off x="6781800" y="4174331"/>
            <a:ext cx="4394200" cy="254000"/>
          </a:xfrm>
          <a:prstGeom prst="rect">
            <a:avLst/>
          </a:prstGeom>
          <a:noFill/>
          <a:ln/>
        </p:spPr>
        <p:txBody>
          <a:bodyPr wrap="none" lIns="0" tIns="0" rIns="0" bIns="0" rtlCol="0" anchor="t"/>
          <a:lstStyle/>
          <a:p>
            <a:pPr algn="l" indent="0" marL="0">
              <a:lnSpc>
                <a:spcPct val="140000"/>
              </a:lnSpc>
              <a:buNone/>
            </a:pPr>
            <a:r>
              <a:rPr lang="en-US" sz="1400" b="1" dirty="0">
                <a:solidFill>
                  <a:srgbClr val="F08A4B"/>
                </a:solidFill>
                <a:latin typeface="Hiragino Sans" pitchFamily="34" charset="0"/>
                <a:ea typeface="Hiragino Sans" pitchFamily="34" charset="-122"/>
                <a:cs typeface="Hiragino Sans" pitchFamily="34" charset="-120"/>
              </a:rPr>
              <a:t>感想</a:t>
            </a:r>
            <a:endParaRPr lang="en-US" sz="1400" dirty="0"/>
          </a:p>
        </p:txBody>
      </p:sp>
      <p:sp>
        <p:nvSpPr>
          <p:cNvPr id="12" name="Text 8"/>
          <p:cNvSpPr txBox="1"/>
          <p:nvPr/>
        </p:nvSpPr>
        <p:spPr>
          <a:xfrm>
            <a:off x="6781800" y="4504531"/>
            <a:ext cx="4470400" cy="731341"/>
          </a:xfrm>
          <a:prstGeom prst="rect">
            <a:avLst/>
          </a:prstGeom>
          <a:noFill/>
          <a:ln/>
        </p:spPr>
        <p:txBody>
          <a:bodyPr wrap="square" lIns="0" tIns="0" rIns="0" bIns="0" rtlCol="0" anchor="t"/>
          <a:lstStyle/>
          <a:p>
            <a:pPr algn="l" indent="0" marL="0">
              <a:lnSpc>
                <a:spcPct val="160000"/>
              </a:lnSpc>
              <a:buNone/>
            </a:pPr>
            <a:r>
              <a:rPr lang="en-US" sz="1200" dirty="0">
                <a:solidFill>
                  <a:srgbClr val="F6F4EF"/>
                </a:solidFill>
                <a:latin typeface="Hiragino Sans" pitchFamily="34" charset="0"/>
                <a:ea typeface="Hiragino Sans" pitchFamily="34" charset="-122"/>
                <a:cs typeface="Hiragino Sans" pitchFamily="34" charset="-120"/>
              </a:rPr>
              <a:t>本当に宇宙とNASAが好きなことが伝わった。</a:t>
            </a:r>
            <a:pPr algn="l" indent="0" marL="0">
              <a:lnSpc>
                <a:spcPct val="160000"/>
              </a:lnSpc>
              <a:buNone/>
            </a:pPr>
            <a:r>
              <a:rPr lang="en-US" sz="1200" b="1" dirty="0">
                <a:solidFill>
                  <a:srgbClr val="F6F4EF"/>
                </a:solidFill>
                <a:latin typeface="Hiragino Sans" pitchFamily="34" charset="0"/>
                <a:ea typeface="Hiragino Sans" pitchFamily="34" charset="-122"/>
                <a:cs typeface="Hiragino Sans" pitchFamily="34" charset="-120"/>
              </a:rPr>
              <a:t>好きなこと・夢中になれることを仕事にできるのが最強</a:t>
            </a:r>
            <a:pPr algn="l" indent="0" marL="0">
              <a:lnSpc>
                <a:spcPct val="160000"/>
              </a:lnSpc>
              <a:buNone/>
            </a:pPr>
            <a:r>
              <a:rPr lang="en-US" sz="1200" dirty="0">
                <a:solidFill>
                  <a:srgbClr val="F6F4EF"/>
                </a:solidFill>
                <a:latin typeface="Hiragino Sans" pitchFamily="34" charset="0"/>
                <a:ea typeface="Hiragino Sans" pitchFamily="34" charset="-122"/>
                <a:cs typeface="Hiragino Sans" pitchFamily="34" charset="-120"/>
              </a:rPr>
              <a:t>。会社でも適材適所で、夢中になれることを探せる・活躍できる会社にしたい。</a:t>
            </a:r>
            <a:endParaRPr lang="en-US" sz="1200" dirty="0"/>
          </a:p>
        </p:txBody>
      </p:sp>
      <p:sp>
        <p:nvSpPr>
          <p:cNvPr id="13" name="Text 9"/>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4" name="Text 10"/>
          <p:cNvSpPr txBox="1"/>
          <p:nvPr/>
        </p:nvSpPr>
        <p:spPr>
          <a:xfrm>
            <a:off x="11223823" y="6223000"/>
            <a:ext cx="155377"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GOOGLE ／ YASUさん（1/3）</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Google：一つひとつにこだわったキャンパス</a:t>
            </a:r>
            <a:endParaRPr lang="en-US" sz="3200" dirty="0"/>
          </a:p>
        </p:txBody>
      </p:sp>
      <p:pic>
        <p:nvPicPr>
          <p:cNvPr id="4" name="Image 0" descr="/tmp/claude-0/-home-user--/3ca9cfef-63b4-5a4c-8641-852bc146d002/images/12.jpg">    </p:cNvPr>
          <p:cNvPicPr>
            <a:picLocks noChangeAspect="1"/>
          </p:cNvPicPr>
          <p:nvPr/>
        </p:nvPicPr>
        <p:blipFill>
          <a:blip r:embed="rId1"/>
          <a:srcRect l="0" r="0" t="20473" b="20473"/>
          <a:stretch/>
        </p:blipFill>
        <p:spPr>
          <a:xfrm>
            <a:off x="812800" y="1819870"/>
            <a:ext cx="4874716" cy="2159000"/>
          </a:xfrm>
          <a:prstGeom prst="rect">
            <a:avLst/>
          </a:prstGeom>
        </p:spPr>
      </p:pic>
      <p:pic>
        <p:nvPicPr>
          <p:cNvPr id="5" name="Image 1" descr="/tmp/claude-0/-home-user--/3ca9cfef-63b4-5a4c-8641-852bc146d002/images/13.jpg">    </p:cNvPr>
          <p:cNvPicPr>
            <a:picLocks noChangeAspect="1"/>
          </p:cNvPicPr>
          <p:nvPr/>
        </p:nvPicPr>
        <p:blipFill>
          <a:blip r:embed="rId2"/>
          <a:srcRect l="0" r="0" t="8662" b="8662"/>
          <a:stretch/>
        </p:blipFill>
        <p:spPr>
          <a:xfrm>
            <a:off x="5839916" y="1819870"/>
            <a:ext cx="3481884" cy="2159000"/>
          </a:xfrm>
          <a:prstGeom prst="rect">
            <a:avLst/>
          </a:prstGeom>
        </p:spPr>
      </p:pic>
      <p:pic>
        <p:nvPicPr>
          <p:cNvPr id="6" name="Image 2" descr="/tmp/claude-0/-home-user--/3ca9cfef-63b4-5a4c-8641-852bc146d002/images/14.jpg">    </p:cNvPr>
          <p:cNvPicPr>
            <a:picLocks noChangeAspect="1"/>
          </p:cNvPicPr>
          <p:nvPr/>
        </p:nvPicPr>
        <p:blipFill>
          <a:blip r:embed="rId3"/>
          <a:srcRect l="0" r="0" t="7500" b="7500"/>
          <a:stretch/>
        </p:blipFill>
        <p:spPr>
          <a:xfrm>
            <a:off x="9474200" y="1819870"/>
            <a:ext cx="1905000" cy="2159000"/>
          </a:xfrm>
          <a:prstGeom prst="rect">
            <a:avLst/>
          </a:prstGeom>
        </p:spPr>
      </p:pic>
      <p:sp>
        <p:nvSpPr>
          <p:cNvPr id="7" name="Shape 2"/>
          <p:cNvSpPr/>
          <p:nvPr/>
        </p:nvSpPr>
        <p:spPr>
          <a:xfrm>
            <a:off x="812800" y="4207470"/>
            <a:ext cx="3797300" cy="1498600"/>
          </a:xfrm>
          <a:prstGeom prst="roundRect">
            <a:avLst>
              <a:gd name="adj" fmla="val 4137"/>
            </a:avLst>
          </a:prstGeom>
          <a:solidFill>
            <a:srgbClr val="FDFCF9"/>
          </a:solidFill>
          <a:ln w="6350">
            <a:solidFill>
              <a:srgbClr val="E2DED5"/>
            </a:solidFill>
            <a:prstDash val="solid"/>
          </a:ln>
        </p:spPr>
      </p:sp>
      <p:sp>
        <p:nvSpPr>
          <p:cNvPr id="8" name="Text 3"/>
          <p:cNvSpPr txBox="1"/>
          <p:nvPr/>
        </p:nvSpPr>
        <p:spPr>
          <a:xfrm>
            <a:off x="1022350" y="4391620"/>
            <a:ext cx="33782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キャンパス</a:t>
            </a:r>
            <a:endParaRPr lang="en-US" sz="1500" dirty="0"/>
          </a:p>
        </p:txBody>
      </p:sp>
      <p:sp>
        <p:nvSpPr>
          <p:cNvPr id="9" name="Text 4"/>
          <p:cNvSpPr txBox="1"/>
          <p:nvPr/>
        </p:nvSpPr>
        <p:spPr>
          <a:xfrm>
            <a:off x="1022350" y="4734520"/>
            <a:ext cx="3454400" cy="708422"/>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約4,500人に1ドーム。太陽光で電力の約60%、雨水リサイクルでトイレ用水の約80%をまかない、地熱エリアも。</a:t>
            </a:r>
            <a:endParaRPr lang="en-US" sz="1200" dirty="0"/>
          </a:p>
        </p:txBody>
      </p:sp>
      <p:sp>
        <p:nvSpPr>
          <p:cNvPr id="10" name="Shape 5"/>
          <p:cNvSpPr/>
          <p:nvPr/>
        </p:nvSpPr>
        <p:spPr>
          <a:xfrm>
            <a:off x="4762500" y="4207470"/>
            <a:ext cx="3797300" cy="1498600"/>
          </a:xfrm>
          <a:prstGeom prst="roundRect">
            <a:avLst>
              <a:gd name="adj" fmla="val 4137"/>
            </a:avLst>
          </a:prstGeom>
          <a:solidFill>
            <a:srgbClr val="FDFCF9"/>
          </a:solidFill>
          <a:ln w="6350">
            <a:solidFill>
              <a:srgbClr val="E2DED5"/>
            </a:solidFill>
            <a:prstDash val="solid"/>
          </a:ln>
        </p:spPr>
      </p:sp>
      <p:sp>
        <p:nvSpPr>
          <p:cNvPr id="11" name="Text 6"/>
          <p:cNvSpPr txBox="1"/>
          <p:nvPr/>
        </p:nvSpPr>
        <p:spPr>
          <a:xfrm>
            <a:off x="4972050" y="4391620"/>
            <a:ext cx="33782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マイクロキッチン</a:t>
            </a:r>
            <a:endParaRPr lang="en-US" sz="1500" dirty="0"/>
          </a:p>
        </p:txBody>
      </p:sp>
      <p:sp>
        <p:nvSpPr>
          <p:cNvPr id="12" name="Text 7"/>
          <p:cNvSpPr txBox="1"/>
          <p:nvPr/>
        </p:nvSpPr>
        <p:spPr>
          <a:xfrm>
            <a:off x="4972050" y="4734520"/>
            <a:ext cx="3454400" cy="708422"/>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軽いミーティングはここで。仕事場以外のコミュニケーションと、リラックスできる空間の大切さ。</a:t>
            </a:r>
            <a:endParaRPr lang="en-US" sz="1200" dirty="0"/>
          </a:p>
        </p:txBody>
      </p:sp>
      <p:pic>
        <p:nvPicPr>
          <p:cNvPr id="13" name="Image 3" descr="/tmp/claude-0/-home-user--/3ca9cfef-63b4-5a4c-8641-852bc146d002/images/15.jpg">    </p:cNvPr>
          <p:cNvPicPr>
            <a:picLocks noChangeAspect="1"/>
          </p:cNvPicPr>
          <p:nvPr/>
        </p:nvPicPr>
        <p:blipFill>
          <a:blip r:embed="rId4"/>
          <a:srcRect l="0" r="0" t="12540" b="12540"/>
          <a:stretch/>
        </p:blipFill>
        <p:spPr>
          <a:xfrm>
            <a:off x="8712200" y="4207470"/>
            <a:ext cx="2667000" cy="1498600"/>
          </a:xfrm>
          <a:prstGeom prst="rect">
            <a:avLst/>
          </a:prstGeom>
        </p:spPr>
      </p:pic>
      <p:sp>
        <p:nvSpPr>
          <p:cNvPr id="14" name="Text 8"/>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5" name="Text 9"/>
          <p:cNvSpPr txBox="1"/>
          <p:nvPr/>
        </p:nvSpPr>
        <p:spPr>
          <a:xfrm>
            <a:off x="11242774" y="6223000"/>
            <a:ext cx="136426"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GOOGLE ／ YASUさん（2/3）</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Google：成果だけを見る、自律した働き方</a:t>
            </a:r>
            <a:endParaRPr lang="en-US" sz="3200" dirty="0"/>
          </a:p>
        </p:txBody>
      </p:sp>
      <p:sp>
        <p:nvSpPr>
          <p:cNvPr id="4" name="Shape 2"/>
          <p:cNvSpPr/>
          <p:nvPr/>
        </p:nvSpPr>
        <p:spPr>
          <a:xfrm>
            <a:off x="812800" y="1845270"/>
            <a:ext cx="6426200" cy="1922165"/>
          </a:xfrm>
          <a:prstGeom prst="roundRect">
            <a:avLst>
              <a:gd name="adj" fmla="val 2514"/>
            </a:avLst>
          </a:prstGeom>
          <a:solidFill>
            <a:srgbClr val="FDFCF9"/>
          </a:solidFill>
          <a:ln w="6350">
            <a:solidFill>
              <a:srgbClr val="E2DED5"/>
            </a:solidFill>
            <a:prstDash val="solid"/>
          </a:ln>
        </p:spPr>
      </p:sp>
      <p:sp>
        <p:nvSpPr>
          <p:cNvPr id="5" name="Text 3"/>
          <p:cNvSpPr txBox="1"/>
          <p:nvPr/>
        </p:nvSpPr>
        <p:spPr>
          <a:xfrm>
            <a:off x="1073150" y="2324398"/>
            <a:ext cx="5905500" cy="311150"/>
          </a:xfrm>
          <a:prstGeom prst="rect">
            <a:avLst/>
          </a:prstGeom>
          <a:noFill/>
          <a:ln/>
        </p:spPr>
        <p:txBody>
          <a:bodyPr wrap="none" lIns="0" tIns="0" rIns="0" bIns="0" rtlCol="0" anchor="t"/>
          <a:lstStyle/>
          <a:p>
            <a:pPr algn="l" indent="0" marL="0">
              <a:lnSpc>
                <a:spcPct val="140000"/>
              </a:lnSpc>
              <a:buNone/>
            </a:pPr>
            <a:r>
              <a:rPr lang="en-US" sz="1700" b="1" dirty="0">
                <a:solidFill>
                  <a:srgbClr val="B4481A"/>
                </a:solidFill>
                <a:latin typeface="Hiragino Sans" pitchFamily="34" charset="0"/>
                <a:ea typeface="Hiragino Sans" pitchFamily="34" charset="-122"/>
                <a:cs typeface="Hiragino Sans" pitchFamily="34" charset="-120"/>
              </a:rPr>
              <a:t>生産性の考え方</a:t>
            </a:r>
            <a:endParaRPr lang="en-US" sz="1700" dirty="0"/>
          </a:p>
        </p:txBody>
      </p:sp>
      <p:sp>
        <p:nvSpPr>
          <p:cNvPr id="6" name="Text 4"/>
          <p:cNvSpPr txBox="1"/>
          <p:nvPr/>
        </p:nvSpPr>
        <p:spPr>
          <a:xfrm>
            <a:off x="1073150" y="2737148"/>
            <a:ext cx="5981700" cy="551061"/>
          </a:xfrm>
          <a:prstGeom prst="rect">
            <a:avLst/>
          </a:prstGeom>
          <a:noFill/>
          <a:ln/>
        </p:spPr>
        <p:txBody>
          <a:bodyPr wrap="square" lIns="0" tIns="0" rIns="0" bIns="0" rtlCol="0" anchor="t"/>
          <a:lstStyle/>
          <a:p>
            <a:pPr algn="l" indent="0" marL="0">
              <a:lnSpc>
                <a:spcPct val="155000"/>
              </a:lnSpc>
              <a:buNone/>
            </a:pPr>
            <a:r>
              <a:rPr lang="en-US" sz="1400" dirty="0">
                <a:solidFill>
                  <a:srgbClr val="4A5568"/>
                </a:solidFill>
                <a:latin typeface="Hiragino Sans" pitchFamily="34" charset="0"/>
                <a:ea typeface="Hiragino Sans" pitchFamily="34" charset="-122"/>
                <a:cs typeface="Hiragino Sans" pitchFamily="34" charset="-120"/>
              </a:rPr>
              <a:t>成果だけで見られるから、無駄な時間を過ごしたくない。</a:t>
            </a:r>
            <a:pPr algn="l" indent="0" marL="0">
              <a:lnSpc>
                <a:spcPct val="155000"/>
              </a:lnSpc>
              <a:buNone/>
            </a:pPr>
            <a:r>
              <a:rPr lang="en-US" sz="1400" b="1" dirty="0">
                <a:solidFill>
                  <a:srgbClr val="14213D"/>
                </a:solidFill>
                <a:latin typeface="Hiragino Sans" pitchFamily="34" charset="0"/>
                <a:ea typeface="Hiragino Sans" pitchFamily="34" charset="-122"/>
                <a:cs typeface="Hiragino Sans" pitchFamily="34" charset="-120"/>
              </a:rPr>
              <a:t>できるだけ短い時間で成果を出す</a:t>
            </a:r>
            <a:pPr algn="l" indent="0" marL="0">
              <a:lnSpc>
                <a:spcPct val="155000"/>
              </a:lnSpc>
              <a:buNone/>
            </a:pPr>
            <a:r>
              <a:rPr lang="en-US" sz="1400" dirty="0">
                <a:solidFill>
                  <a:srgbClr val="4A5568"/>
                </a:solidFill>
                <a:latin typeface="Hiragino Sans" pitchFamily="34" charset="0"/>
                <a:ea typeface="Hiragino Sans" pitchFamily="34" charset="-122"/>
                <a:cs typeface="Hiragino Sans" pitchFamily="34" charset="-120"/>
              </a:rPr>
              <a:t>。時間あたりの生産性が高い。</a:t>
            </a:r>
            <a:endParaRPr lang="en-US" sz="1400" dirty="0"/>
          </a:p>
        </p:txBody>
      </p:sp>
      <p:sp>
        <p:nvSpPr>
          <p:cNvPr id="7" name="Shape 5"/>
          <p:cNvSpPr/>
          <p:nvPr/>
        </p:nvSpPr>
        <p:spPr>
          <a:xfrm>
            <a:off x="812800" y="3919835"/>
            <a:ext cx="6426200" cy="1922165"/>
          </a:xfrm>
          <a:prstGeom prst="roundRect">
            <a:avLst>
              <a:gd name="adj" fmla="val 2514"/>
            </a:avLst>
          </a:prstGeom>
          <a:solidFill>
            <a:srgbClr val="FDFCF9"/>
          </a:solidFill>
          <a:ln w="6350">
            <a:solidFill>
              <a:srgbClr val="E2DED5"/>
            </a:solidFill>
            <a:prstDash val="solid"/>
          </a:ln>
        </p:spPr>
      </p:sp>
      <p:sp>
        <p:nvSpPr>
          <p:cNvPr id="8" name="Text 6"/>
          <p:cNvSpPr txBox="1"/>
          <p:nvPr/>
        </p:nvSpPr>
        <p:spPr>
          <a:xfrm>
            <a:off x="1073150" y="4536777"/>
            <a:ext cx="5905500" cy="311150"/>
          </a:xfrm>
          <a:prstGeom prst="rect">
            <a:avLst/>
          </a:prstGeom>
          <a:noFill/>
          <a:ln/>
        </p:spPr>
        <p:txBody>
          <a:bodyPr wrap="none" lIns="0" tIns="0" rIns="0" bIns="0" rtlCol="0" anchor="t"/>
          <a:lstStyle/>
          <a:p>
            <a:pPr algn="l" indent="0" marL="0">
              <a:lnSpc>
                <a:spcPct val="140000"/>
              </a:lnSpc>
              <a:buNone/>
            </a:pPr>
            <a:r>
              <a:rPr lang="en-US" sz="1700" b="1" dirty="0">
                <a:solidFill>
                  <a:srgbClr val="B4481A"/>
                </a:solidFill>
                <a:latin typeface="Hiragino Sans" pitchFamily="34" charset="0"/>
                <a:ea typeface="Hiragino Sans" pitchFamily="34" charset="-122"/>
                <a:cs typeface="Hiragino Sans" pitchFamily="34" charset="-120"/>
              </a:rPr>
              <a:t>キャリア</a:t>
            </a:r>
            <a:endParaRPr lang="en-US" sz="1700" dirty="0"/>
          </a:p>
        </p:txBody>
      </p:sp>
      <p:sp>
        <p:nvSpPr>
          <p:cNvPr id="9" name="Text 7"/>
          <p:cNvSpPr txBox="1"/>
          <p:nvPr/>
        </p:nvSpPr>
        <p:spPr>
          <a:xfrm>
            <a:off x="1073150" y="4949527"/>
            <a:ext cx="5905500" cy="275530"/>
          </a:xfrm>
          <a:prstGeom prst="rect">
            <a:avLst/>
          </a:prstGeom>
          <a:noFill/>
          <a:ln/>
        </p:spPr>
        <p:txBody>
          <a:bodyPr wrap="none" lIns="0" tIns="0" rIns="0" bIns="0" rtlCol="0" anchor="t"/>
          <a:lstStyle/>
          <a:p>
            <a:pPr algn="l" indent="0" marL="0">
              <a:lnSpc>
                <a:spcPct val="155000"/>
              </a:lnSpc>
              <a:buNone/>
            </a:pPr>
            <a:r>
              <a:rPr lang="en-US" sz="1400" dirty="0">
                <a:solidFill>
                  <a:srgbClr val="4A5568"/>
                </a:solidFill>
                <a:latin typeface="Hiragino Sans" pitchFamily="34" charset="0"/>
                <a:ea typeface="Hiragino Sans" pitchFamily="34" charset="-122"/>
                <a:cs typeface="Hiragino Sans" pitchFamily="34" charset="-120"/>
              </a:rPr>
              <a:t>仕事は</a:t>
            </a:r>
            <a:pPr algn="l" indent="0" marL="0">
              <a:lnSpc>
                <a:spcPct val="155000"/>
              </a:lnSpc>
              <a:buNone/>
            </a:pPr>
            <a:r>
              <a:rPr lang="en-US" sz="1400" b="1" dirty="0">
                <a:solidFill>
                  <a:srgbClr val="14213D"/>
                </a:solidFill>
                <a:latin typeface="Hiragino Sans" pitchFamily="34" charset="0"/>
                <a:ea typeface="Hiragino Sans" pitchFamily="34" charset="-122"/>
                <a:cs typeface="Hiragino Sans" pitchFamily="34" charset="-120"/>
              </a:rPr>
              <a:t>自分で探す</a:t>
            </a:r>
            <a:pPr algn="l" indent="0" marL="0">
              <a:lnSpc>
                <a:spcPct val="155000"/>
              </a:lnSpc>
              <a:buNone/>
            </a:pPr>
            <a:r>
              <a:rPr lang="en-US" sz="1400" dirty="0">
                <a:solidFill>
                  <a:srgbClr val="4A5568"/>
                </a:solidFill>
                <a:latin typeface="Hiragino Sans" pitchFamily="34" charset="0"/>
                <a:ea typeface="Hiragino Sans" pitchFamily="34" charset="-122"/>
                <a:cs typeface="Hiragino Sans" pitchFamily="34" charset="-120"/>
              </a:rPr>
              <a:t>のが基本。会社が与えるものではない。</a:t>
            </a:r>
            <a:endParaRPr lang="en-US" sz="1400" dirty="0"/>
          </a:p>
        </p:txBody>
      </p:sp>
      <p:sp>
        <p:nvSpPr>
          <p:cNvPr id="10" name="Shape 8"/>
          <p:cNvSpPr/>
          <p:nvPr/>
        </p:nvSpPr>
        <p:spPr>
          <a:xfrm>
            <a:off x="7442200" y="1845270"/>
            <a:ext cx="3937000" cy="3996730"/>
          </a:xfrm>
          <a:prstGeom prst="roundRect">
            <a:avLst>
              <a:gd name="adj" fmla="val 599"/>
            </a:avLst>
          </a:prstGeom>
          <a:solidFill>
            <a:srgbClr val="14213D"/>
          </a:solidFill>
          <a:ln/>
        </p:spPr>
      </p:sp>
      <p:sp>
        <p:nvSpPr>
          <p:cNvPr id="11" name="Text 9"/>
          <p:cNvSpPr txBox="1"/>
          <p:nvPr/>
        </p:nvSpPr>
        <p:spPr>
          <a:xfrm>
            <a:off x="7696200" y="2621260"/>
            <a:ext cx="3429000" cy="292100"/>
          </a:xfrm>
          <a:prstGeom prst="rect">
            <a:avLst/>
          </a:prstGeom>
          <a:noFill/>
          <a:ln/>
        </p:spPr>
        <p:txBody>
          <a:bodyPr wrap="none" lIns="0" tIns="0" rIns="0" bIns="0" rtlCol="0" anchor="t"/>
          <a:lstStyle/>
          <a:p>
            <a:pPr algn="l" indent="0" marL="0">
              <a:lnSpc>
                <a:spcPct val="140000"/>
              </a:lnSpc>
              <a:buNone/>
            </a:pPr>
            <a:r>
              <a:rPr lang="en-US" sz="1600" b="1" dirty="0">
                <a:solidFill>
                  <a:srgbClr val="F6F4EF"/>
                </a:solidFill>
                <a:latin typeface="Hiragino Sans" pitchFamily="34" charset="0"/>
                <a:ea typeface="Hiragino Sans" pitchFamily="34" charset="-122"/>
                <a:cs typeface="Hiragino Sans" pitchFamily="34" charset="-120"/>
              </a:rPr>
              <a:t>シリコンバレー三大企業の違い</a:t>
            </a:r>
            <a:endParaRPr lang="en-US" sz="1600" dirty="0"/>
          </a:p>
        </p:txBody>
      </p:sp>
      <p:sp>
        <p:nvSpPr>
          <p:cNvPr id="12" name="Text 10"/>
          <p:cNvSpPr txBox="1"/>
          <p:nvPr/>
        </p:nvSpPr>
        <p:spPr>
          <a:xfrm>
            <a:off x="7696200" y="3091160"/>
            <a:ext cx="3429000" cy="279400"/>
          </a:xfrm>
          <a:prstGeom prst="rect">
            <a:avLst/>
          </a:prstGeom>
          <a:noFill/>
          <a:ln/>
        </p:spPr>
        <p:txBody>
          <a:bodyPr wrap="none" lIns="0" tIns="0" rIns="0" bIns="0" rtlCol="0" anchor="t"/>
          <a:lstStyle/>
          <a:p>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Amazon ＝ 古代ローマ</a:t>
            </a:r>
            <a:endParaRPr lang="en-US" sz="1500" dirty="0"/>
          </a:p>
        </p:txBody>
      </p:sp>
      <p:sp>
        <p:nvSpPr>
          <p:cNvPr id="13" name="Text 11"/>
          <p:cNvSpPr txBox="1"/>
          <p:nvPr/>
        </p:nvSpPr>
        <p:spPr>
          <a:xfrm>
            <a:off x="7696200" y="3408660"/>
            <a:ext cx="3429000" cy="222250"/>
          </a:xfrm>
          <a:prstGeom prst="rect">
            <a:avLst/>
          </a:prstGeom>
          <a:noFill/>
          <a:ln/>
        </p:spPr>
        <p:txBody>
          <a:bodyPr wrap="none" lIns="0" tIns="0" rIns="0" bIns="0" rtlCol="0" anchor="t"/>
          <a:lstStyle/>
          <a:p>
            <a:pPr algn="l" indent="0" marL="0">
              <a:lnSpc>
                <a:spcPct val="140000"/>
              </a:lnSpc>
              <a:buNone/>
            </a:pPr>
            <a:r>
              <a:rPr lang="en-US" sz="1200" dirty="0">
                <a:solidFill>
                  <a:srgbClr val="C9D3E6"/>
                </a:solidFill>
                <a:latin typeface="Hiragino Sans" pitchFamily="34" charset="0"/>
                <a:ea typeface="Hiragino Sans" pitchFamily="34" charset="-122"/>
                <a:cs typeface="Hiragino Sans" pitchFamily="34" charset="-120"/>
              </a:rPr>
              <a:t>組織が強い</a:t>
            </a:r>
            <a:endParaRPr lang="en-US" sz="1200" dirty="0"/>
          </a:p>
        </p:txBody>
      </p:sp>
      <p:sp>
        <p:nvSpPr>
          <p:cNvPr id="14" name="Text 12"/>
          <p:cNvSpPr txBox="1"/>
          <p:nvPr/>
        </p:nvSpPr>
        <p:spPr>
          <a:xfrm>
            <a:off x="7696200" y="3808710"/>
            <a:ext cx="3429000" cy="279400"/>
          </a:xfrm>
          <a:prstGeom prst="rect">
            <a:avLst/>
          </a:prstGeom>
          <a:noFill/>
          <a:ln/>
        </p:spPr>
        <p:txBody>
          <a:bodyPr wrap="none" lIns="0" tIns="0" rIns="0" bIns="0" rtlCol="0" anchor="t"/>
          <a:lstStyle/>
          <a:p>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Google ＝ 古代ギリシャ</a:t>
            </a:r>
            <a:endParaRPr lang="en-US" sz="1500" dirty="0"/>
          </a:p>
        </p:txBody>
      </p:sp>
      <p:sp>
        <p:nvSpPr>
          <p:cNvPr id="15" name="Text 13"/>
          <p:cNvSpPr txBox="1"/>
          <p:nvPr/>
        </p:nvSpPr>
        <p:spPr>
          <a:xfrm>
            <a:off x="7696200" y="4126210"/>
            <a:ext cx="3429000" cy="222250"/>
          </a:xfrm>
          <a:prstGeom prst="rect">
            <a:avLst/>
          </a:prstGeom>
          <a:noFill/>
          <a:ln/>
        </p:spPr>
        <p:txBody>
          <a:bodyPr wrap="none" lIns="0" tIns="0" rIns="0" bIns="0" rtlCol="0" anchor="t"/>
          <a:lstStyle/>
          <a:p>
            <a:pPr algn="l" indent="0" marL="0">
              <a:lnSpc>
                <a:spcPct val="140000"/>
              </a:lnSpc>
              <a:buNone/>
            </a:pPr>
            <a:r>
              <a:rPr lang="en-US" sz="1200" dirty="0">
                <a:solidFill>
                  <a:srgbClr val="C9D3E6"/>
                </a:solidFill>
                <a:latin typeface="Hiragino Sans" pitchFamily="34" charset="0"/>
                <a:ea typeface="Hiragino Sans" pitchFamily="34" charset="-122"/>
                <a:cs typeface="Hiragino Sans" pitchFamily="34" charset="-120"/>
              </a:rPr>
              <a:t>理想が強い・プロダクトマネージャーが強い</a:t>
            </a:r>
            <a:endParaRPr lang="en-US" sz="1200" dirty="0"/>
          </a:p>
        </p:txBody>
      </p:sp>
      <p:sp>
        <p:nvSpPr>
          <p:cNvPr id="16" name="Text 14"/>
          <p:cNvSpPr txBox="1"/>
          <p:nvPr/>
        </p:nvSpPr>
        <p:spPr>
          <a:xfrm>
            <a:off x="7696200" y="4526260"/>
            <a:ext cx="3429000" cy="279400"/>
          </a:xfrm>
          <a:prstGeom prst="rect">
            <a:avLst/>
          </a:prstGeom>
          <a:noFill/>
          <a:ln/>
        </p:spPr>
        <p:txBody>
          <a:bodyPr wrap="none" lIns="0" tIns="0" rIns="0" bIns="0" rtlCol="0" anchor="t"/>
          <a:lstStyle/>
          <a:p>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Apple ＝ 古代ペルシャ</a:t>
            </a:r>
            <a:endParaRPr lang="en-US" sz="1500" dirty="0"/>
          </a:p>
        </p:txBody>
      </p:sp>
      <p:sp>
        <p:nvSpPr>
          <p:cNvPr id="17" name="Text 15"/>
          <p:cNvSpPr txBox="1"/>
          <p:nvPr/>
        </p:nvSpPr>
        <p:spPr>
          <a:xfrm>
            <a:off x="7696200" y="4843760"/>
            <a:ext cx="3429000" cy="222250"/>
          </a:xfrm>
          <a:prstGeom prst="rect">
            <a:avLst/>
          </a:prstGeom>
          <a:noFill/>
          <a:ln/>
        </p:spPr>
        <p:txBody>
          <a:bodyPr wrap="none" lIns="0" tIns="0" rIns="0" bIns="0" rtlCol="0" anchor="t"/>
          <a:lstStyle/>
          <a:p>
            <a:pPr algn="l" indent="0" marL="0">
              <a:lnSpc>
                <a:spcPct val="140000"/>
              </a:lnSpc>
              <a:buNone/>
            </a:pPr>
            <a:r>
              <a:rPr lang="en-US" sz="1200" dirty="0">
                <a:solidFill>
                  <a:srgbClr val="C9D3E6"/>
                </a:solidFill>
                <a:latin typeface="Hiragino Sans" pitchFamily="34" charset="0"/>
                <a:ea typeface="Hiragino Sans" pitchFamily="34" charset="-122"/>
                <a:cs typeface="Hiragino Sans" pitchFamily="34" charset="-120"/>
              </a:rPr>
              <a:t>豪華絢爛・神がいる・デザインが強い</a:t>
            </a:r>
            <a:endParaRPr lang="en-US" sz="1200" dirty="0"/>
          </a:p>
        </p:txBody>
      </p:sp>
      <p:sp>
        <p:nvSpPr>
          <p:cNvPr id="18" name="Text 16"/>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9" name="Text 17"/>
          <p:cNvSpPr txBox="1"/>
          <p:nvPr/>
        </p:nvSpPr>
        <p:spPr>
          <a:xfrm>
            <a:off x="11263908" y="6223000"/>
            <a:ext cx="115292"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GOOGLE ／ YASUさん（3/3）— 人事システム</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Google：人事はチームに任せる</a:t>
            </a:r>
            <a:endParaRPr lang="en-US" sz="3200" dirty="0"/>
          </a:p>
        </p:txBody>
      </p:sp>
      <p:sp>
        <p:nvSpPr>
          <p:cNvPr id="4" name="Shape 2"/>
          <p:cNvSpPr/>
          <p:nvPr/>
        </p:nvSpPr>
        <p:spPr>
          <a:xfrm>
            <a:off x="812800" y="1794470"/>
            <a:ext cx="10566400" cy="3048000"/>
          </a:xfrm>
          <a:prstGeom prst="rect">
            <a:avLst/>
          </a:prstGeom>
          <a:solidFill>
            <a:srgbClr val="FDFCF9"/>
          </a:solidFill>
          <a:ln/>
        </p:spPr>
      </p:sp>
      <p:sp>
        <p:nvSpPr>
          <p:cNvPr id="5" name="Shape 3"/>
          <p:cNvSpPr/>
          <p:nvPr/>
        </p:nvSpPr>
        <p:spPr>
          <a:xfrm>
            <a:off x="812800" y="1794470"/>
            <a:ext cx="10566400" cy="377825"/>
          </a:xfrm>
          <a:prstGeom prst="rect">
            <a:avLst/>
          </a:prstGeom>
          <a:solidFill>
            <a:srgbClr val="14213D"/>
          </a:solidFill>
          <a:ln/>
        </p:spPr>
      </p:sp>
      <p:sp>
        <p:nvSpPr>
          <p:cNvPr id="6" name="Shape 4"/>
          <p:cNvSpPr/>
          <p:nvPr/>
        </p:nvSpPr>
        <p:spPr>
          <a:xfrm>
            <a:off x="812800" y="2165945"/>
            <a:ext cx="2113260" cy="6350"/>
          </a:xfrm>
          <a:prstGeom prst="rect">
            <a:avLst/>
          </a:prstGeom>
          <a:solidFill>
            <a:srgbClr val="E2DED5"/>
          </a:solidFill>
          <a:ln/>
        </p:spPr>
      </p:sp>
      <p:sp>
        <p:nvSpPr>
          <p:cNvPr id="7" name="Text 5"/>
          <p:cNvSpPr txBox="1"/>
          <p:nvPr/>
        </p:nvSpPr>
        <p:spPr>
          <a:xfrm>
            <a:off x="939800" y="1870670"/>
            <a:ext cx="1859260" cy="225425"/>
          </a:xfrm>
          <a:prstGeom prst="rect">
            <a:avLst/>
          </a:prstGeom>
          <a:noFill/>
          <a:ln/>
        </p:spPr>
        <p:txBody>
          <a:bodyPr wrap="none" lIns="0" tIns="0" rIns="0" bIns="0" rtlCol="0" anchor="ctr"/>
          <a:lstStyle/>
          <a:p>
            <a:pPr algn="l" indent="0" marL="0">
              <a:lnSpc>
                <a:spcPct val="140000"/>
              </a:lnSpc>
              <a:buNone/>
            </a:pPr>
            <a:r>
              <a:rPr lang="en-US" sz="1200" b="1" dirty="0">
                <a:solidFill>
                  <a:srgbClr val="F6F4EF"/>
                </a:solidFill>
                <a:latin typeface="Hiragino Sans" pitchFamily="34" charset="0"/>
                <a:ea typeface="Hiragino Sans" pitchFamily="34" charset="-122"/>
                <a:cs typeface="Hiragino Sans" pitchFamily="34" charset="-120"/>
              </a:rPr>
              <a:t>項目</a:t>
            </a:r>
            <a:endParaRPr lang="en-US" sz="1200" dirty="0"/>
          </a:p>
        </p:txBody>
      </p:sp>
      <p:sp>
        <p:nvSpPr>
          <p:cNvPr id="8" name="Shape 6"/>
          <p:cNvSpPr/>
          <p:nvPr/>
        </p:nvSpPr>
        <p:spPr>
          <a:xfrm>
            <a:off x="2926060" y="2165945"/>
            <a:ext cx="8453140" cy="6350"/>
          </a:xfrm>
          <a:prstGeom prst="rect">
            <a:avLst/>
          </a:prstGeom>
          <a:solidFill>
            <a:srgbClr val="E2DED5"/>
          </a:solidFill>
          <a:ln/>
        </p:spPr>
      </p:sp>
      <p:sp>
        <p:nvSpPr>
          <p:cNvPr id="9" name="Text 7"/>
          <p:cNvSpPr txBox="1"/>
          <p:nvPr/>
        </p:nvSpPr>
        <p:spPr>
          <a:xfrm>
            <a:off x="3053060" y="1870670"/>
            <a:ext cx="8199140" cy="225425"/>
          </a:xfrm>
          <a:prstGeom prst="rect">
            <a:avLst/>
          </a:prstGeom>
          <a:noFill/>
          <a:ln/>
        </p:spPr>
        <p:txBody>
          <a:bodyPr wrap="none" lIns="0" tIns="0" rIns="0" bIns="0" rtlCol="0" anchor="ctr"/>
          <a:lstStyle/>
          <a:p>
            <a:pPr algn="l" indent="0" marL="0">
              <a:lnSpc>
                <a:spcPct val="140000"/>
              </a:lnSpc>
              <a:buNone/>
            </a:pPr>
            <a:r>
              <a:rPr lang="en-US" sz="1200" b="1" dirty="0">
                <a:solidFill>
                  <a:srgbClr val="F6F4EF"/>
                </a:solidFill>
                <a:latin typeface="Hiragino Sans" pitchFamily="34" charset="0"/>
                <a:ea typeface="Hiragino Sans" pitchFamily="34" charset="-122"/>
                <a:cs typeface="Hiragino Sans" pitchFamily="34" charset="-120"/>
              </a:rPr>
              <a:t>仕組み</a:t>
            </a:r>
            <a:endParaRPr lang="en-US" sz="1200" dirty="0"/>
          </a:p>
        </p:txBody>
      </p:sp>
      <p:sp>
        <p:nvSpPr>
          <p:cNvPr id="10" name="Shape 8"/>
          <p:cNvSpPr/>
          <p:nvPr/>
        </p:nvSpPr>
        <p:spPr>
          <a:xfrm>
            <a:off x="812800" y="2546945"/>
            <a:ext cx="2113260" cy="6350"/>
          </a:xfrm>
          <a:prstGeom prst="rect">
            <a:avLst/>
          </a:prstGeom>
          <a:solidFill>
            <a:srgbClr val="E2DED5"/>
          </a:solidFill>
          <a:ln/>
        </p:spPr>
      </p:sp>
      <p:sp>
        <p:nvSpPr>
          <p:cNvPr id="11" name="Text 9"/>
          <p:cNvSpPr txBox="1"/>
          <p:nvPr/>
        </p:nvSpPr>
        <p:spPr>
          <a:xfrm>
            <a:off x="939800" y="2248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評価体制</a:t>
            </a:r>
            <a:endParaRPr lang="en-US" sz="1200" dirty="0"/>
          </a:p>
        </p:txBody>
      </p:sp>
      <p:sp>
        <p:nvSpPr>
          <p:cNvPr id="12" name="Shape 10"/>
          <p:cNvSpPr/>
          <p:nvPr/>
        </p:nvSpPr>
        <p:spPr>
          <a:xfrm>
            <a:off x="2926060" y="2546945"/>
            <a:ext cx="8453140" cy="6350"/>
          </a:xfrm>
          <a:prstGeom prst="rect">
            <a:avLst/>
          </a:prstGeom>
          <a:solidFill>
            <a:srgbClr val="E2DED5"/>
          </a:solidFill>
          <a:ln/>
        </p:spPr>
      </p:sp>
      <p:sp>
        <p:nvSpPr>
          <p:cNvPr id="13" name="Text 11"/>
          <p:cNvSpPr txBox="1"/>
          <p:nvPr/>
        </p:nvSpPr>
        <p:spPr>
          <a:xfrm>
            <a:off x="3053060" y="2248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教育・評価・給与はチームに任せ、チーム同士で公平性を調整。人事部は労務が基本</a:t>
            </a:r>
            <a:endParaRPr lang="en-US" sz="1200" dirty="0"/>
          </a:p>
        </p:txBody>
      </p:sp>
      <p:sp>
        <p:nvSpPr>
          <p:cNvPr id="14" name="Shape 12"/>
          <p:cNvSpPr/>
          <p:nvPr/>
        </p:nvSpPr>
        <p:spPr>
          <a:xfrm>
            <a:off x="812800" y="2553295"/>
            <a:ext cx="10566400" cy="381000"/>
          </a:xfrm>
          <a:prstGeom prst="rect">
            <a:avLst/>
          </a:prstGeom>
          <a:solidFill>
            <a:srgbClr val="F6F4EF"/>
          </a:solidFill>
          <a:ln/>
        </p:spPr>
      </p:sp>
      <p:sp>
        <p:nvSpPr>
          <p:cNvPr id="15" name="Shape 13"/>
          <p:cNvSpPr/>
          <p:nvPr/>
        </p:nvSpPr>
        <p:spPr>
          <a:xfrm>
            <a:off x="812800" y="2927945"/>
            <a:ext cx="2113260" cy="6350"/>
          </a:xfrm>
          <a:prstGeom prst="rect">
            <a:avLst/>
          </a:prstGeom>
          <a:solidFill>
            <a:srgbClr val="E2DED5"/>
          </a:solidFill>
          <a:ln/>
        </p:spPr>
      </p:sp>
      <p:sp>
        <p:nvSpPr>
          <p:cNvPr id="16" name="Text 14"/>
          <p:cNvSpPr txBox="1"/>
          <p:nvPr/>
        </p:nvSpPr>
        <p:spPr>
          <a:xfrm>
            <a:off x="939800" y="2629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OKR</a:t>
            </a:r>
            <a:endParaRPr lang="en-US" sz="1200" dirty="0"/>
          </a:p>
        </p:txBody>
      </p:sp>
      <p:sp>
        <p:nvSpPr>
          <p:cNvPr id="17" name="Shape 15"/>
          <p:cNvSpPr/>
          <p:nvPr/>
        </p:nvSpPr>
        <p:spPr>
          <a:xfrm>
            <a:off x="2926060" y="2927945"/>
            <a:ext cx="8453140" cy="6350"/>
          </a:xfrm>
          <a:prstGeom prst="rect">
            <a:avLst/>
          </a:prstGeom>
          <a:solidFill>
            <a:srgbClr val="E2DED5"/>
          </a:solidFill>
          <a:ln/>
        </p:spPr>
      </p:sp>
      <p:sp>
        <p:nvSpPr>
          <p:cNvPr id="18" name="Text 16"/>
          <p:cNvSpPr txBox="1"/>
          <p:nvPr/>
        </p:nvSpPr>
        <p:spPr>
          <a:xfrm>
            <a:off x="3053060" y="2629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人事評価はプロジェクトベース。「いかに良いプロジェクトをするか」で競う</a:t>
            </a:r>
            <a:endParaRPr lang="en-US" sz="1200" dirty="0"/>
          </a:p>
        </p:txBody>
      </p:sp>
      <p:sp>
        <p:nvSpPr>
          <p:cNvPr id="19" name="Shape 17"/>
          <p:cNvSpPr/>
          <p:nvPr/>
        </p:nvSpPr>
        <p:spPr>
          <a:xfrm>
            <a:off x="812800" y="3308945"/>
            <a:ext cx="2113260" cy="6350"/>
          </a:xfrm>
          <a:prstGeom prst="rect">
            <a:avLst/>
          </a:prstGeom>
          <a:solidFill>
            <a:srgbClr val="E2DED5"/>
          </a:solidFill>
          <a:ln/>
        </p:spPr>
      </p:sp>
      <p:sp>
        <p:nvSpPr>
          <p:cNvPr id="20" name="Text 18"/>
          <p:cNvSpPr txBox="1"/>
          <p:nvPr/>
        </p:nvSpPr>
        <p:spPr>
          <a:xfrm>
            <a:off x="939800" y="3010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給与制度</a:t>
            </a:r>
            <a:endParaRPr lang="en-US" sz="1200" dirty="0"/>
          </a:p>
        </p:txBody>
      </p:sp>
      <p:sp>
        <p:nvSpPr>
          <p:cNvPr id="21" name="Shape 19"/>
          <p:cNvSpPr/>
          <p:nvPr/>
        </p:nvSpPr>
        <p:spPr>
          <a:xfrm>
            <a:off x="2926060" y="3308945"/>
            <a:ext cx="8453140" cy="6350"/>
          </a:xfrm>
          <a:prstGeom prst="rect">
            <a:avLst/>
          </a:prstGeom>
          <a:solidFill>
            <a:srgbClr val="E2DED5"/>
          </a:solidFill>
          <a:ln/>
        </p:spPr>
      </p:sp>
      <p:sp>
        <p:nvSpPr>
          <p:cNvPr id="22" name="Text 20"/>
          <p:cNvSpPr txBox="1"/>
          <p:nvPr/>
        </p:nvSpPr>
        <p:spPr>
          <a:xfrm>
            <a:off x="3053060" y="3010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6ヶ月ごとの交渉。グレード・ジョブでレンジが決まり、その範囲で変動</a:t>
            </a:r>
            <a:endParaRPr lang="en-US" sz="1200" dirty="0"/>
          </a:p>
        </p:txBody>
      </p:sp>
      <p:sp>
        <p:nvSpPr>
          <p:cNvPr id="23" name="Shape 21"/>
          <p:cNvSpPr/>
          <p:nvPr/>
        </p:nvSpPr>
        <p:spPr>
          <a:xfrm>
            <a:off x="812800" y="3315295"/>
            <a:ext cx="10566400" cy="381000"/>
          </a:xfrm>
          <a:prstGeom prst="rect">
            <a:avLst/>
          </a:prstGeom>
          <a:solidFill>
            <a:srgbClr val="F6F4EF"/>
          </a:solidFill>
          <a:ln/>
        </p:spPr>
      </p:sp>
      <p:sp>
        <p:nvSpPr>
          <p:cNvPr id="24" name="Shape 22"/>
          <p:cNvSpPr/>
          <p:nvPr/>
        </p:nvSpPr>
        <p:spPr>
          <a:xfrm>
            <a:off x="812800" y="3689945"/>
            <a:ext cx="2113260" cy="6350"/>
          </a:xfrm>
          <a:prstGeom prst="rect">
            <a:avLst/>
          </a:prstGeom>
          <a:solidFill>
            <a:srgbClr val="E2DED5"/>
          </a:solidFill>
          <a:ln/>
        </p:spPr>
      </p:sp>
      <p:sp>
        <p:nvSpPr>
          <p:cNvPr id="25" name="Text 23"/>
          <p:cNvSpPr txBox="1"/>
          <p:nvPr/>
        </p:nvSpPr>
        <p:spPr>
          <a:xfrm>
            <a:off x="939800" y="3391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採用基準</a:t>
            </a:r>
            <a:endParaRPr lang="en-US" sz="1200" dirty="0"/>
          </a:p>
        </p:txBody>
      </p:sp>
      <p:sp>
        <p:nvSpPr>
          <p:cNvPr id="26" name="Shape 24"/>
          <p:cNvSpPr/>
          <p:nvPr/>
        </p:nvSpPr>
        <p:spPr>
          <a:xfrm>
            <a:off x="2926060" y="3689945"/>
            <a:ext cx="8453140" cy="6350"/>
          </a:xfrm>
          <a:prstGeom prst="rect">
            <a:avLst/>
          </a:prstGeom>
          <a:solidFill>
            <a:srgbClr val="E2DED5"/>
          </a:solidFill>
          <a:ln/>
        </p:spPr>
      </p:sp>
      <p:sp>
        <p:nvSpPr>
          <p:cNvPr id="27" name="Text 25"/>
          <p:cNvSpPr txBox="1"/>
          <p:nvPr/>
        </p:nvSpPr>
        <p:spPr>
          <a:xfrm>
            <a:off x="3053060" y="3391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過去の実績よりIQ・EQと情報処理能力。「最も複雑だった経験は？」「もしこうなら？」＋実務</a:t>
            </a:r>
            <a:endParaRPr lang="en-US" sz="1200" dirty="0"/>
          </a:p>
        </p:txBody>
      </p:sp>
      <p:sp>
        <p:nvSpPr>
          <p:cNvPr id="28" name="Shape 26"/>
          <p:cNvSpPr/>
          <p:nvPr/>
        </p:nvSpPr>
        <p:spPr>
          <a:xfrm>
            <a:off x="812800" y="4070945"/>
            <a:ext cx="2113260" cy="6350"/>
          </a:xfrm>
          <a:prstGeom prst="rect">
            <a:avLst/>
          </a:prstGeom>
          <a:solidFill>
            <a:srgbClr val="E2DED5"/>
          </a:solidFill>
          <a:ln/>
        </p:spPr>
      </p:sp>
      <p:sp>
        <p:nvSpPr>
          <p:cNvPr id="29" name="Text 27"/>
          <p:cNvSpPr txBox="1"/>
          <p:nvPr/>
        </p:nvSpPr>
        <p:spPr>
          <a:xfrm>
            <a:off x="939800" y="3772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上司の仕事</a:t>
            </a:r>
            <a:endParaRPr lang="en-US" sz="1200" dirty="0"/>
          </a:p>
        </p:txBody>
      </p:sp>
      <p:sp>
        <p:nvSpPr>
          <p:cNvPr id="30" name="Shape 28"/>
          <p:cNvSpPr/>
          <p:nvPr/>
        </p:nvSpPr>
        <p:spPr>
          <a:xfrm>
            <a:off x="2926060" y="4070945"/>
            <a:ext cx="8453140" cy="6350"/>
          </a:xfrm>
          <a:prstGeom prst="rect">
            <a:avLst/>
          </a:prstGeom>
          <a:solidFill>
            <a:srgbClr val="E2DED5"/>
          </a:solidFill>
          <a:ln/>
        </p:spPr>
      </p:sp>
      <p:sp>
        <p:nvSpPr>
          <p:cNvPr id="31" name="Text 29"/>
          <p:cNvSpPr txBox="1"/>
          <p:nvPr/>
        </p:nvSpPr>
        <p:spPr>
          <a:xfrm>
            <a:off x="3053060" y="3772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毎週30分の1on1で心理面までケア。部下が上司を評価。見るのは成果のみで時間は見ない</a:t>
            </a:r>
            <a:endParaRPr lang="en-US" sz="1200" dirty="0"/>
          </a:p>
        </p:txBody>
      </p:sp>
      <p:sp>
        <p:nvSpPr>
          <p:cNvPr id="32" name="Shape 30"/>
          <p:cNvSpPr/>
          <p:nvPr/>
        </p:nvSpPr>
        <p:spPr>
          <a:xfrm>
            <a:off x="812800" y="4077295"/>
            <a:ext cx="10566400" cy="381000"/>
          </a:xfrm>
          <a:prstGeom prst="rect">
            <a:avLst/>
          </a:prstGeom>
          <a:solidFill>
            <a:srgbClr val="F6F4EF"/>
          </a:solidFill>
          <a:ln/>
        </p:spPr>
      </p:sp>
      <p:sp>
        <p:nvSpPr>
          <p:cNvPr id="33" name="Shape 31"/>
          <p:cNvSpPr/>
          <p:nvPr/>
        </p:nvSpPr>
        <p:spPr>
          <a:xfrm>
            <a:off x="812800" y="4451945"/>
            <a:ext cx="2113260" cy="6350"/>
          </a:xfrm>
          <a:prstGeom prst="rect">
            <a:avLst/>
          </a:prstGeom>
          <a:solidFill>
            <a:srgbClr val="E2DED5"/>
          </a:solidFill>
          <a:ln/>
        </p:spPr>
      </p:sp>
      <p:sp>
        <p:nvSpPr>
          <p:cNvPr id="34" name="Text 32"/>
          <p:cNvSpPr txBox="1"/>
          <p:nvPr/>
        </p:nvSpPr>
        <p:spPr>
          <a:xfrm>
            <a:off x="939800" y="4153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社内教育</a:t>
            </a:r>
            <a:endParaRPr lang="en-US" sz="1200" dirty="0"/>
          </a:p>
        </p:txBody>
      </p:sp>
      <p:sp>
        <p:nvSpPr>
          <p:cNvPr id="35" name="Shape 33"/>
          <p:cNvSpPr/>
          <p:nvPr/>
        </p:nvSpPr>
        <p:spPr>
          <a:xfrm>
            <a:off x="2926060" y="4451945"/>
            <a:ext cx="8453140" cy="6350"/>
          </a:xfrm>
          <a:prstGeom prst="rect">
            <a:avLst/>
          </a:prstGeom>
          <a:solidFill>
            <a:srgbClr val="E2DED5"/>
          </a:solidFill>
          <a:ln/>
        </p:spPr>
      </p:sp>
      <p:sp>
        <p:nvSpPr>
          <p:cNvPr id="36" name="Text 34"/>
          <p:cNvSpPr txBox="1"/>
          <p:nvPr/>
        </p:nvSpPr>
        <p:spPr>
          <a:xfrm>
            <a:off x="3053060" y="4153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社内講師はボランティアで評価に加算。成果を出している人しか教えられない</a:t>
            </a:r>
            <a:endParaRPr lang="en-US" sz="1200" dirty="0"/>
          </a:p>
        </p:txBody>
      </p:sp>
      <p:sp>
        <p:nvSpPr>
          <p:cNvPr id="37" name="Shape 35"/>
          <p:cNvSpPr/>
          <p:nvPr/>
        </p:nvSpPr>
        <p:spPr>
          <a:xfrm>
            <a:off x="812800" y="4832945"/>
            <a:ext cx="2113260" cy="6350"/>
          </a:xfrm>
          <a:prstGeom prst="rect">
            <a:avLst/>
          </a:prstGeom>
          <a:solidFill>
            <a:srgbClr val="E2DED5"/>
          </a:solidFill>
          <a:ln/>
        </p:spPr>
      </p:sp>
      <p:sp>
        <p:nvSpPr>
          <p:cNvPr id="38" name="Text 36"/>
          <p:cNvSpPr txBox="1"/>
          <p:nvPr/>
        </p:nvSpPr>
        <p:spPr>
          <a:xfrm>
            <a:off x="939800" y="4534495"/>
            <a:ext cx="1859260"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職務記述書</a:t>
            </a:r>
            <a:endParaRPr lang="en-US" sz="1200" dirty="0"/>
          </a:p>
        </p:txBody>
      </p:sp>
      <p:sp>
        <p:nvSpPr>
          <p:cNvPr id="39" name="Shape 37"/>
          <p:cNvSpPr/>
          <p:nvPr/>
        </p:nvSpPr>
        <p:spPr>
          <a:xfrm>
            <a:off x="2926060" y="4832945"/>
            <a:ext cx="8453140" cy="6350"/>
          </a:xfrm>
          <a:prstGeom prst="rect">
            <a:avLst/>
          </a:prstGeom>
          <a:solidFill>
            <a:srgbClr val="E2DED5"/>
          </a:solidFill>
          <a:ln/>
        </p:spPr>
      </p:sp>
      <p:sp>
        <p:nvSpPr>
          <p:cNvPr id="40" name="Text 38"/>
          <p:cNvSpPr txBox="1"/>
          <p:nvPr/>
        </p:nvSpPr>
        <p:spPr>
          <a:xfrm>
            <a:off x="3053060" y="4534495"/>
            <a:ext cx="8199140"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やりたい仕事に自分で手を挙げる（人事部が募集 → 立候補 → 受ける）</a:t>
            </a:r>
            <a:endParaRPr lang="en-US" sz="1200" dirty="0"/>
          </a:p>
        </p:txBody>
      </p:sp>
      <p:sp>
        <p:nvSpPr>
          <p:cNvPr id="41" name="Shape 39"/>
          <p:cNvSpPr/>
          <p:nvPr/>
        </p:nvSpPr>
        <p:spPr>
          <a:xfrm>
            <a:off x="812800" y="5045670"/>
            <a:ext cx="6798766" cy="789781"/>
          </a:xfrm>
          <a:prstGeom prst="roundRect">
            <a:avLst>
              <a:gd name="adj" fmla="val 14894"/>
            </a:avLst>
          </a:prstGeom>
          <a:solidFill>
            <a:srgbClr val="14213D"/>
          </a:solidFill>
          <a:ln/>
        </p:spPr>
      </p:sp>
      <p:sp>
        <p:nvSpPr>
          <p:cNvPr id="42" name="Text 40"/>
          <p:cNvSpPr txBox="1"/>
          <p:nvPr/>
        </p:nvSpPr>
        <p:spPr>
          <a:xfrm>
            <a:off x="1016000" y="5198070"/>
            <a:ext cx="6468566" cy="472281"/>
          </a:xfrm>
          <a:prstGeom prst="rect">
            <a:avLst/>
          </a:prstGeom>
          <a:noFill/>
          <a:ln/>
        </p:spPr>
        <p:txBody>
          <a:bodyPr wrap="square" lIns="0" tIns="0" rIns="0" bIns="0" rtlCol="0" anchor="t"/>
          <a:lstStyle/>
          <a:p>
            <a:pPr algn="l" indent="0" marL="0">
              <a:lnSpc>
                <a:spcPct val="155000"/>
              </a:lnSpc>
              <a:buNone/>
            </a:pPr>
            <a:r>
              <a:rPr lang="en-US" sz="1200" b="1" dirty="0">
                <a:solidFill>
                  <a:srgbClr val="F08A4B"/>
                </a:solidFill>
                <a:latin typeface="Hiragino Sans" pitchFamily="34" charset="0"/>
                <a:ea typeface="Hiragino Sans" pitchFamily="34" charset="-122"/>
                <a:cs typeface="Hiragino Sans" pitchFamily="34" charset="-120"/>
              </a:rPr>
              <a:t>感想</a:t>
            </a:r>
            <a:pPr algn="l" indent="0" marL="0">
              <a:lnSpc>
                <a:spcPct val="155000"/>
              </a:lnSpc>
              <a:buNone/>
            </a:pPr>
            <a:r>
              <a:rPr lang="en-US" sz="1200" dirty="0">
                <a:solidFill>
                  <a:srgbClr val="F6F4EF"/>
                </a:solidFill>
                <a:latin typeface="Hiragino Sans" pitchFamily="34" charset="0"/>
                <a:ea typeface="Hiragino Sans" pitchFamily="34" charset="-122"/>
                <a:cs typeface="Hiragino Sans" pitchFamily="34" charset="-120"/>
              </a:rPr>
              <a:t> 採用で「情報処理能力」を見ているのは、まさに今自社で大事だと感じていたこと。</a:t>
            </a:r>
            <a:pPr algn="l" indent="0" marL="0">
              <a:lnSpc>
                <a:spcPct val="155000"/>
              </a:lnSpc>
              <a:buNone/>
            </a:pPr>
            <a:r>
              <a:rPr lang="en-US" sz="1200" b="1" dirty="0">
                <a:solidFill>
                  <a:srgbClr val="F6F4EF"/>
                </a:solidFill>
                <a:latin typeface="Hiragino Sans" pitchFamily="34" charset="0"/>
                <a:ea typeface="Hiragino Sans" pitchFamily="34" charset="-122"/>
                <a:cs typeface="Hiragino Sans" pitchFamily="34" charset="-120"/>
              </a:rPr>
              <a:t>やっぱりか</a:t>
            </a:r>
            <a:pPr algn="l" indent="0" marL="0">
              <a:lnSpc>
                <a:spcPct val="155000"/>
              </a:lnSpc>
              <a:buNone/>
            </a:pPr>
            <a:r>
              <a:rPr lang="en-US" sz="1200" dirty="0">
                <a:solidFill>
                  <a:srgbClr val="F6F4EF"/>
                </a:solidFill>
                <a:latin typeface="Hiragino Sans" pitchFamily="34" charset="0"/>
                <a:ea typeface="Hiragino Sans" pitchFamily="34" charset="-122"/>
                <a:cs typeface="Hiragino Sans" pitchFamily="34" charset="-120"/>
              </a:rPr>
              <a:t>と確信できた。</a:t>
            </a:r>
            <a:endParaRPr lang="en-US" sz="1200" dirty="0"/>
          </a:p>
        </p:txBody>
      </p:sp>
      <p:sp>
        <p:nvSpPr>
          <p:cNvPr id="43" name="Shape 41"/>
          <p:cNvSpPr/>
          <p:nvPr/>
        </p:nvSpPr>
        <p:spPr>
          <a:xfrm>
            <a:off x="7763966" y="5045670"/>
            <a:ext cx="3615234" cy="789781"/>
          </a:xfrm>
          <a:prstGeom prst="roundRect">
            <a:avLst>
              <a:gd name="adj" fmla="val 14894"/>
            </a:avLst>
          </a:prstGeom>
          <a:solidFill>
            <a:srgbClr val="FDFCF9"/>
          </a:solidFill>
          <a:ln w="6350">
            <a:solidFill>
              <a:srgbClr val="E2DED5"/>
            </a:solidFill>
            <a:prstDash val="solid"/>
          </a:ln>
        </p:spPr>
      </p:sp>
      <p:sp>
        <p:nvSpPr>
          <p:cNvPr id="44" name="Text 42"/>
          <p:cNvSpPr txBox="1"/>
          <p:nvPr/>
        </p:nvSpPr>
        <p:spPr>
          <a:xfrm>
            <a:off x="7973516" y="5204420"/>
            <a:ext cx="3272334" cy="472281"/>
          </a:xfrm>
          <a:prstGeom prst="rect">
            <a:avLst/>
          </a:prstGeom>
          <a:noFill/>
          <a:ln/>
        </p:spPr>
        <p:txBody>
          <a:bodyPr wrap="square" lIns="0" tIns="0" rIns="0" bIns="0" rtlCol="0" anchor="t"/>
          <a:lstStyle/>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懸念</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 中間層の既得権益化・リスク回避、ミッション意識の低下</a:t>
            </a:r>
            <a:endParaRPr lang="en-US" sz="1200" dirty="0"/>
          </a:p>
        </p:txBody>
      </p:sp>
      <p:sp>
        <p:nvSpPr>
          <p:cNvPr id="45" name="Text 43"/>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46" name="Text 44"/>
          <p:cNvSpPr txBox="1"/>
          <p:nvPr/>
        </p:nvSpPr>
        <p:spPr>
          <a:xfrm>
            <a:off x="11248727" y="6223000"/>
            <a:ext cx="13047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META ／ NAOKOさん</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Meta：キャリアは自分でつくるもの</a:t>
            </a:r>
            <a:endParaRPr lang="en-US" sz="3200" dirty="0"/>
          </a:p>
        </p:txBody>
      </p:sp>
      <p:sp>
        <p:nvSpPr>
          <p:cNvPr id="4" name="Text 2"/>
          <p:cNvSpPr txBox="1"/>
          <p:nvPr/>
        </p:nvSpPr>
        <p:spPr>
          <a:xfrm>
            <a:off x="812800" y="1845270"/>
            <a:ext cx="68834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やりたい仕事は自分で手を挙げる</a:t>
            </a:r>
            <a:endParaRPr lang="en-US" sz="1400" dirty="0"/>
          </a:p>
        </p:txBody>
      </p:sp>
      <p:sp>
        <p:nvSpPr>
          <p:cNvPr id="5" name="Text 3"/>
          <p:cNvSpPr txBox="1"/>
          <p:nvPr/>
        </p:nvSpPr>
        <p:spPr>
          <a:xfrm>
            <a:off x="812800" y="2124670"/>
            <a:ext cx="6883400" cy="228600"/>
          </a:xfrm>
          <a:prstGeom prst="rect">
            <a:avLst/>
          </a:prstGeom>
          <a:noFill/>
          <a:ln/>
        </p:spPr>
        <p:txBody>
          <a:bodyPr wrap="non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自社に限らず他社も含めて探す。一番大事なのは「経験」。必要な勉強は自分で（Udemy等）。</a:t>
            </a:r>
            <a:endParaRPr lang="en-US" sz="1200" dirty="0"/>
          </a:p>
        </p:txBody>
      </p:sp>
      <p:sp>
        <p:nvSpPr>
          <p:cNvPr id="6" name="Text 4"/>
          <p:cNvSpPr txBox="1"/>
          <p:nvPr/>
        </p:nvSpPr>
        <p:spPr>
          <a:xfrm>
            <a:off x="812800" y="2480270"/>
            <a:ext cx="68834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AI部門のトップは26歳</a:t>
            </a:r>
            <a:endParaRPr lang="en-US" sz="1400" dirty="0"/>
          </a:p>
        </p:txBody>
      </p:sp>
      <p:sp>
        <p:nvSpPr>
          <p:cNvPr id="7" name="Text 5"/>
          <p:cNvSpPr txBox="1"/>
          <p:nvPr/>
        </p:nvSpPr>
        <p:spPr>
          <a:xfrm>
            <a:off x="812800" y="2759670"/>
            <a:ext cx="6883400" cy="228600"/>
          </a:xfrm>
          <a:prstGeom prst="rect">
            <a:avLst/>
          </a:prstGeom>
          <a:noFill/>
          <a:ln/>
        </p:spPr>
        <p:txBody>
          <a:bodyPr wrap="non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年齢ではなく、純粋にスキルで評価される文化。</a:t>
            </a:r>
            <a:endParaRPr lang="en-US" sz="1200" dirty="0"/>
          </a:p>
        </p:txBody>
      </p:sp>
      <p:sp>
        <p:nvSpPr>
          <p:cNvPr id="8" name="Text 6"/>
          <p:cNvSpPr txBox="1"/>
          <p:nvPr/>
        </p:nvSpPr>
        <p:spPr>
          <a:xfrm>
            <a:off x="812800" y="3115270"/>
            <a:ext cx="68834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コピーライティングはAIより人が強い</a:t>
            </a:r>
            <a:endParaRPr lang="en-US" sz="1400" dirty="0"/>
          </a:p>
        </p:txBody>
      </p:sp>
      <p:sp>
        <p:nvSpPr>
          <p:cNvPr id="9" name="Text 7"/>
          <p:cNvSpPr txBox="1"/>
          <p:nvPr/>
        </p:nvSpPr>
        <p:spPr>
          <a:xfrm>
            <a:off x="812800" y="3394670"/>
            <a:ext cx="6883400" cy="228600"/>
          </a:xfrm>
          <a:prstGeom prst="rect">
            <a:avLst/>
          </a:prstGeom>
          <a:noFill/>
          <a:ln/>
        </p:spPr>
        <p:txBody>
          <a:bodyPr wrap="non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鍵は「パーソナライズ」。感覚値をデータで確認できた。</a:t>
            </a:r>
            <a:endParaRPr lang="en-US" sz="1200" dirty="0"/>
          </a:p>
        </p:txBody>
      </p:sp>
      <p:sp>
        <p:nvSpPr>
          <p:cNvPr id="10" name="Text 8"/>
          <p:cNvSpPr txBox="1"/>
          <p:nvPr/>
        </p:nvSpPr>
        <p:spPr>
          <a:xfrm>
            <a:off x="812800" y="3750270"/>
            <a:ext cx="68834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業務委託の活用が主流</a:t>
            </a:r>
            <a:endParaRPr lang="en-US" sz="1400" dirty="0"/>
          </a:p>
        </p:txBody>
      </p:sp>
      <p:sp>
        <p:nvSpPr>
          <p:cNvPr id="11" name="Text 9"/>
          <p:cNvSpPr txBox="1"/>
          <p:nvPr/>
        </p:nvSpPr>
        <p:spPr>
          <a:xfrm>
            <a:off x="812800" y="4029670"/>
            <a:ext cx="6883400" cy="228600"/>
          </a:xfrm>
          <a:prstGeom prst="rect">
            <a:avLst/>
          </a:prstGeom>
          <a:noFill/>
          <a:ln/>
        </p:spPr>
        <p:txBody>
          <a:bodyPr wrap="non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解雇は権利としてあっても費用面で難しい。約60%がコントラクター。</a:t>
            </a:r>
            <a:endParaRPr lang="en-US" sz="1200" dirty="0"/>
          </a:p>
        </p:txBody>
      </p:sp>
      <p:sp>
        <p:nvSpPr>
          <p:cNvPr id="12" name="Shape 10"/>
          <p:cNvSpPr/>
          <p:nvPr/>
        </p:nvSpPr>
        <p:spPr>
          <a:xfrm>
            <a:off x="812800" y="4385270"/>
            <a:ext cx="6883400" cy="777081"/>
          </a:xfrm>
          <a:prstGeom prst="roundRect">
            <a:avLst>
              <a:gd name="adj" fmla="val 15385"/>
            </a:avLst>
          </a:prstGeom>
          <a:solidFill>
            <a:srgbClr val="14213D"/>
          </a:solidFill>
          <a:ln/>
        </p:spPr>
      </p:sp>
      <p:sp>
        <p:nvSpPr>
          <p:cNvPr id="13" name="Text 11"/>
          <p:cNvSpPr txBox="1"/>
          <p:nvPr/>
        </p:nvSpPr>
        <p:spPr>
          <a:xfrm>
            <a:off x="1016000" y="4537670"/>
            <a:ext cx="6553200" cy="472281"/>
          </a:xfrm>
          <a:prstGeom prst="rect">
            <a:avLst/>
          </a:prstGeom>
          <a:noFill/>
          <a:ln/>
        </p:spPr>
        <p:txBody>
          <a:bodyPr wrap="square" lIns="0" tIns="0" rIns="0" bIns="0" rtlCol="0" anchor="t"/>
          <a:lstStyle/>
          <a:p>
            <a:pPr algn="l" indent="0" marL="0">
              <a:lnSpc>
                <a:spcPct val="155000"/>
              </a:lnSpc>
              <a:buNone/>
            </a:pPr>
            <a:r>
              <a:rPr lang="en-US" sz="1200" b="1" dirty="0">
                <a:solidFill>
                  <a:srgbClr val="F08A4B"/>
                </a:solidFill>
                <a:latin typeface="Hiragino Sans" pitchFamily="34" charset="0"/>
                <a:ea typeface="Hiragino Sans" pitchFamily="34" charset="-122"/>
                <a:cs typeface="Hiragino Sans" pitchFamily="34" charset="-120"/>
              </a:rPr>
              <a:t>感想</a:t>
            </a:r>
            <a:pPr algn="l" indent="0" marL="0">
              <a:lnSpc>
                <a:spcPct val="155000"/>
              </a:lnSpc>
              <a:buNone/>
            </a:pPr>
            <a:r>
              <a:rPr lang="en-US" sz="1200" dirty="0">
                <a:solidFill>
                  <a:srgbClr val="F6F4EF"/>
                </a:solidFill>
                <a:latin typeface="Hiragino Sans" pitchFamily="34" charset="0"/>
                <a:ea typeface="Hiragino Sans" pitchFamily="34" charset="-122"/>
                <a:cs typeface="Hiragino Sans" pitchFamily="34" charset="-120"/>
              </a:rPr>
              <a:t> 26年5月のレイオフ後もトップは「安心してほしい」と発信。単純な「成果が出なければクビ」ではない。生産性の秘訣は</a:t>
            </a:r>
            <a:pPr algn="l" indent="0" marL="0">
              <a:lnSpc>
                <a:spcPct val="155000"/>
              </a:lnSpc>
              <a:buNone/>
            </a:pPr>
            <a:r>
              <a:rPr lang="en-US" sz="1200" b="1" dirty="0">
                <a:solidFill>
                  <a:srgbClr val="F6F4EF"/>
                </a:solidFill>
                <a:latin typeface="Hiragino Sans" pitchFamily="34" charset="0"/>
                <a:ea typeface="Hiragino Sans" pitchFamily="34" charset="-122"/>
                <a:cs typeface="Hiragino Sans" pitchFamily="34" charset="-120"/>
              </a:rPr>
              <a:t>一人ひとりが自律して勉強もキャリアも考えていること</a:t>
            </a:r>
            <a:pPr algn="l" indent="0" marL="0">
              <a:lnSpc>
                <a:spcPct val="155000"/>
              </a:lnSpc>
              <a:buNone/>
            </a:pPr>
            <a:r>
              <a:rPr lang="en-US" sz="1200" dirty="0">
                <a:solidFill>
                  <a:srgbClr val="F6F4EF"/>
                </a:solidFill>
                <a:latin typeface="Hiragino Sans" pitchFamily="34" charset="0"/>
                <a:ea typeface="Hiragino Sans" pitchFamily="34" charset="-122"/>
                <a:cs typeface="Hiragino Sans" pitchFamily="34" charset="-120"/>
              </a:rPr>
              <a:t>。</a:t>
            </a:r>
            <a:endParaRPr lang="en-US" sz="1200" dirty="0"/>
          </a:p>
        </p:txBody>
      </p:sp>
      <p:pic>
        <p:nvPicPr>
          <p:cNvPr id="14" name="Image 0" descr="/tmp/claude-0/-home-user--/3ca9cfef-63b4-5a4c-8641-852bc146d002/images/8.jpg">    </p:cNvPr>
          <p:cNvPicPr>
            <a:picLocks noChangeAspect="1"/>
          </p:cNvPicPr>
          <p:nvPr/>
        </p:nvPicPr>
        <p:blipFill>
          <a:blip r:embed="rId1"/>
          <a:srcRect l="0" r="0" t="11975" b="11975"/>
          <a:stretch/>
        </p:blipFill>
        <p:spPr>
          <a:xfrm>
            <a:off x="7950200" y="1845270"/>
            <a:ext cx="3429000" cy="1955800"/>
          </a:xfrm>
          <a:prstGeom prst="rect">
            <a:avLst/>
          </a:prstGeom>
        </p:spPr>
      </p:pic>
      <p:pic>
        <p:nvPicPr>
          <p:cNvPr id="15" name="Image 1" descr="/tmp/claude-0/-home-user--/3ca9cfef-63b4-5a4c-8641-852bc146d002/images/7.jpg">    </p:cNvPr>
          <p:cNvPicPr>
            <a:picLocks noChangeAspect="1"/>
          </p:cNvPicPr>
          <p:nvPr/>
        </p:nvPicPr>
        <p:blipFill>
          <a:blip r:embed="rId2"/>
          <a:srcRect l="0" r="0" t="11975" b="11975"/>
          <a:stretch/>
        </p:blipFill>
        <p:spPr>
          <a:xfrm>
            <a:off x="7950200" y="3953470"/>
            <a:ext cx="3429000" cy="1955800"/>
          </a:xfrm>
          <a:prstGeom prst="rect">
            <a:avLst/>
          </a:prstGeom>
        </p:spPr>
      </p:pic>
      <p:sp>
        <p:nvSpPr>
          <p:cNvPr id="16" name="Text 12"/>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7" name="Text 13"/>
          <p:cNvSpPr txBox="1"/>
          <p:nvPr/>
        </p:nvSpPr>
        <p:spPr>
          <a:xfrm>
            <a:off x="11248827" y="6223000"/>
            <a:ext cx="13037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STANFORD UNIVERSITY ／ 長野先生</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Stanford：技術と倫理の壁</a:t>
            </a:r>
            <a:endParaRPr lang="en-US" sz="3200" dirty="0"/>
          </a:p>
        </p:txBody>
      </p:sp>
      <p:pic>
        <p:nvPicPr>
          <p:cNvPr id="4" name="Image 0" descr="/tmp/claude-0/-home-user--/3ca9cfef-63b4-5a4c-8641-852bc146d002/images/10.jpg">    </p:cNvPr>
          <p:cNvPicPr>
            <a:picLocks noChangeAspect="1"/>
          </p:cNvPicPr>
          <p:nvPr/>
        </p:nvPicPr>
        <p:blipFill>
          <a:blip r:embed="rId1"/>
          <a:srcRect l="0" r="0" t="0" b="0"/>
          <a:stretch/>
        </p:blipFill>
        <p:spPr>
          <a:xfrm>
            <a:off x="812800" y="1845270"/>
            <a:ext cx="3048000" cy="4064000"/>
          </a:xfrm>
          <a:prstGeom prst="rect">
            <a:avLst/>
          </a:prstGeom>
        </p:spPr>
      </p:pic>
      <p:sp>
        <p:nvSpPr>
          <p:cNvPr id="5" name="Text 2"/>
          <p:cNvSpPr txBox="1"/>
          <p:nvPr/>
        </p:nvSpPr>
        <p:spPr>
          <a:xfrm>
            <a:off x="4165600" y="1845270"/>
            <a:ext cx="72136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幹細胞の3つの種類</a:t>
            </a:r>
            <a:endParaRPr lang="en-US" sz="1500" dirty="0"/>
          </a:p>
        </p:txBody>
      </p:sp>
      <p:sp>
        <p:nvSpPr>
          <p:cNvPr id="6" name="Shape 3"/>
          <p:cNvSpPr/>
          <p:nvPr/>
        </p:nvSpPr>
        <p:spPr>
          <a:xfrm>
            <a:off x="4165600" y="2302470"/>
            <a:ext cx="7213600" cy="1524000"/>
          </a:xfrm>
          <a:prstGeom prst="rect">
            <a:avLst/>
          </a:prstGeom>
          <a:solidFill>
            <a:srgbClr val="FDFCF9"/>
          </a:solidFill>
          <a:ln/>
        </p:spPr>
      </p:sp>
      <p:sp>
        <p:nvSpPr>
          <p:cNvPr id="7" name="Shape 4"/>
          <p:cNvSpPr/>
          <p:nvPr/>
        </p:nvSpPr>
        <p:spPr>
          <a:xfrm>
            <a:off x="4165600" y="2302470"/>
            <a:ext cx="7213600" cy="377825"/>
          </a:xfrm>
          <a:prstGeom prst="rect">
            <a:avLst/>
          </a:prstGeom>
          <a:solidFill>
            <a:srgbClr val="14213D"/>
          </a:solidFill>
          <a:ln/>
        </p:spPr>
      </p:sp>
      <p:sp>
        <p:nvSpPr>
          <p:cNvPr id="8" name="Shape 5"/>
          <p:cNvSpPr/>
          <p:nvPr/>
        </p:nvSpPr>
        <p:spPr>
          <a:xfrm>
            <a:off x="4165600" y="2673945"/>
            <a:ext cx="2308324" cy="6350"/>
          </a:xfrm>
          <a:prstGeom prst="rect">
            <a:avLst/>
          </a:prstGeom>
          <a:solidFill>
            <a:srgbClr val="E2DED5"/>
          </a:solidFill>
          <a:ln/>
        </p:spPr>
      </p:sp>
      <p:sp>
        <p:nvSpPr>
          <p:cNvPr id="9" name="Text 6"/>
          <p:cNvSpPr txBox="1"/>
          <p:nvPr/>
        </p:nvSpPr>
        <p:spPr>
          <a:xfrm>
            <a:off x="4292600" y="2378670"/>
            <a:ext cx="2054324" cy="225425"/>
          </a:xfrm>
          <a:prstGeom prst="rect">
            <a:avLst/>
          </a:prstGeom>
          <a:noFill/>
          <a:ln/>
        </p:spPr>
        <p:txBody>
          <a:bodyPr wrap="none" lIns="0" tIns="0" rIns="0" bIns="0" rtlCol="0" anchor="ctr"/>
          <a:lstStyle/>
          <a:p>
            <a:pPr algn="l" indent="0" marL="0">
              <a:lnSpc>
                <a:spcPct val="140000"/>
              </a:lnSpc>
              <a:buNone/>
            </a:pPr>
            <a:r>
              <a:rPr lang="en-US" sz="1200" b="1" dirty="0">
                <a:solidFill>
                  <a:srgbClr val="F6F4EF"/>
                </a:solidFill>
                <a:latin typeface="Hiragino Sans" pitchFamily="34" charset="0"/>
                <a:ea typeface="Hiragino Sans" pitchFamily="34" charset="-122"/>
                <a:cs typeface="Hiragino Sans" pitchFamily="34" charset="-120"/>
              </a:rPr>
              <a:t>種類</a:t>
            </a:r>
            <a:endParaRPr lang="en-US" sz="1200" dirty="0"/>
          </a:p>
        </p:txBody>
      </p:sp>
      <p:sp>
        <p:nvSpPr>
          <p:cNvPr id="10" name="Shape 7"/>
          <p:cNvSpPr/>
          <p:nvPr/>
        </p:nvSpPr>
        <p:spPr>
          <a:xfrm>
            <a:off x="6473924" y="2673945"/>
            <a:ext cx="4905276" cy="6350"/>
          </a:xfrm>
          <a:prstGeom prst="rect">
            <a:avLst/>
          </a:prstGeom>
          <a:solidFill>
            <a:srgbClr val="E2DED5"/>
          </a:solidFill>
          <a:ln/>
        </p:spPr>
      </p:sp>
      <p:sp>
        <p:nvSpPr>
          <p:cNvPr id="11" name="Text 8"/>
          <p:cNvSpPr txBox="1"/>
          <p:nvPr/>
        </p:nvSpPr>
        <p:spPr>
          <a:xfrm>
            <a:off x="6600924" y="2378670"/>
            <a:ext cx="4651276" cy="225425"/>
          </a:xfrm>
          <a:prstGeom prst="rect">
            <a:avLst/>
          </a:prstGeom>
          <a:noFill/>
          <a:ln/>
        </p:spPr>
        <p:txBody>
          <a:bodyPr wrap="none" lIns="0" tIns="0" rIns="0" bIns="0" rtlCol="0" anchor="ctr"/>
          <a:lstStyle/>
          <a:p>
            <a:pPr algn="l" indent="0" marL="0">
              <a:lnSpc>
                <a:spcPct val="140000"/>
              </a:lnSpc>
              <a:buNone/>
            </a:pPr>
            <a:r>
              <a:rPr lang="en-US" sz="1200" b="1" dirty="0">
                <a:solidFill>
                  <a:srgbClr val="F6F4EF"/>
                </a:solidFill>
                <a:latin typeface="Hiragino Sans" pitchFamily="34" charset="0"/>
                <a:ea typeface="Hiragino Sans" pitchFamily="34" charset="-122"/>
                <a:cs typeface="Hiragino Sans" pitchFamily="34" charset="-120"/>
              </a:rPr>
              <a:t>なれるもの</a:t>
            </a:r>
            <a:endParaRPr lang="en-US" sz="1200" dirty="0"/>
          </a:p>
        </p:txBody>
      </p:sp>
      <p:sp>
        <p:nvSpPr>
          <p:cNvPr id="12" name="Shape 9"/>
          <p:cNvSpPr/>
          <p:nvPr/>
        </p:nvSpPr>
        <p:spPr>
          <a:xfrm>
            <a:off x="4165600" y="3054945"/>
            <a:ext cx="2308324" cy="6350"/>
          </a:xfrm>
          <a:prstGeom prst="rect">
            <a:avLst/>
          </a:prstGeom>
          <a:solidFill>
            <a:srgbClr val="E2DED5"/>
          </a:solidFill>
          <a:ln/>
        </p:spPr>
      </p:sp>
      <p:sp>
        <p:nvSpPr>
          <p:cNvPr id="13" name="Text 10"/>
          <p:cNvSpPr txBox="1"/>
          <p:nvPr/>
        </p:nvSpPr>
        <p:spPr>
          <a:xfrm>
            <a:off x="4292600" y="2756495"/>
            <a:ext cx="2054324"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全能性幹細胞</a:t>
            </a:r>
            <a:endParaRPr lang="en-US" sz="1200" dirty="0"/>
          </a:p>
        </p:txBody>
      </p:sp>
      <p:sp>
        <p:nvSpPr>
          <p:cNvPr id="14" name="Shape 11"/>
          <p:cNvSpPr/>
          <p:nvPr/>
        </p:nvSpPr>
        <p:spPr>
          <a:xfrm>
            <a:off x="6473924" y="3054945"/>
            <a:ext cx="4905276" cy="6350"/>
          </a:xfrm>
          <a:prstGeom prst="rect">
            <a:avLst/>
          </a:prstGeom>
          <a:solidFill>
            <a:srgbClr val="E2DED5"/>
          </a:solidFill>
          <a:ln/>
        </p:spPr>
      </p:sp>
      <p:sp>
        <p:nvSpPr>
          <p:cNvPr id="15" name="Text 12"/>
          <p:cNvSpPr txBox="1"/>
          <p:nvPr/>
        </p:nvSpPr>
        <p:spPr>
          <a:xfrm>
            <a:off x="6600924" y="2756495"/>
            <a:ext cx="4651276"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何にでもなれる</a:t>
            </a:r>
            <a:endParaRPr lang="en-US" sz="1200" dirty="0"/>
          </a:p>
        </p:txBody>
      </p:sp>
      <p:sp>
        <p:nvSpPr>
          <p:cNvPr id="16" name="Shape 13"/>
          <p:cNvSpPr/>
          <p:nvPr/>
        </p:nvSpPr>
        <p:spPr>
          <a:xfrm>
            <a:off x="4165600" y="3061295"/>
            <a:ext cx="7213600" cy="381000"/>
          </a:xfrm>
          <a:prstGeom prst="rect">
            <a:avLst/>
          </a:prstGeom>
          <a:solidFill>
            <a:srgbClr val="F6F4EF"/>
          </a:solidFill>
          <a:ln/>
        </p:spPr>
      </p:sp>
      <p:sp>
        <p:nvSpPr>
          <p:cNvPr id="17" name="Shape 14"/>
          <p:cNvSpPr/>
          <p:nvPr/>
        </p:nvSpPr>
        <p:spPr>
          <a:xfrm>
            <a:off x="4165600" y="3435945"/>
            <a:ext cx="2308324" cy="6350"/>
          </a:xfrm>
          <a:prstGeom prst="rect">
            <a:avLst/>
          </a:prstGeom>
          <a:solidFill>
            <a:srgbClr val="E2DED5"/>
          </a:solidFill>
          <a:ln/>
        </p:spPr>
      </p:sp>
      <p:sp>
        <p:nvSpPr>
          <p:cNvPr id="18" name="Text 15"/>
          <p:cNvSpPr txBox="1"/>
          <p:nvPr/>
        </p:nvSpPr>
        <p:spPr>
          <a:xfrm>
            <a:off x="4292600" y="3137495"/>
            <a:ext cx="2054324"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多能性幹細胞</a:t>
            </a:r>
            <a:endParaRPr lang="en-US" sz="1200" dirty="0"/>
          </a:p>
        </p:txBody>
      </p:sp>
      <p:sp>
        <p:nvSpPr>
          <p:cNvPr id="19" name="Shape 16"/>
          <p:cNvSpPr/>
          <p:nvPr/>
        </p:nvSpPr>
        <p:spPr>
          <a:xfrm>
            <a:off x="6473924" y="3435945"/>
            <a:ext cx="4905276" cy="6350"/>
          </a:xfrm>
          <a:prstGeom prst="rect">
            <a:avLst/>
          </a:prstGeom>
          <a:solidFill>
            <a:srgbClr val="E2DED5"/>
          </a:solidFill>
          <a:ln/>
        </p:spPr>
      </p:sp>
      <p:sp>
        <p:nvSpPr>
          <p:cNvPr id="20" name="Text 17"/>
          <p:cNvSpPr txBox="1"/>
          <p:nvPr/>
        </p:nvSpPr>
        <p:spPr>
          <a:xfrm>
            <a:off x="6600924" y="3137495"/>
            <a:ext cx="4651276"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胎児（体の組織）になれる</a:t>
            </a:r>
            <a:endParaRPr lang="en-US" sz="1200" dirty="0"/>
          </a:p>
        </p:txBody>
      </p:sp>
      <p:sp>
        <p:nvSpPr>
          <p:cNvPr id="21" name="Shape 18"/>
          <p:cNvSpPr/>
          <p:nvPr/>
        </p:nvSpPr>
        <p:spPr>
          <a:xfrm>
            <a:off x="4165600" y="3816945"/>
            <a:ext cx="2308324" cy="6350"/>
          </a:xfrm>
          <a:prstGeom prst="rect">
            <a:avLst/>
          </a:prstGeom>
          <a:solidFill>
            <a:srgbClr val="E2DED5"/>
          </a:solidFill>
          <a:ln/>
        </p:spPr>
      </p:sp>
      <p:sp>
        <p:nvSpPr>
          <p:cNvPr id="22" name="Text 19"/>
          <p:cNvSpPr txBox="1"/>
          <p:nvPr/>
        </p:nvSpPr>
        <p:spPr>
          <a:xfrm>
            <a:off x="4292600" y="3518495"/>
            <a:ext cx="2054324" cy="228600"/>
          </a:xfrm>
          <a:prstGeom prst="rect">
            <a:avLst/>
          </a:prstGeom>
          <a:noFill/>
          <a:ln/>
        </p:spPr>
        <p:txBody>
          <a:bodyPr wrap="non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組織幹細胞</a:t>
            </a:r>
            <a:endParaRPr lang="en-US" sz="1200" dirty="0"/>
          </a:p>
        </p:txBody>
      </p:sp>
      <p:sp>
        <p:nvSpPr>
          <p:cNvPr id="23" name="Shape 20"/>
          <p:cNvSpPr/>
          <p:nvPr/>
        </p:nvSpPr>
        <p:spPr>
          <a:xfrm>
            <a:off x="6473924" y="3816945"/>
            <a:ext cx="4905276" cy="6350"/>
          </a:xfrm>
          <a:prstGeom prst="rect">
            <a:avLst/>
          </a:prstGeom>
          <a:solidFill>
            <a:srgbClr val="E2DED5"/>
          </a:solidFill>
          <a:ln/>
        </p:spPr>
      </p:sp>
      <p:sp>
        <p:nvSpPr>
          <p:cNvPr id="24" name="Text 21"/>
          <p:cNvSpPr txBox="1"/>
          <p:nvPr/>
        </p:nvSpPr>
        <p:spPr>
          <a:xfrm>
            <a:off x="6600924" y="3518495"/>
            <a:ext cx="4651276" cy="228600"/>
          </a:xfrm>
          <a:prstGeom prst="rect">
            <a:avLst/>
          </a:prstGeom>
          <a:noFill/>
          <a:ln/>
        </p:spPr>
        <p:txBody>
          <a:bodyPr wrap="non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その組織の細胞になれる</a:t>
            </a:r>
            <a:endParaRPr lang="en-US" sz="1200" dirty="0"/>
          </a:p>
        </p:txBody>
      </p:sp>
      <p:sp>
        <p:nvSpPr>
          <p:cNvPr id="25" name="Text 22"/>
          <p:cNvSpPr txBox="1"/>
          <p:nvPr/>
        </p:nvSpPr>
        <p:spPr>
          <a:xfrm>
            <a:off x="4165600" y="4004270"/>
            <a:ext cx="7289800" cy="472281"/>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受精卵を犠牲にするため倫理的に難しく、研究が進みにくい。一方で</a:t>
            </a:r>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人工胚</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は、培養と着床ができれば妊娠まで現実的に可能な未知の領域。</a:t>
            </a:r>
            <a:endParaRPr lang="en-US" sz="1200" dirty="0"/>
          </a:p>
        </p:txBody>
      </p:sp>
      <p:sp>
        <p:nvSpPr>
          <p:cNvPr id="26" name="Shape 23"/>
          <p:cNvSpPr/>
          <p:nvPr/>
        </p:nvSpPr>
        <p:spPr>
          <a:xfrm>
            <a:off x="4165600" y="4654352"/>
            <a:ext cx="7213600" cy="827881"/>
          </a:xfrm>
          <a:prstGeom prst="roundRect">
            <a:avLst>
              <a:gd name="adj" fmla="val 13555"/>
            </a:avLst>
          </a:prstGeom>
          <a:solidFill>
            <a:srgbClr val="14213D"/>
          </a:solidFill>
          <a:ln/>
        </p:spPr>
      </p:sp>
      <p:sp>
        <p:nvSpPr>
          <p:cNvPr id="27" name="Text 24"/>
          <p:cNvSpPr txBox="1"/>
          <p:nvPr/>
        </p:nvSpPr>
        <p:spPr>
          <a:xfrm>
            <a:off x="4368800" y="4832152"/>
            <a:ext cx="6883400" cy="472281"/>
          </a:xfrm>
          <a:prstGeom prst="rect">
            <a:avLst/>
          </a:prstGeom>
          <a:noFill/>
          <a:ln/>
        </p:spPr>
        <p:txBody>
          <a:bodyPr wrap="square" lIns="0" tIns="0" rIns="0" bIns="0" rtlCol="0" anchor="t"/>
          <a:lstStyle/>
          <a:p>
            <a:pPr algn="l" indent="0" marL="0">
              <a:lnSpc>
                <a:spcPct val="155000"/>
              </a:lnSpc>
              <a:buNone/>
            </a:pPr>
            <a:r>
              <a:rPr lang="en-US" sz="1200" b="1" dirty="0">
                <a:solidFill>
                  <a:srgbClr val="F08A4B"/>
                </a:solidFill>
                <a:latin typeface="Hiragino Sans" pitchFamily="34" charset="0"/>
                <a:ea typeface="Hiragino Sans" pitchFamily="34" charset="-122"/>
                <a:cs typeface="Hiragino Sans" pitchFamily="34" charset="-120"/>
              </a:rPr>
              <a:t>感想</a:t>
            </a:r>
            <a:pPr algn="l" indent="0" marL="0">
              <a:lnSpc>
                <a:spcPct val="155000"/>
              </a:lnSpc>
              <a:buNone/>
            </a:pPr>
            <a:r>
              <a:rPr lang="en-US" sz="1200" dirty="0">
                <a:solidFill>
                  <a:srgbClr val="F6F4EF"/>
                </a:solidFill>
                <a:latin typeface="Hiragino Sans" pitchFamily="34" charset="0"/>
                <a:ea typeface="Hiragino Sans" pitchFamily="34" charset="-122"/>
                <a:cs typeface="Hiragino Sans" pitchFamily="34" charset="-120"/>
              </a:rPr>
              <a:t> 2回目で理解が深まった。技術はクローンに近づいているが、倫理の壁は大きい。技術で救われる人が増えることとの</a:t>
            </a:r>
            <a:pPr algn="l" indent="0" marL="0">
              <a:lnSpc>
                <a:spcPct val="155000"/>
              </a:lnSpc>
              <a:buNone/>
            </a:pPr>
            <a:r>
              <a:rPr lang="en-US" sz="1200" b="1" dirty="0">
                <a:solidFill>
                  <a:srgbClr val="F6F4EF"/>
                </a:solidFill>
                <a:latin typeface="Hiragino Sans" pitchFamily="34" charset="0"/>
                <a:ea typeface="Hiragino Sans" pitchFamily="34" charset="-122"/>
                <a:cs typeface="Hiragino Sans" pitchFamily="34" charset="-120"/>
              </a:rPr>
              <a:t>葛藤</a:t>
            </a:r>
            <a:pPr algn="l" indent="0" marL="0">
              <a:lnSpc>
                <a:spcPct val="155000"/>
              </a:lnSpc>
              <a:buNone/>
            </a:pPr>
            <a:r>
              <a:rPr lang="en-US" sz="1200" dirty="0">
                <a:solidFill>
                  <a:srgbClr val="F6F4EF"/>
                </a:solidFill>
                <a:latin typeface="Hiragino Sans" pitchFamily="34" charset="0"/>
                <a:ea typeface="Hiragino Sans" pitchFamily="34" charset="-122"/>
                <a:cs typeface="Hiragino Sans" pitchFamily="34" charset="-120"/>
              </a:rPr>
              <a:t>を感じ、自分にできることを考えたい。</a:t>
            </a:r>
            <a:endParaRPr lang="en-US" sz="1200" dirty="0"/>
          </a:p>
        </p:txBody>
      </p:sp>
      <p:sp>
        <p:nvSpPr>
          <p:cNvPr id="28" name="Text 25"/>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29" name="Text 26"/>
          <p:cNvSpPr txBox="1"/>
          <p:nvPr/>
        </p:nvSpPr>
        <p:spPr>
          <a:xfrm>
            <a:off x="11247934" y="6223000"/>
            <a:ext cx="131266"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PASONA ／ けんじさん</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Pasona：人の「スイッチ」を見つける</a:t>
            </a:r>
            <a:endParaRPr lang="en-US" sz="3200" dirty="0"/>
          </a:p>
        </p:txBody>
      </p:sp>
      <p:sp>
        <p:nvSpPr>
          <p:cNvPr id="4" name="Shape 2"/>
          <p:cNvSpPr/>
          <p:nvPr/>
        </p:nvSpPr>
        <p:spPr>
          <a:xfrm>
            <a:off x="812800" y="1845270"/>
            <a:ext cx="3420467" cy="1980803"/>
          </a:xfrm>
          <a:prstGeom prst="roundRect">
            <a:avLst>
              <a:gd name="adj" fmla="val 2368"/>
            </a:avLst>
          </a:prstGeom>
          <a:solidFill>
            <a:srgbClr val="FDFCF9"/>
          </a:solidFill>
          <a:ln w="6350">
            <a:solidFill>
              <a:srgbClr val="E2DED5"/>
            </a:solidFill>
            <a:prstDash val="solid"/>
          </a:ln>
        </p:spPr>
      </p:sp>
      <p:sp>
        <p:nvSpPr>
          <p:cNvPr id="5" name="Text 3"/>
          <p:cNvSpPr txBox="1"/>
          <p:nvPr/>
        </p:nvSpPr>
        <p:spPr>
          <a:xfrm>
            <a:off x="1022350" y="2054820"/>
            <a:ext cx="3001367"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日米で生産性が違う理由</a:t>
            </a:r>
            <a:endParaRPr lang="en-US" sz="1500" dirty="0"/>
          </a:p>
        </p:txBody>
      </p:sp>
      <p:sp>
        <p:nvSpPr>
          <p:cNvPr id="6" name="Text 4"/>
          <p:cNvSpPr txBox="1"/>
          <p:nvPr/>
        </p:nvSpPr>
        <p:spPr>
          <a:xfrm>
            <a:off x="1022350" y="2435820"/>
            <a:ext cx="3077567" cy="708422"/>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教育基準の違い。</a:t>
            </a:r>
            <a:endParaRPr lang="en-US" sz="1200" dirty="0"/>
          </a:p>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アメリカ</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：他とどう違うかが評価される</a:t>
            </a:r>
            <a:endParaRPr lang="en-US" sz="1200" dirty="0"/>
          </a:p>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日本</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：同調圧力で同じことをする</a:t>
            </a:r>
            <a:endParaRPr lang="en-US" sz="1200" dirty="0"/>
          </a:p>
        </p:txBody>
      </p:sp>
      <p:sp>
        <p:nvSpPr>
          <p:cNvPr id="7" name="Shape 5"/>
          <p:cNvSpPr/>
          <p:nvPr/>
        </p:nvSpPr>
        <p:spPr>
          <a:xfrm>
            <a:off x="4385667" y="1845270"/>
            <a:ext cx="3420566" cy="1980803"/>
          </a:xfrm>
          <a:prstGeom prst="roundRect">
            <a:avLst>
              <a:gd name="adj" fmla="val 2368"/>
            </a:avLst>
          </a:prstGeom>
          <a:solidFill>
            <a:srgbClr val="FDFCF9"/>
          </a:solidFill>
          <a:ln w="6350">
            <a:solidFill>
              <a:srgbClr val="E2DED5"/>
            </a:solidFill>
            <a:prstDash val="solid"/>
          </a:ln>
        </p:spPr>
      </p:sp>
      <p:sp>
        <p:nvSpPr>
          <p:cNvPr id="8" name="Text 6"/>
          <p:cNvSpPr txBox="1"/>
          <p:nvPr/>
        </p:nvSpPr>
        <p:spPr>
          <a:xfrm>
            <a:off x="4595217" y="2054820"/>
            <a:ext cx="3001466"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採用・教育で一番大事なこと</a:t>
            </a:r>
            <a:endParaRPr lang="en-US" sz="1500" dirty="0"/>
          </a:p>
        </p:txBody>
      </p:sp>
      <p:sp>
        <p:nvSpPr>
          <p:cNvPr id="9" name="Text 7"/>
          <p:cNvSpPr txBox="1"/>
          <p:nvPr/>
        </p:nvSpPr>
        <p:spPr>
          <a:xfrm>
            <a:off x="4595217" y="2435820"/>
            <a:ext cx="3077666" cy="1180703"/>
          </a:xfrm>
          <a:prstGeom prst="rect">
            <a:avLst/>
          </a:prstGeom>
          <a:noFill/>
          <a:ln/>
        </p:spPr>
        <p:txBody>
          <a:bodyPr wrap="square" lIns="0" tIns="0" rIns="0" bIns="0" rtlCol="0" anchor="t"/>
          <a:lstStyle/>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アクノレッジ</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：相手の小さな変化に気づき、感謝する。指摘はそこからアドバイスとして。</a:t>
            </a:r>
            <a:endParaRPr lang="en-US" sz="1200" dirty="0"/>
          </a:p>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スイッチを探す</a:t>
            </a:r>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：本気になるスイッチは人それぞれ。</a:t>
            </a:r>
            <a:endParaRPr lang="en-US" sz="1200" dirty="0"/>
          </a:p>
        </p:txBody>
      </p:sp>
      <p:sp>
        <p:nvSpPr>
          <p:cNvPr id="10" name="Shape 8"/>
          <p:cNvSpPr/>
          <p:nvPr/>
        </p:nvSpPr>
        <p:spPr>
          <a:xfrm>
            <a:off x="7958634" y="1845270"/>
            <a:ext cx="3420566" cy="1980803"/>
          </a:xfrm>
          <a:prstGeom prst="roundRect">
            <a:avLst>
              <a:gd name="adj" fmla="val 2368"/>
            </a:avLst>
          </a:prstGeom>
          <a:solidFill>
            <a:srgbClr val="FDFCF9"/>
          </a:solidFill>
          <a:ln w="6350">
            <a:solidFill>
              <a:srgbClr val="E2DED5"/>
            </a:solidFill>
            <a:prstDash val="solid"/>
          </a:ln>
        </p:spPr>
      </p:sp>
      <p:sp>
        <p:nvSpPr>
          <p:cNvPr id="11" name="Text 9"/>
          <p:cNvSpPr txBox="1"/>
          <p:nvPr/>
        </p:nvSpPr>
        <p:spPr>
          <a:xfrm>
            <a:off x="8168184" y="2054820"/>
            <a:ext cx="3001466"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計画的偶発性理論</a:t>
            </a:r>
            <a:endParaRPr lang="en-US" sz="1500" dirty="0"/>
          </a:p>
        </p:txBody>
      </p:sp>
      <p:sp>
        <p:nvSpPr>
          <p:cNvPr id="12" name="Text 10"/>
          <p:cNvSpPr txBox="1"/>
          <p:nvPr/>
        </p:nvSpPr>
        <p:spPr>
          <a:xfrm>
            <a:off x="8168184" y="2435820"/>
            <a:ext cx="3077666" cy="944563"/>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クランボルツ教授。キャリアの成功は偶然の出来事から生まれ、それを掴む人には5つの特徴がある。</a:t>
            </a:r>
            <a:endParaRPr lang="en-US" sz="1200" dirty="0"/>
          </a:p>
          <a:p>
            <a:pPr algn="l" indent="0" marL="0">
              <a:lnSpc>
                <a:spcPct val="155000"/>
              </a:lnSpc>
              <a:buNone/>
            </a:pPr>
            <a:r>
              <a:rPr lang="en-US" sz="1200" b="1" dirty="0">
                <a:solidFill>
                  <a:srgbClr val="14213D"/>
                </a:solidFill>
                <a:latin typeface="Hiragino Sans" pitchFamily="34" charset="0"/>
                <a:ea typeface="Hiragino Sans" pitchFamily="34" charset="-122"/>
                <a:cs typeface="Hiragino Sans" pitchFamily="34" charset="-120"/>
              </a:rPr>
              <a:t>好奇心・持続性・楽観性・柔軟性・冒険心</a:t>
            </a:r>
            <a:endParaRPr lang="en-US" sz="1200" dirty="0"/>
          </a:p>
        </p:txBody>
      </p:sp>
      <p:sp>
        <p:nvSpPr>
          <p:cNvPr id="13" name="Shape 11"/>
          <p:cNvSpPr/>
          <p:nvPr/>
        </p:nvSpPr>
        <p:spPr>
          <a:xfrm>
            <a:off x="812800" y="4080073"/>
            <a:ext cx="10566400" cy="934641"/>
          </a:xfrm>
          <a:prstGeom prst="roundRect">
            <a:avLst>
              <a:gd name="adj" fmla="val 10635"/>
            </a:avLst>
          </a:prstGeom>
          <a:solidFill>
            <a:srgbClr val="14213D"/>
          </a:solidFill>
          <a:ln/>
        </p:spPr>
      </p:sp>
      <p:sp>
        <p:nvSpPr>
          <p:cNvPr id="14" name="Text 12"/>
          <p:cNvSpPr txBox="1"/>
          <p:nvPr/>
        </p:nvSpPr>
        <p:spPr>
          <a:xfrm>
            <a:off x="1066800" y="4283273"/>
            <a:ext cx="10134600" cy="528241"/>
          </a:xfrm>
          <a:prstGeom prst="rect">
            <a:avLst/>
          </a:prstGeom>
          <a:noFill/>
          <a:ln/>
        </p:spPr>
        <p:txBody>
          <a:bodyPr wrap="square" lIns="0" tIns="0" rIns="0" bIns="0" rtlCol="0" anchor="t"/>
          <a:lstStyle/>
          <a:p>
            <a:pPr algn="l" indent="0" marL="0">
              <a:lnSpc>
                <a:spcPct val="160000"/>
              </a:lnSpc>
              <a:buNone/>
            </a:pPr>
            <a:r>
              <a:rPr lang="en-US" sz="1300" b="1" dirty="0">
                <a:solidFill>
                  <a:srgbClr val="F08A4B"/>
                </a:solidFill>
                <a:latin typeface="Hiragino Sans" pitchFamily="34" charset="0"/>
                <a:ea typeface="Hiragino Sans" pitchFamily="34" charset="-122"/>
                <a:cs typeface="Hiragino Sans" pitchFamily="34" charset="-120"/>
              </a:rPr>
              <a:t>感想</a:t>
            </a:r>
            <a:pPr algn="l" indent="0" marL="0">
              <a:lnSpc>
                <a:spcPct val="160000"/>
              </a:lnSpc>
              <a:buNone/>
            </a:pPr>
            <a:r>
              <a:rPr lang="en-US" sz="1300" dirty="0">
                <a:solidFill>
                  <a:srgbClr val="F6F4EF"/>
                </a:solidFill>
                <a:latin typeface="Hiragino Sans" pitchFamily="34" charset="0"/>
                <a:ea typeface="Hiragino Sans" pitchFamily="34" charset="-122"/>
                <a:cs typeface="Hiragino Sans" pitchFamily="34" charset="-120"/>
              </a:rPr>
              <a:t> 前回のツアーでのお話がきっかけで、会社の方向性を</a:t>
            </a:r>
            <a:pPr algn="l" indent="0" marL="0">
              <a:lnSpc>
                <a:spcPct val="160000"/>
              </a:lnSpc>
              <a:buNone/>
            </a:pPr>
            <a:r>
              <a:rPr lang="en-US" sz="1300" b="1" dirty="0">
                <a:solidFill>
                  <a:srgbClr val="F6F4EF"/>
                </a:solidFill>
                <a:latin typeface="Hiragino Sans" pitchFamily="34" charset="0"/>
                <a:ea typeface="Hiragino Sans" pitchFamily="34" charset="-122"/>
                <a:cs typeface="Hiragino Sans" pitchFamily="34" charset="-120"/>
              </a:rPr>
              <a:t>「採用・教育」</a:t>
            </a:r>
            <a:pPr algn="l" indent="0" marL="0">
              <a:lnSpc>
                <a:spcPct val="160000"/>
              </a:lnSpc>
              <a:buNone/>
            </a:pPr>
            <a:r>
              <a:rPr lang="en-US" sz="1300" dirty="0">
                <a:solidFill>
                  <a:srgbClr val="F6F4EF"/>
                </a:solidFill>
                <a:latin typeface="Hiragino Sans" pitchFamily="34" charset="0"/>
                <a:ea typeface="Hiragino Sans" pitchFamily="34" charset="-122"/>
                <a:cs typeface="Hiragino Sans" pitchFamily="34" charset="-120"/>
              </a:rPr>
              <a:t>に変更した。今回の計画的偶発性理論で、自分にできる目の前のことを精一杯やることの大切さを再認識できた。</a:t>
            </a:r>
            <a:endParaRPr lang="en-US" sz="1300" dirty="0"/>
          </a:p>
        </p:txBody>
      </p:sp>
      <p:sp>
        <p:nvSpPr>
          <p:cNvPr id="15" name="Text 13"/>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6" name="Text 14"/>
          <p:cNvSpPr txBox="1"/>
          <p:nvPr/>
        </p:nvSpPr>
        <p:spPr>
          <a:xfrm>
            <a:off x="11249025" y="6223000"/>
            <a:ext cx="13017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SORA PRESCHOOL</a:t>
            </a:r>
            <a:endParaRPr lang="en-US" sz="1200" dirty="0"/>
          </a:p>
        </p:txBody>
      </p:sp>
      <p:sp>
        <p:nvSpPr>
          <p:cNvPr id="3" name="Text 1"/>
          <p:cNvSpPr txBox="1"/>
          <p:nvPr/>
        </p:nvSpPr>
        <p:spPr>
          <a:xfrm>
            <a:off x="812800" y="111760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Sora Preschool：環境が人を動かす</a:t>
            </a:r>
            <a:endParaRPr lang="en-US" sz="3200" dirty="0"/>
          </a:p>
        </p:txBody>
      </p:sp>
      <p:sp>
        <p:nvSpPr>
          <p:cNvPr id="4" name="Shape 2"/>
          <p:cNvSpPr/>
          <p:nvPr/>
        </p:nvSpPr>
        <p:spPr>
          <a:xfrm>
            <a:off x="812800" y="1838920"/>
            <a:ext cx="6807200" cy="1183481"/>
          </a:xfrm>
          <a:prstGeom prst="roundRect">
            <a:avLst>
              <a:gd name="adj" fmla="val 6633"/>
            </a:avLst>
          </a:prstGeom>
          <a:solidFill>
            <a:srgbClr val="FDFCF9"/>
          </a:solidFill>
          <a:ln w="6350">
            <a:solidFill>
              <a:srgbClr val="E2DED5"/>
            </a:solidFill>
            <a:prstDash val="solid"/>
          </a:ln>
        </p:spPr>
      </p:sp>
      <p:sp>
        <p:nvSpPr>
          <p:cNvPr id="5" name="Text 3"/>
          <p:cNvSpPr txBox="1"/>
          <p:nvPr/>
        </p:nvSpPr>
        <p:spPr>
          <a:xfrm>
            <a:off x="1022350" y="2023070"/>
            <a:ext cx="63881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環境設定</a:t>
            </a:r>
            <a:endParaRPr lang="en-US" sz="1500" dirty="0"/>
          </a:p>
        </p:txBody>
      </p:sp>
      <p:sp>
        <p:nvSpPr>
          <p:cNvPr id="6" name="Text 4"/>
          <p:cNvSpPr txBox="1"/>
          <p:nvPr/>
        </p:nvSpPr>
        <p:spPr>
          <a:xfrm>
            <a:off x="1022350" y="2365970"/>
            <a:ext cx="6464300" cy="472281"/>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「この人はこの言語で話す」と決めることで、母国語の理解とネイティブの習得を両立。室内は自分を見つめる、外は発散する ── 場所でパワーの使い方と言葉がけを分けている。</a:t>
            </a:r>
            <a:endParaRPr lang="en-US" sz="1200" dirty="0"/>
          </a:p>
        </p:txBody>
      </p:sp>
      <p:sp>
        <p:nvSpPr>
          <p:cNvPr id="7" name="Shape 5"/>
          <p:cNvSpPr/>
          <p:nvPr/>
        </p:nvSpPr>
        <p:spPr>
          <a:xfrm>
            <a:off x="812800" y="3149402"/>
            <a:ext cx="6807200" cy="947341"/>
          </a:xfrm>
          <a:prstGeom prst="roundRect">
            <a:avLst>
              <a:gd name="adj" fmla="val 10352"/>
            </a:avLst>
          </a:prstGeom>
          <a:solidFill>
            <a:srgbClr val="FDFCF9"/>
          </a:solidFill>
          <a:ln w="6350">
            <a:solidFill>
              <a:srgbClr val="E2DED5"/>
            </a:solidFill>
            <a:prstDash val="solid"/>
          </a:ln>
        </p:spPr>
      </p:sp>
      <p:sp>
        <p:nvSpPr>
          <p:cNvPr id="8" name="Text 6"/>
          <p:cNvSpPr txBox="1"/>
          <p:nvPr/>
        </p:nvSpPr>
        <p:spPr>
          <a:xfrm>
            <a:off x="1022350" y="3333552"/>
            <a:ext cx="63881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子育ての費用</a:t>
            </a:r>
            <a:endParaRPr lang="en-US" sz="1500" dirty="0"/>
          </a:p>
        </p:txBody>
      </p:sp>
      <p:sp>
        <p:nvSpPr>
          <p:cNvPr id="9" name="Text 7"/>
          <p:cNvSpPr txBox="1"/>
          <p:nvPr/>
        </p:nvSpPr>
        <p:spPr>
          <a:xfrm>
            <a:off x="1022350" y="3676452"/>
            <a:ext cx="6388100" cy="236141"/>
          </a:xfrm>
          <a:prstGeom prst="rect">
            <a:avLst/>
          </a:prstGeom>
          <a:noFill/>
          <a:ln/>
        </p:spPr>
        <p:txBody>
          <a:bodyPr wrap="non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月2,500ドルでも平均より安い。子育ての難しさは日米共通。</a:t>
            </a:r>
            <a:endParaRPr lang="en-US" sz="1200" dirty="0"/>
          </a:p>
        </p:txBody>
      </p:sp>
      <p:sp>
        <p:nvSpPr>
          <p:cNvPr id="10" name="Shape 8"/>
          <p:cNvSpPr/>
          <p:nvPr/>
        </p:nvSpPr>
        <p:spPr>
          <a:xfrm>
            <a:off x="812800" y="4223742"/>
            <a:ext cx="6807200" cy="1419622"/>
          </a:xfrm>
          <a:prstGeom prst="roundRect">
            <a:avLst>
              <a:gd name="adj" fmla="val 4610"/>
            </a:avLst>
          </a:prstGeom>
          <a:solidFill>
            <a:srgbClr val="FDFCF9"/>
          </a:solidFill>
          <a:ln w="6350">
            <a:solidFill>
              <a:srgbClr val="E2DED5"/>
            </a:solidFill>
            <a:prstDash val="solid"/>
          </a:ln>
        </p:spPr>
      </p:sp>
      <p:sp>
        <p:nvSpPr>
          <p:cNvPr id="11" name="Text 9"/>
          <p:cNvSpPr txBox="1"/>
          <p:nvPr/>
        </p:nvSpPr>
        <p:spPr>
          <a:xfrm>
            <a:off x="1022350" y="4407892"/>
            <a:ext cx="6388100" cy="279400"/>
          </a:xfrm>
          <a:prstGeom prst="rect">
            <a:avLst/>
          </a:prstGeom>
          <a:noFill/>
          <a:ln/>
        </p:spPr>
        <p:txBody>
          <a:bodyPr wrap="none" lIns="0" tIns="0" rIns="0" bIns="0" rtlCol="0" anchor="t"/>
          <a:lstStyle/>
          <a:p>
            <a:pPr algn="l" indent="0" marL="0">
              <a:lnSpc>
                <a:spcPct val="140000"/>
              </a:lnSpc>
              <a:buNone/>
            </a:pPr>
            <a:r>
              <a:rPr lang="en-US" sz="1500" b="1" dirty="0">
                <a:solidFill>
                  <a:srgbClr val="B4481A"/>
                </a:solidFill>
                <a:latin typeface="Hiragino Sans" pitchFamily="34" charset="0"/>
                <a:ea typeface="Hiragino Sans" pitchFamily="34" charset="-122"/>
                <a:cs typeface="Hiragino Sans" pitchFamily="34" charset="-120"/>
              </a:rPr>
              <a:t>感想（3回目）</a:t>
            </a:r>
            <a:endParaRPr lang="en-US" sz="1500" dirty="0"/>
          </a:p>
        </p:txBody>
      </p:sp>
      <p:sp>
        <p:nvSpPr>
          <p:cNvPr id="12" name="Text 10"/>
          <p:cNvSpPr txBox="1"/>
          <p:nvPr/>
        </p:nvSpPr>
        <p:spPr>
          <a:xfrm>
            <a:off x="1022350" y="4750792"/>
            <a:ext cx="6464300" cy="708422"/>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朝の動き方、課題の決め方（今回は絵画）、子どもへの気づかせ方が学び。自分でも室内と外で関わり方を変えたが、切り替えは難しかった。それをコントロールする先生方と、仕組みを作ったれいこ先生・まこ先生はすごい。</a:t>
            </a:r>
            <a:endParaRPr lang="en-US" sz="1200" dirty="0"/>
          </a:p>
        </p:txBody>
      </p:sp>
      <p:sp>
        <p:nvSpPr>
          <p:cNvPr id="13" name="Shape 11"/>
          <p:cNvSpPr/>
          <p:nvPr/>
        </p:nvSpPr>
        <p:spPr>
          <a:xfrm>
            <a:off x="7823200" y="1838920"/>
            <a:ext cx="3556000" cy="4003080"/>
          </a:xfrm>
          <a:prstGeom prst="roundRect">
            <a:avLst>
              <a:gd name="adj" fmla="val 735"/>
            </a:avLst>
          </a:prstGeom>
          <a:solidFill>
            <a:srgbClr val="14213D"/>
          </a:solidFill>
          <a:ln/>
        </p:spPr>
      </p:sp>
      <p:sp>
        <p:nvSpPr>
          <p:cNvPr id="14" name="Text 12"/>
          <p:cNvSpPr txBox="1"/>
          <p:nvPr/>
        </p:nvSpPr>
        <p:spPr>
          <a:xfrm>
            <a:off x="8178800" y="2903339"/>
            <a:ext cx="2844800" cy="228600"/>
          </a:xfrm>
          <a:prstGeom prst="rect">
            <a:avLst/>
          </a:prstGeom>
          <a:noFill/>
          <a:ln/>
        </p:spPr>
        <p:txBody>
          <a:bodyPr wrap="none" lIns="0" tIns="0" rIns="0" bIns="0" rtlCol="0" anchor="t"/>
          <a:lstStyle/>
          <a:p>
            <a:pPr algn="l" indent="0" marL="0">
              <a:lnSpc>
                <a:spcPct val="140000"/>
              </a:lnSpc>
              <a:buNone/>
            </a:pPr>
            <a:r>
              <a:rPr lang="en-US" sz="1200" spc="200" kern="0" dirty="0">
                <a:solidFill>
                  <a:srgbClr val="F08A4B"/>
                </a:solidFill>
                <a:latin typeface="Avenir Next Condensed" pitchFamily="34" charset="0"/>
                <a:ea typeface="Avenir Next Condensed" pitchFamily="34" charset="-122"/>
                <a:cs typeface="Avenir Next Condensed" pitchFamily="34" charset="-120"/>
              </a:rPr>
              <a:t>KEY MESSAGE</a:t>
            </a:r>
            <a:endParaRPr lang="en-US" sz="1200" dirty="0"/>
          </a:p>
        </p:txBody>
      </p:sp>
      <p:sp>
        <p:nvSpPr>
          <p:cNvPr id="15" name="Text 13"/>
          <p:cNvSpPr txBox="1"/>
          <p:nvPr/>
        </p:nvSpPr>
        <p:spPr>
          <a:xfrm>
            <a:off x="8178800" y="3284339"/>
            <a:ext cx="2921000" cy="853281"/>
          </a:xfrm>
          <a:prstGeom prst="rect">
            <a:avLst/>
          </a:prstGeom>
          <a:noFill/>
          <a:ln/>
        </p:spPr>
        <p:txBody>
          <a:bodyPr wrap="square" lIns="0" tIns="0" rIns="0" bIns="0" rtlCol="0" anchor="t"/>
          <a:lstStyle/>
          <a:p>
            <a:pPr algn="l" indent="0" marL="0">
              <a:lnSpc>
                <a:spcPct val="140000"/>
              </a:lnSpc>
              <a:buNone/>
            </a:pPr>
            <a:r>
              <a:rPr lang="en-US" sz="2400" b="1" dirty="0">
                <a:solidFill>
                  <a:srgbClr val="F6F4EF"/>
                </a:solidFill>
                <a:latin typeface="Hiragino Sans" pitchFamily="34" charset="0"/>
                <a:ea typeface="Hiragino Sans" pitchFamily="34" charset="-122"/>
                <a:cs typeface="Hiragino Sans" pitchFamily="34" charset="-120"/>
              </a:rPr>
              <a:t>仕組みで人が動く。</a:t>
            </a:r>
            <a:endParaRPr lang="en-US" sz="2400" dirty="0"/>
          </a:p>
          <a:p>
            <a:pPr algn="l" indent="0" marL="0">
              <a:lnSpc>
                <a:spcPct val="140000"/>
              </a:lnSpc>
              <a:buNone/>
            </a:pPr>
            <a:r>
              <a:rPr lang="en-US" sz="2400" b="1" dirty="0">
                <a:solidFill>
                  <a:srgbClr val="F6F4EF"/>
                </a:solidFill>
                <a:latin typeface="Hiragino Sans" pitchFamily="34" charset="0"/>
                <a:ea typeface="Hiragino Sans" pitchFamily="34" charset="-122"/>
                <a:cs typeface="Hiragino Sans" pitchFamily="34" charset="-120"/>
              </a:rPr>
              <a:t>最大の結果を出す。</a:t>
            </a:r>
            <a:endParaRPr lang="en-US" sz="2400" dirty="0"/>
          </a:p>
        </p:txBody>
      </p:sp>
      <p:sp>
        <p:nvSpPr>
          <p:cNvPr id="16" name="Text 14"/>
          <p:cNvSpPr txBox="1"/>
          <p:nvPr/>
        </p:nvSpPr>
        <p:spPr>
          <a:xfrm>
            <a:off x="8178800" y="4290020"/>
            <a:ext cx="2921000" cy="487561"/>
          </a:xfrm>
          <a:prstGeom prst="rect">
            <a:avLst/>
          </a:prstGeom>
          <a:noFill/>
          <a:ln/>
        </p:spPr>
        <p:txBody>
          <a:bodyPr wrap="square" lIns="0" tIns="0" rIns="0" bIns="0" rtlCol="0" anchor="t"/>
          <a:lstStyle/>
          <a:p>
            <a:pPr algn="l" indent="0" marL="0">
              <a:lnSpc>
                <a:spcPct val="160000"/>
              </a:lnSpc>
              <a:buNone/>
            </a:pPr>
            <a:r>
              <a:rPr lang="en-US" sz="1200" dirty="0">
                <a:solidFill>
                  <a:srgbClr val="C9D3E6"/>
                </a:solidFill>
                <a:latin typeface="Hiragino Sans" pitchFamily="34" charset="0"/>
                <a:ea typeface="Hiragino Sans" pitchFamily="34" charset="-122"/>
                <a:cs typeface="Hiragino Sans" pitchFamily="34" charset="-120"/>
              </a:rPr>
              <a:t>どの訪問先にも共通していたのは、人の頑張りに頼らない「仕組み化」だった。</a:t>
            </a:r>
            <a:endParaRPr lang="en-US" sz="1200" dirty="0"/>
          </a:p>
        </p:txBody>
      </p:sp>
      <p:sp>
        <p:nvSpPr>
          <p:cNvPr id="17" name="Text 15"/>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8" name="Text 16"/>
          <p:cNvSpPr txBox="1"/>
          <p:nvPr/>
        </p:nvSpPr>
        <p:spPr>
          <a:xfrm>
            <a:off x="11244858" y="6223000"/>
            <a:ext cx="134342"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9E0"/>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05 ／ INSIGHTS — 全体の気づき</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研修全体を通じた3つの気づき</a:t>
            </a:r>
            <a:endParaRPr lang="en-US" sz="3200" dirty="0"/>
          </a:p>
        </p:txBody>
      </p:sp>
      <p:sp>
        <p:nvSpPr>
          <p:cNvPr id="4" name="Shape 2"/>
          <p:cNvSpPr/>
          <p:nvPr/>
        </p:nvSpPr>
        <p:spPr>
          <a:xfrm>
            <a:off x="812800" y="1896070"/>
            <a:ext cx="3403600" cy="3141464"/>
          </a:xfrm>
          <a:prstGeom prst="roundRect">
            <a:avLst>
              <a:gd name="adj" fmla="val 941"/>
            </a:avLst>
          </a:prstGeom>
          <a:solidFill>
            <a:srgbClr val="FDFCF9"/>
          </a:solidFill>
          <a:ln/>
        </p:spPr>
      </p:sp>
      <p:sp>
        <p:nvSpPr>
          <p:cNvPr id="5" name="Text 3"/>
          <p:cNvSpPr txBox="1"/>
          <p:nvPr/>
        </p:nvSpPr>
        <p:spPr>
          <a:xfrm>
            <a:off x="1066800" y="2150070"/>
            <a:ext cx="2895600" cy="355600"/>
          </a:xfrm>
          <a:prstGeom prst="rect">
            <a:avLst/>
          </a:prstGeom>
          <a:noFill/>
          <a:ln/>
        </p:spPr>
        <p:txBody>
          <a:bodyPr wrap="none" lIns="0" tIns="0" rIns="0" bIns="0" rtlCol="0" anchor="t"/>
          <a:lstStyle/>
          <a:p>
            <a:pPr algn="l" indent="0" marL="0">
              <a:lnSpc>
                <a:spcPct val="100000"/>
              </a:lnSpc>
              <a:buNone/>
            </a:pPr>
            <a:r>
              <a:rPr lang="en-US" sz="2800" dirty="0">
                <a:solidFill>
                  <a:srgbClr val="B4481A"/>
                </a:solidFill>
                <a:latin typeface="Avenir Next Condensed" pitchFamily="34" charset="0"/>
                <a:ea typeface="Avenir Next Condensed" pitchFamily="34" charset="-122"/>
                <a:cs typeface="Avenir Next Condensed" pitchFamily="34" charset="-120"/>
              </a:rPr>
              <a:t>1</a:t>
            </a:r>
            <a:endParaRPr lang="en-US" sz="2800" dirty="0"/>
          </a:p>
        </p:txBody>
      </p:sp>
      <p:sp>
        <p:nvSpPr>
          <p:cNvPr id="6" name="Text 4"/>
          <p:cNvSpPr txBox="1"/>
          <p:nvPr/>
        </p:nvSpPr>
        <p:spPr>
          <a:xfrm>
            <a:off x="1066800" y="2632670"/>
            <a:ext cx="2971800" cy="561181"/>
          </a:xfrm>
          <a:prstGeom prst="rect">
            <a:avLst/>
          </a:prstGeom>
          <a:noFill/>
          <a:ln/>
        </p:spPr>
        <p:txBody>
          <a:bodyPr wrap="square" lIns="0" tIns="0" rIns="0" bIns="0" rtlCol="0" anchor="t"/>
          <a:lstStyle/>
          <a:p>
            <a:pPr algn="l" indent="0" marL="0">
              <a:lnSpc>
                <a:spcPct val="130000"/>
              </a:lnSpc>
              <a:buNone/>
            </a:pPr>
            <a:r>
              <a:rPr lang="en-US" sz="1700" b="1" dirty="0">
                <a:solidFill>
                  <a:srgbClr val="14213D"/>
                </a:solidFill>
                <a:latin typeface="Hiragino Sans" pitchFamily="34" charset="0"/>
                <a:ea typeface="Hiragino Sans" pitchFamily="34" charset="-122"/>
                <a:cs typeface="Hiragino Sans" pitchFamily="34" charset="-120"/>
              </a:rPr>
              <a:t>トップダウンと</a:t>
            </a:r>
            <a:endParaRPr lang="en-US" sz="1700" dirty="0"/>
          </a:p>
          <a:p>
            <a:pPr algn="l" indent="0" marL="0">
              <a:lnSpc>
                <a:spcPct val="130000"/>
              </a:lnSpc>
              <a:buNone/>
            </a:pPr>
            <a:r>
              <a:rPr lang="en-US" sz="1700" b="1" dirty="0">
                <a:solidFill>
                  <a:srgbClr val="14213D"/>
                </a:solidFill>
                <a:latin typeface="Hiragino Sans" pitchFamily="34" charset="0"/>
                <a:ea typeface="Hiragino Sans" pitchFamily="34" charset="-122"/>
                <a:cs typeface="Hiragino Sans" pitchFamily="34" charset="-120"/>
              </a:rPr>
              <a:t>ボトムアップ</a:t>
            </a:r>
            <a:endParaRPr lang="en-US" sz="1700" dirty="0"/>
          </a:p>
        </p:txBody>
      </p:sp>
      <p:sp>
        <p:nvSpPr>
          <p:cNvPr id="7" name="Text 5"/>
          <p:cNvSpPr txBox="1"/>
          <p:nvPr/>
        </p:nvSpPr>
        <p:spPr>
          <a:xfrm>
            <a:off x="1066800" y="3320852"/>
            <a:ext cx="2971800" cy="1462683"/>
          </a:xfrm>
          <a:prstGeom prst="rect">
            <a:avLst/>
          </a:prstGeom>
          <a:noFill/>
          <a:ln/>
        </p:spPr>
        <p:txBody>
          <a:bodyPr wrap="square" lIns="0" tIns="0" rIns="0" bIns="0" rtlCol="0" anchor="t"/>
          <a:lstStyle/>
          <a:p>
            <a:pPr algn="l" indent="0" marL="0">
              <a:lnSpc>
                <a:spcPct val="160000"/>
              </a:lnSpc>
              <a:buNone/>
            </a:pPr>
            <a:r>
              <a:rPr lang="en-US" sz="1200" b="1" dirty="0">
                <a:solidFill>
                  <a:srgbClr val="14213D"/>
                </a:solidFill>
                <a:latin typeface="Hiragino Sans" pitchFamily="34" charset="0"/>
                <a:ea typeface="Hiragino Sans" pitchFamily="34" charset="-122"/>
                <a:cs typeface="Hiragino Sans" pitchFamily="34" charset="-120"/>
              </a:rPr>
              <a:t>トップダウン企業（Tesla）</a:t>
            </a:r>
            <a:endParaRPr lang="en-US" sz="1200" dirty="0"/>
          </a:p>
          <a:p>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サボれない・成果を出せる仕組みと管理システムが大事。</a:t>
            </a:r>
            <a:endParaRPr lang="en-US" sz="1200" dirty="0"/>
          </a:p>
          <a:p>
            <a:pPr algn="l" indent="0" marL="0">
              <a:lnSpc>
                <a:spcPct val="160000"/>
              </a:lnSpc>
              <a:buNone/>
            </a:pPr>
            <a:r>
              <a:rPr lang="en-US" sz="1200" b="1" dirty="0">
                <a:solidFill>
                  <a:srgbClr val="14213D"/>
                </a:solidFill>
                <a:latin typeface="Hiragino Sans" pitchFamily="34" charset="0"/>
                <a:ea typeface="Hiragino Sans" pitchFamily="34" charset="-122"/>
                <a:cs typeface="Hiragino Sans" pitchFamily="34" charset="-120"/>
              </a:rPr>
              <a:t>ボトムアップ企業（Google・Meta）</a:t>
            </a:r>
            <a:endParaRPr lang="en-US" sz="1200" dirty="0"/>
          </a:p>
          <a:p>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一人ひとりの自律が前提。仕事もキャリアも自分で取りに行く。</a:t>
            </a:r>
            <a:endParaRPr lang="en-US" sz="1200" dirty="0"/>
          </a:p>
        </p:txBody>
      </p:sp>
      <p:sp>
        <p:nvSpPr>
          <p:cNvPr id="8" name="Shape 6"/>
          <p:cNvSpPr/>
          <p:nvPr/>
        </p:nvSpPr>
        <p:spPr>
          <a:xfrm>
            <a:off x="4394200" y="1896070"/>
            <a:ext cx="3403600" cy="3141464"/>
          </a:xfrm>
          <a:prstGeom prst="roundRect">
            <a:avLst>
              <a:gd name="adj" fmla="val 941"/>
            </a:avLst>
          </a:prstGeom>
          <a:solidFill>
            <a:srgbClr val="FDFCF9"/>
          </a:solidFill>
          <a:ln/>
        </p:spPr>
      </p:sp>
      <p:sp>
        <p:nvSpPr>
          <p:cNvPr id="9" name="Text 7"/>
          <p:cNvSpPr txBox="1"/>
          <p:nvPr/>
        </p:nvSpPr>
        <p:spPr>
          <a:xfrm>
            <a:off x="4648200" y="2150070"/>
            <a:ext cx="2895600" cy="355600"/>
          </a:xfrm>
          <a:prstGeom prst="rect">
            <a:avLst/>
          </a:prstGeom>
          <a:noFill/>
          <a:ln/>
        </p:spPr>
        <p:txBody>
          <a:bodyPr wrap="none" lIns="0" tIns="0" rIns="0" bIns="0" rtlCol="0" anchor="t"/>
          <a:lstStyle/>
          <a:p>
            <a:pPr algn="l" indent="0" marL="0">
              <a:lnSpc>
                <a:spcPct val="100000"/>
              </a:lnSpc>
              <a:buNone/>
            </a:pPr>
            <a:r>
              <a:rPr lang="en-US" sz="2800" dirty="0">
                <a:solidFill>
                  <a:srgbClr val="B4481A"/>
                </a:solidFill>
                <a:latin typeface="Avenir Next Condensed" pitchFamily="34" charset="0"/>
                <a:ea typeface="Avenir Next Condensed" pitchFamily="34" charset="-122"/>
                <a:cs typeface="Avenir Next Condensed" pitchFamily="34" charset="-120"/>
              </a:rPr>
              <a:t>2</a:t>
            </a:r>
            <a:endParaRPr lang="en-US" sz="2800" dirty="0"/>
          </a:p>
        </p:txBody>
      </p:sp>
      <p:sp>
        <p:nvSpPr>
          <p:cNvPr id="10" name="Text 8"/>
          <p:cNvSpPr txBox="1"/>
          <p:nvPr/>
        </p:nvSpPr>
        <p:spPr>
          <a:xfrm>
            <a:off x="4648200" y="2632670"/>
            <a:ext cx="2971800" cy="841772"/>
          </a:xfrm>
          <a:prstGeom prst="rect">
            <a:avLst/>
          </a:prstGeom>
          <a:noFill/>
          <a:ln/>
        </p:spPr>
        <p:txBody>
          <a:bodyPr wrap="square" lIns="0" tIns="0" rIns="0" bIns="0" rtlCol="0" anchor="t"/>
          <a:lstStyle/>
          <a:p>
            <a:pPr algn="l" indent="0" marL="0">
              <a:lnSpc>
                <a:spcPct val="130000"/>
              </a:lnSpc>
              <a:buNone/>
            </a:pPr>
            <a:r>
              <a:rPr lang="en-US" sz="1700" b="1" dirty="0">
                <a:solidFill>
                  <a:srgbClr val="14213D"/>
                </a:solidFill>
                <a:latin typeface="Hiragino Sans" pitchFamily="34" charset="0"/>
                <a:ea typeface="Hiragino Sans" pitchFamily="34" charset="-122"/>
                <a:cs typeface="Hiragino Sans" pitchFamily="34" charset="-120"/>
              </a:rPr>
              <a:t>MVP</a:t>
            </a:r>
            <a:endParaRPr lang="en-US" sz="1700" dirty="0"/>
          </a:p>
          <a:p>
            <a:pPr algn="l" indent="0" marL="0">
              <a:lnSpc>
                <a:spcPct val="130000"/>
              </a:lnSpc>
              <a:buNone/>
            </a:pPr>
            <a:r>
              <a:rPr lang="en-US" sz="1700" b="1" dirty="0">
                <a:solidFill>
                  <a:srgbClr val="14213D"/>
                </a:solidFill>
                <a:latin typeface="Hiragino Sans" pitchFamily="34" charset="0"/>
                <a:ea typeface="Hiragino Sans" pitchFamily="34" charset="-122"/>
                <a:cs typeface="Hiragino Sans" pitchFamily="34" charset="-120"/>
              </a:rPr>
              <a:t>（Minimum Viable Product）</a:t>
            </a:r>
            <a:endParaRPr lang="en-US" sz="1700" dirty="0"/>
          </a:p>
        </p:txBody>
      </p:sp>
      <p:sp>
        <p:nvSpPr>
          <p:cNvPr id="11" name="Text 9"/>
          <p:cNvSpPr txBox="1"/>
          <p:nvPr/>
        </p:nvSpPr>
        <p:spPr>
          <a:xfrm>
            <a:off x="4648200" y="3601442"/>
            <a:ext cx="2971800" cy="975122"/>
          </a:xfrm>
          <a:prstGeom prst="rect">
            <a:avLst/>
          </a:prstGeom>
          <a:noFill/>
          <a:ln/>
        </p:spPr>
        <p:txBody>
          <a:bodyPr wrap="square" lIns="0" tIns="0" rIns="0" bIns="0" rtlCol="0" anchor="t"/>
          <a:lstStyle/>
          <a:p>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最初はまずやってみる。</a:t>
            </a:r>
            <a:endParaRPr lang="en-US" sz="1200" dirty="0"/>
          </a:p>
          <a:p>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良ければ続ける。ダメなら改善する。</a:t>
            </a:r>
            <a:endParaRPr lang="en-US" sz="1200" dirty="0"/>
          </a:p>
          <a:p>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次へ次へと改善し、本当にダメなら</a:t>
            </a:r>
            <a:pPr algn="l" indent="0" marL="0">
              <a:lnSpc>
                <a:spcPct val="160000"/>
              </a:lnSpc>
              <a:buNone/>
            </a:pPr>
            <a:r>
              <a:rPr lang="en-US" sz="1200" b="1" dirty="0">
                <a:solidFill>
                  <a:srgbClr val="14213D"/>
                </a:solidFill>
                <a:latin typeface="Hiragino Sans" pitchFamily="34" charset="0"/>
                <a:ea typeface="Hiragino Sans" pitchFamily="34" charset="-122"/>
                <a:cs typeface="Hiragino Sans" pitchFamily="34" charset="-120"/>
              </a:rPr>
              <a:t>撤退も早く</a:t>
            </a:r>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a:t>
            </a:r>
            <a:endParaRPr lang="en-US" sz="1200" dirty="0"/>
          </a:p>
        </p:txBody>
      </p:sp>
      <p:sp>
        <p:nvSpPr>
          <p:cNvPr id="12" name="Shape 10"/>
          <p:cNvSpPr/>
          <p:nvPr/>
        </p:nvSpPr>
        <p:spPr>
          <a:xfrm>
            <a:off x="7975600" y="1896070"/>
            <a:ext cx="3403600" cy="3141464"/>
          </a:xfrm>
          <a:prstGeom prst="roundRect">
            <a:avLst>
              <a:gd name="adj" fmla="val 941"/>
            </a:avLst>
          </a:prstGeom>
          <a:solidFill>
            <a:srgbClr val="FDFCF9"/>
          </a:solidFill>
          <a:ln/>
        </p:spPr>
      </p:sp>
      <p:sp>
        <p:nvSpPr>
          <p:cNvPr id="13" name="Text 11"/>
          <p:cNvSpPr txBox="1"/>
          <p:nvPr/>
        </p:nvSpPr>
        <p:spPr>
          <a:xfrm>
            <a:off x="8229600" y="2150070"/>
            <a:ext cx="2895600" cy="355600"/>
          </a:xfrm>
          <a:prstGeom prst="rect">
            <a:avLst/>
          </a:prstGeom>
          <a:noFill/>
          <a:ln/>
        </p:spPr>
        <p:txBody>
          <a:bodyPr wrap="none" lIns="0" tIns="0" rIns="0" bIns="0" rtlCol="0" anchor="t"/>
          <a:lstStyle/>
          <a:p>
            <a:pPr algn="l" indent="0" marL="0">
              <a:lnSpc>
                <a:spcPct val="100000"/>
              </a:lnSpc>
              <a:buNone/>
            </a:pPr>
            <a:r>
              <a:rPr lang="en-US" sz="2800" dirty="0">
                <a:solidFill>
                  <a:srgbClr val="B4481A"/>
                </a:solidFill>
                <a:latin typeface="Avenir Next Condensed" pitchFamily="34" charset="0"/>
                <a:ea typeface="Avenir Next Condensed" pitchFamily="34" charset="-122"/>
                <a:cs typeface="Avenir Next Condensed" pitchFamily="34" charset="-120"/>
              </a:rPr>
              <a:t>3</a:t>
            </a:r>
            <a:endParaRPr lang="en-US" sz="2800" dirty="0"/>
          </a:p>
        </p:txBody>
      </p:sp>
      <p:sp>
        <p:nvSpPr>
          <p:cNvPr id="14" name="Text 12"/>
          <p:cNvSpPr txBox="1"/>
          <p:nvPr/>
        </p:nvSpPr>
        <p:spPr>
          <a:xfrm>
            <a:off x="8229600" y="2632670"/>
            <a:ext cx="2971800" cy="561181"/>
          </a:xfrm>
          <a:prstGeom prst="rect">
            <a:avLst/>
          </a:prstGeom>
          <a:noFill/>
          <a:ln/>
        </p:spPr>
        <p:txBody>
          <a:bodyPr wrap="square" lIns="0" tIns="0" rIns="0" bIns="0" rtlCol="0" anchor="t"/>
          <a:lstStyle/>
          <a:p>
            <a:pPr algn="l" indent="0" marL="0">
              <a:lnSpc>
                <a:spcPct val="130000"/>
              </a:lnSpc>
              <a:buNone/>
            </a:pPr>
            <a:r>
              <a:rPr lang="en-US" sz="1700" b="1" dirty="0">
                <a:solidFill>
                  <a:srgbClr val="14213D"/>
                </a:solidFill>
                <a:latin typeface="Hiragino Sans" pitchFamily="34" charset="0"/>
                <a:ea typeface="Hiragino Sans" pitchFamily="34" charset="-122"/>
                <a:cs typeface="Hiragino Sans" pitchFamily="34" charset="-120"/>
              </a:rPr>
              <a:t>ハードとソフトで</a:t>
            </a:r>
            <a:endParaRPr lang="en-US" sz="1700" dirty="0"/>
          </a:p>
          <a:p>
            <a:pPr algn="l" indent="0" marL="0">
              <a:lnSpc>
                <a:spcPct val="130000"/>
              </a:lnSpc>
              <a:buNone/>
            </a:pPr>
            <a:r>
              <a:rPr lang="en-US" sz="1700" b="1" dirty="0">
                <a:solidFill>
                  <a:srgbClr val="14213D"/>
                </a:solidFill>
                <a:latin typeface="Hiragino Sans" pitchFamily="34" charset="0"/>
                <a:ea typeface="Hiragino Sans" pitchFamily="34" charset="-122"/>
                <a:cs typeface="Hiragino Sans" pitchFamily="34" charset="-120"/>
              </a:rPr>
              <a:t>働き方が違う</a:t>
            </a:r>
            <a:endParaRPr lang="en-US" sz="1700" dirty="0"/>
          </a:p>
        </p:txBody>
      </p:sp>
      <p:sp>
        <p:nvSpPr>
          <p:cNvPr id="15" name="Text 13"/>
          <p:cNvSpPr txBox="1"/>
          <p:nvPr/>
        </p:nvSpPr>
        <p:spPr>
          <a:xfrm>
            <a:off x="8229600" y="3320852"/>
            <a:ext cx="2971800" cy="975122"/>
          </a:xfrm>
          <a:prstGeom prst="rect">
            <a:avLst/>
          </a:prstGeom>
          <a:noFill/>
          <a:ln/>
        </p:spPr>
        <p:txBody>
          <a:bodyPr wrap="square" lIns="0" tIns="0" rIns="0" bIns="0" rtlCol="0" anchor="t"/>
          <a:lstStyle/>
          <a:p>
            <a:pPr algn="l" indent="0" marL="0">
              <a:lnSpc>
                <a:spcPct val="160000"/>
              </a:lnSpc>
              <a:buNone/>
            </a:pPr>
            <a:r>
              <a:rPr lang="en-US" sz="1200" b="1" dirty="0">
                <a:solidFill>
                  <a:srgbClr val="14213D"/>
                </a:solidFill>
                <a:latin typeface="Hiragino Sans" pitchFamily="34" charset="0"/>
                <a:ea typeface="Hiragino Sans" pitchFamily="34" charset="-122"/>
                <a:cs typeface="Hiragino Sans" pitchFamily="34" charset="-120"/>
              </a:rPr>
              <a:t>ハード</a:t>
            </a:r>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：具体的なゴールを全員が知っていて、納期もある。</a:t>
            </a:r>
            <a:endParaRPr lang="en-US" sz="1200" dirty="0"/>
          </a:p>
          <a:p>
            <a:pPr algn="l" indent="0" marL="0">
              <a:lnSpc>
                <a:spcPct val="160000"/>
              </a:lnSpc>
              <a:buNone/>
            </a:pPr>
            <a:r>
              <a:rPr lang="en-US" sz="1200" b="1" dirty="0">
                <a:solidFill>
                  <a:srgbClr val="14213D"/>
                </a:solidFill>
                <a:latin typeface="Hiragino Sans" pitchFamily="34" charset="0"/>
                <a:ea typeface="Hiragino Sans" pitchFamily="34" charset="-122"/>
                <a:cs typeface="Hiragino Sans" pitchFamily="34" charset="-120"/>
              </a:rPr>
              <a:t>ソフト</a:t>
            </a:r>
            <a:pPr algn="l" indent="0" marL="0">
              <a:lnSpc>
                <a:spcPct val="160000"/>
              </a:lnSpc>
              <a:buNone/>
            </a:pPr>
            <a:r>
              <a:rPr lang="en-US" sz="1200" dirty="0">
                <a:solidFill>
                  <a:srgbClr val="4A5568"/>
                </a:solidFill>
                <a:latin typeface="Hiragino Sans" pitchFamily="34" charset="0"/>
                <a:ea typeface="Hiragino Sans" pitchFamily="34" charset="-122"/>
                <a:cs typeface="Hiragino Sans" pitchFamily="34" charset="-120"/>
              </a:rPr>
              <a:t>：アイデア勝負。だからこそ「考えること」への意義付けが必要。</a:t>
            </a:r>
            <a:endParaRPr lang="en-US" sz="1200" dirty="0"/>
          </a:p>
        </p:txBody>
      </p:sp>
      <p:sp>
        <p:nvSpPr>
          <p:cNvPr id="16" name="Text 14"/>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17" name="Text 15"/>
          <p:cNvSpPr txBox="1"/>
          <p:nvPr/>
        </p:nvSpPr>
        <p:spPr>
          <a:xfrm>
            <a:off x="11264702" y="6223000"/>
            <a:ext cx="114498"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05 ／ SWIPE RESULT — 人事システムのスワイプ結果</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5つの人事システム：見たこと → 自社の方針</a:t>
            </a:r>
            <a:endParaRPr lang="en-US" sz="3200" dirty="0"/>
          </a:p>
        </p:txBody>
      </p:sp>
      <p:sp>
        <p:nvSpPr>
          <p:cNvPr id="4" name="Shape 2"/>
          <p:cNvSpPr/>
          <p:nvPr/>
        </p:nvSpPr>
        <p:spPr>
          <a:xfrm>
            <a:off x="812800" y="1819870"/>
            <a:ext cx="10566400" cy="3397250"/>
          </a:xfrm>
          <a:prstGeom prst="rect">
            <a:avLst/>
          </a:prstGeom>
          <a:solidFill>
            <a:srgbClr val="FDFCF9"/>
          </a:solidFill>
          <a:ln/>
        </p:spPr>
      </p:sp>
      <p:sp>
        <p:nvSpPr>
          <p:cNvPr id="5" name="Shape 3"/>
          <p:cNvSpPr/>
          <p:nvPr/>
        </p:nvSpPr>
        <p:spPr>
          <a:xfrm>
            <a:off x="812800" y="1819870"/>
            <a:ext cx="10566400" cy="377825"/>
          </a:xfrm>
          <a:prstGeom prst="rect">
            <a:avLst/>
          </a:prstGeom>
          <a:solidFill>
            <a:srgbClr val="14213D"/>
          </a:solidFill>
          <a:ln/>
        </p:spPr>
      </p:sp>
      <p:sp>
        <p:nvSpPr>
          <p:cNvPr id="6" name="Shape 4"/>
          <p:cNvSpPr/>
          <p:nvPr/>
        </p:nvSpPr>
        <p:spPr>
          <a:xfrm>
            <a:off x="812800" y="2191345"/>
            <a:ext cx="1162248" cy="6350"/>
          </a:xfrm>
          <a:prstGeom prst="rect">
            <a:avLst/>
          </a:prstGeom>
          <a:solidFill>
            <a:srgbClr val="E2DED5"/>
          </a:solidFill>
          <a:ln/>
        </p:spPr>
      </p:sp>
      <p:sp>
        <p:nvSpPr>
          <p:cNvPr id="7" name="Text 5"/>
          <p:cNvSpPr txBox="1"/>
          <p:nvPr/>
        </p:nvSpPr>
        <p:spPr>
          <a:xfrm>
            <a:off x="939800" y="1896070"/>
            <a:ext cx="908248" cy="225425"/>
          </a:xfrm>
          <a:prstGeom prst="rect">
            <a:avLst/>
          </a:prstGeom>
          <a:noFill/>
          <a:ln/>
        </p:spPr>
        <p:txBody>
          <a:bodyPr wrap="none" lIns="0" tIns="0" rIns="0" bIns="0" rtlCol="0" anchor="ctr"/>
          <a:lstStyle/>
          <a:p>
            <a:pPr algn="l" indent="0" marL="0">
              <a:lnSpc>
                <a:spcPct val="140000"/>
              </a:lnSpc>
              <a:buNone/>
            </a:pPr>
            <a:r>
              <a:rPr lang="en-US" sz="1200" b="1" dirty="0">
                <a:solidFill>
                  <a:srgbClr val="F6F4EF"/>
                </a:solidFill>
                <a:latin typeface="Hiragino Sans" pitchFamily="34" charset="0"/>
                <a:ea typeface="Hiragino Sans" pitchFamily="34" charset="-122"/>
                <a:cs typeface="Hiragino Sans" pitchFamily="34" charset="-120"/>
              </a:rPr>
              <a:t>システム</a:t>
            </a:r>
            <a:endParaRPr lang="en-US" sz="1200" dirty="0"/>
          </a:p>
        </p:txBody>
      </p:sp>
      <p:sp>
        <p:nvSpPr>
          <p:cNvPr id="8" name="Shape 6"/>
          <p:cNvSpPr/>
          <p:nvPr/>
        </p:nvSpPr>
        <p:spPr>
          <a:xfrm>
            <a:off x="1975048" y="2191345"/>
            <a:ext cx="4966196" cy="6350"/>
          </a:xfrm>
          <a:prstGeom prst="rect">
            <a:avLst/>
          </a:prstGeom>
          <a:solidFill>
            <a:srgbClr val="E2DED5"/>
          </a:solidFill>
          <a:ln/>
        </p:spPr>
      </p:sp>
      <p:sp>
        <p:nvSpPr>
          <p:cNvPr id="9" name="Text 7"/>
          <p:cNvSpPr txBox="1"/>
          <p:nvPr/>
        </p:nvSpPr>
        <p:spPr>
          <a:xfrm>
            <a:off x="2102048" y="1896070"/>
            <a:ext cx="4712196" cy="225425"/>
          </a:xfrm>
          <a:prstGeom prst="rect">
            <a:avLst/>
          </a:prstGeom>
          <a:noFill/>
          <a:ln/>
        </p:spPr>
        <p:txBody>
          <a:bodyPr wrap="none" lIns="0" tIns="0" rIns="0" bIns="0" rtlCol="0" anchor="ctr"/>
          <a:lstStyle/>
          <a:p>
            <a:pPr algn="l" indent="0" marL="0">
              <a:lnSpc>
                <a:spcPct val="140000"/>
              </a:lnSpc>
              <a:buNone/>
            </a:pPr>
            <a:r>
              <a:rPr lang="en-US" sz="1200" b="1" dirty="0">
                <a:solidFill>
                  <a:srgbClr val="F6F4EF"/>
                </a:solidFill>
                <a:latin typeface="Hiragino Sans" pitchFamily="34" charset="0"/>
                <a:ea typeface="Hiragino Sans" pitchFamily="34" charset="-122"/>
                <a:cs typeface="Hiragino Sans" pitchFamily="34" charset="-120"/>
              </a:rPr>
              <a:t>シリコンバレーで見たこと</a:t>
            </a:r>
            <a:endParaRPr lang="en-US" sz="1200" dirty="0"/>
          </a:p>
        </p:txBody>
      </p:sp>
      <p:sp>
        <p:nvSpPr>
          <p:cNvPr id="10" name="Shape 8"/>
          <p:cNvSpPr/>
          <p:nvPr/>
        </p:nvSpPr>
        <p:spPr>
          <a:xfrm>
            <a:off x="6941245" y="2191345"/>
            <a:ext cx="4437955" cy="6350"/>
          </a:xfrm>
          <a:prstGeom prst="rect">
            <a:avLst/>
          </a:prstGeom>
          <a:solidFill>
            <a:srgbClr val="E2DED5"/>
          </a:solidFill>
          <a:ln/>
        </p:spPr>
      </p:sp>
      <p:sp>
        <p:nvSpPr>
          <p:cNvPr id="11" name="Text 9"/>
          <p:cNvSpPr txBox="1"/>
          <p:nvPr/>
        </p:nvSpPr>
        <p:spPr>
          <a:xfrm>
            <a:off x="7068245" y="1896070"/>
            <a:ext cx="4183955" cy="225425"/>
          </a:xfrm>
          <a:prstGeom prst="rect">
            <a:avLst/>
          </a:prstGeom>
          <a:noFill/>
          <a:ln/>
        </p:spPr>
        <p:txBody>
          <a:bodyPr wrap="none" lIns="0" tIns="0" rIns="0" bIns="0" rtlCol="0" anchor="ctr"/>
          <a:lstStyle/>
          <a:p>
            <a:pPr algn="l" indent="0" marL="0">
              <a:lnSpc>
                <a:spcPct val="140000"/>
              </a:lnSpc>
              <a:buNone/>
            </a:pPr>
            <a:r>
              <a:rPr lang="en-US" sz="1200" b="1" dirty="0">
                <a:solidFill>
                  <a:srgbClr val="F08A4B"/>
                </a:solidFill>
                <a:latin typeface="Hiragino Sans" pitchFamily="34" charset="0"/>
                <a:ea typeface="Hiragino Sans" pitchFamily="34" charset="-122"/>
                <a:cs typeface="Hiragino Sans" pitchFamily="34" charset="-120"/>
              </a:rPr>
              <a:t>スワイプの結果（自社の方針）</a:t>
            </a:r>
            <a:endParaRPr lang="en-US" sz="1200" dirty="0"/>
          </a:p>
        </p:txBody>
      </p:sp>
      <p:sp>
        <p:nvSpPr>
          <p:cNvPr id="12" name="Shape 10"/>
          <p:cNvSpPr/>
          <p:nvPr/>
        </p:nvSpPr>
        <p:spPr>
          <a:xfrm>
            <a:off x="812800" y="2794595"/>
            <a:ext cx="1162248" cy="6350"/>
          </a:xfrm>
          <a:prstGeom prst="rect">
            <a:avLst/>
          </a:prstGeom>
          <a:solidFill>
            <a:srgbClr val="E2DED5"/>
          </a:solidFill>
          <a:ln/>
        </p:spPr>
      </p:sp>
      <p:sp>
        <p:nvSpPr>
          <p:cNvPr id="13" name="Text 11"/>
          <p:cNvSpPr txBox="1"/>
          <p:nvPr/>
        </p:nvSpPr>
        <p:spPr>
          <a:xfrm>
            <a:off x="939800" y="2273895"/>
            <a:ext cx="984448"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評価</a:t>
            </a:r>
            <a:endParaRPr lang="en-US" sz="1200" dirty="0"/>
          </a:p>
        </p:txBody>
      </p:sp>
      <p:sp>
        <p:nvSpPr>
          <p:cNvPr id="14" name="Shape 12"/>
          <p:cNvSpPr/>
          <p:nvPr/>
        </p:nvSpPr>
        <p:spPr>
          <a:xfrm>
            <a:off x="1975048" y="2794595"/>
            <a:ext cx="4966196" cy="6350"/>
          </a:xfrm>
          <a:prstGeom prst="rect">
            <a:avLst/>
          </a:prstGeom>
          <a:solidFill>
            <a:srgbClr val="E2DED5"/>
          </a:solidFill>
          <a:ln/>
        </p:spPr>
      </p:sp>
      <p:sp>
        <p:nvSpPr>
          <p:cNvPr id="15" name="Text 13"/>
          <p:cNvSpPr txBox="1"/>
          <p:nvPr/>
        </p:nvSpPr>
        <p:spPr>
          <a:xfrm>
            <a:off x="2102048" y="2273895"/>
            <a:ext cx="4788396" cy="450850"/>
          </a:xfrm>
          <a:prstGeom prst="rect">
            <a:avLst/>
          </a:prstGeom>
          <a:noFill/>
          <a:ln/>
        </p:spPr>
        <p:txBody>
          <a:bodyPr wrap="squar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Google：成果のみを見る・OKRでプロジェクト評価・時間は見ない／Meta：年齢よりスキル</a:t>
            </a:r>
            <a:endParaRPr lang="en-US" sz="1200" dirty="0"/>
          </a:p>
        </p:txBody>
      </p:sp>
      <p:sp>
        <p:nvSpPr>
          <p:cNvPr id="16" name="Shape 14"/>
          <p:cNvSpPr/>
          <p:nvPr/>
        </p:nvSpPr>
        <p:spPr>
          <a:xfrm>
            <a:off x="6941245" y="2794595"/>
            <a:ext cx="4437955" cy="6350"/>
          </a:xfrm>
          <a:prstGeom prst="rect">
            <a:avLst/>
          </a:prstGeom>
          <a:solidFill>
            <a:srgbClr val="E2DED5"/>
          </a:solidFill>
          <a:ln/>
        </p:spPr>
      </p:sp>
      <p:sp>
        <p:nvSpPr>
          <p:cNvPr id="17" name="Text 15"/>
          <p:cNvSpPr txBox="1"/>
          <p:nvPr/>
        </p:nvSpPr>
        <p:spPr>
          <a:xfrm>
            <a:off x="7068245" y="2273895"/>
            <a:ext cx="4260155"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成果だけを見る</a:t>
            </a:r>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。成果が出なければ評価しない。OKR・毎週の1on1を検討</a:t>
            </a:r>
            <a:endParaRPr lang="en-US" sz="1200" dirty="0"/>
          </a:p>
        </p:txBody>
      </p:sp>
      <p:sp>
        <p:nvSpPr>
          <p:cNvPr id="18" name="Shape 16"/>
          <p:cNvSpPr/>
          <p:nvPr/>
        </p:nvSpPr>
        <p:spPr>
          <a:xfrm>
            <a:off x="812800" y="2800945"/>
            <a:ext cx="10566400" cy="603250"/>
          </a:xfrm>
          <a:prstGeom prst="rect">
            <a:avLst/>
          </a:prstGeom>
          <a:solidFill>
            <a:srgbClr val="F6F4EF"/>
          </a:solidFill>
          <a:ln/>
        </p:spPr>
      </p:sp>
      <p:sp>
        <p:nvSpPr>
          <p:cNvPr id="19" name="Shape 17"/>
          <p:cNvSpPr/>
          <p:nvPr/>
        </p:nvSpPr>
        <p:spPr>
          <a:xfrm>
            <a:off x="812800" y="3397845"/>
            <a:ext cx="1162248" cy="6350"/>
          </a:xfrm>
          <a:prstGeom prst="rect">
            <a:avLst/>
          </a:prstGeom>
          <a:solidFill>
            <a:srgbClr val="E2DED5"/>
          </a:solidFill>
          <a:ln/>
        </p:spPr>
      </p:sp>
      <p:sp>
        <p:nvSpPr>
          <p:cNvPr id="20" name="Text 18"/>
          <p:cNvSpPr txBox="1"/>
          <p:nvPr/>
        </p:nvSpPr>
        <p:spPr>
          <a:xfrm>
            <a:off x="939800" y="2877145"/>
            <a:ext cx="984448"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組織</a:t>
            </a:r>
            <a:endParaRPr lang="en-US" sz="1200" dirty="0"/>
          </a:p>
        </p:txBody>
      </p:sp>
      <p:sp>
        <p:nvSpPr>
          <p:cNvPr id="21" name="Shape 19"/>
          <p:cNvSpPr/>
          <p:nvPr/>
        </p:nvSpPr>
        <p:spPr>
          <a:xfrm>
            <a:off x="1975048" y="3397845"/>
            <a:ext cx="4966196" cy="6350"/>
          </a:xfrm>
          <a:prstGeom prst="rect">
            <a:avLst/>
          </a:prstGeom>
          <a:solidFill>
            <a:srgbClr val="E2DED5"/>
          </a:solidFill>
          <a:ln/>
        </p:spPr>
      </p:sp>
      <p:sp>
        <p:nvSpPr>
          <p:cNvPr id="22" name="Text 20"/>
          <p:cNvSpPr txBox="1"/>
          <p:nvPr/>
        </p:nvSpPr>
        <p:spPr>
          <a:xfrm>
            <a:off x="2102048" y="2877145"/>
            <a:ext cx="4788396" cy="450850"/>
          </a:xfrm>
          <a:prstGeom prst="rect">
            <a:avLst/>
          </a:prstGeom>
          <a:noFill/>
          <a:ln/>
        </p:spPr>
        <p:txBody>
          <a:bodyPr wrap="squar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Google：人事はチームに任せ人事部は労務中心／Tesla：上司ほど現場に出る／Meta：約60%が業務委託</a:t>
            </a:r>
            <a:endParaRPr lang="en-US" sz="1200" dirty="0"/>
          </a:p>
        </p:txBody>
      </p:sp>
      <p:sp>
        <p:nvSpPr>
          <p:cNvPr id="23" name="Shape 21"/>
          <p:cNvSpPr/>
          <p:nvPr/>
        </p:nvSpPr>
        <p:spPr>
          <a:xfrm>
            <a:off x="6941245" y="3397845"/>
            <a:ext cx="4437955" cy="6350"/>
          </a:xfrm>
          <a:prstGeom prst="rect">
            <a:avLst/>
          </a:prstGeom>
          <a:solidFill>
            <a:srgbClr val="E2DED5"/>
          </a:solidFill>
          <a:ln/>
        </p:spPr>
      </p:sp>
      <p:sp>
        <p:nvSpPr>
          <p:cNvPr id="24" name="Text 22"/>
          <p:cNvSpPr txBox="1"/>
          <p:nvPr/>
        </p:nvSpPr>
        <p:spPr>
          <a:xfrm>
            <a:off x="7068245" y="2877145"/>
            <a:ext cx="4260155"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間接費を最小化</a:t>
            </a:r>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し管理職ほど現場へ。現場は有期雇用・業務委託も活用</a:t>
            </a:r>
            <a:endParaRPr lang="en-US" sz="1200" dirty="0"/>
          </a:p>
        </p:txBody>
      </p:sp>
      <p:sp>
        <p:nvSpPr>
          <p:cNvPr id="25" name="Shape 23"/>
          <p:cNvSpPr/>
          <p:nvPr/>
        </p:nvSpPr>
        <p:spPr>
          <a:xfrm>
            <a:off x="812800" y="4001095"/>
            <a:ext cx="1162248" cy="6350"/>
          </a:xfrm>
          <a:prstGeom prst="rect">
            <a:avLst/>
          </a:prstGeom>
          <a:solidFill>
            <a:srgbClr val="E2DED5"/>
          </a:solidFill>
          <a:ln/>
        </p:spPr>
      </p:sp>
      <p:sp>
        <p:nvSpPr>
          <p:cNvPr id="26" name="Text 24"/>
          <p:cNvSpPr txBox="1"/>
          <p:nvPr/>
        </p:nvSpPr>
        <p:spPr>
          <a:xfrm>
            <a:off x="939800" y="3480395"/>
            <a:ext cx="984448"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給与</a:t>
            </a:r>
            <a:endParaRPr lang="en-US" sz="1200" dirty="0"/>
          </a:p>
        </p:txBody>
      </p:sp>
      <p:sp>
        <p:nvSpPr>
          <p:cNvPr id="27" name="Shape 25"/>
          <p:cNvSpPr/>
          <p:nvPr/>
        </p:nvSpPr>
        <p:spPr>
          <a:xfrm>
            <a:off x="1975048" y="4001095"/>
            <a:ext cx="4966196" cy="6350"/>
          </a:xfrm>
          <a:prstGeom prst="rect">
            <a:avLst/>
          </a:prstGeom>
          <a:solidFill>
            <a:srgbClr val="E2DED5"/>
          </a:solidFill>
          <a:ln/>
        </p:spPr>
      </p:sp>
      <p:sp>
        <p:nvSpPr>
          <p:cNvPr id="28" name="Text 26"/>
          <p:cNvSpPr txBox="1"/>
          <p:nvPr/>
        </p:nvSpPr>
        <p:spPr>
          <a:xfrm>
            <a:off x="2102048" y="3480395"/>
            <a:ext cx="4788396" cy="450850"/>
          </a:xfrm>
          <a:prstGeom prst="rect">
            <a:avLst/>
          </a:prstGeom>
          <a:noFill/>
          <a:ln/>
        </p:spPr>
        <p:txBody>
          <a:bodyPr wrap="squar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Tesla：ストックオプション・ボーナス選択制／Google：6ヶ月ごとの交渉、グレード内で変動</a:t>
            </a:r>
            <a:endParaRPr lang="en-US" sz="1200" dirty="0"/>
          </a:p>
        </p:txBody>
      </p:sp>
      <p:sp>
        <p:nvSpPr>
          <p:cNvPr id="29" name="Shape 27"/>
          <p:cNvSpPr/>
          <p:nvPr/>
        </p:nvSpPr>
        <p:spPr>
          <a:xfrm>
            <a:off x="6941245" y="4001095"/>
            <a:ext cx="4437955" cy="6350"/>
          </a:xfrm>
          <a:prstGeom prst="rect">
            <a:avLst/>
          </a:prstGeom>
          <a:solidFill>
            <a:srgbClr val="E2DED5"/>
          </a:solidFill>
          <a:ln/>
        </p:spPr>
      </p:sp>
      <p:sp>
        <p:nvSpPr>
          <p:cNvPr id="30" name="Text 28"/>
          <p:cNvSpPr txBox="1"/>
          <p:nvPr/>
        </p:nvSpPr>
        <p:spPr>
          <a:xfrm>
            <a:off x="7068245" y="3480395"/>
            <a:ext cx="4260155"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給与は高めでOK</a:t>
            </a:r>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。代わりに離脱基準を明確にし人件費率を上げない</a:t>
            </a:r>
            <a:endParaRPr lang="en-US" sz="1200" dirty="0"/>
          </a:p>
        </p:txBody>
      </p:sp>
      <p:sp>
        <p:nvSpPr>
          <p:cNvPr id="31" name="Shape 29"/>
          <p:cNvSpPr/>
          <p:nvPr/>
        </p:nvSpPr>
        <p:spPr>
          <a:xfrm>
            <a:off x="812800" y="4007445"/>
            <a:ext cx="10566400" cy="603250"/>
          </a:xfrm>
          <a:prstGeom prst="rect">
            <a:avLst/>
          </a:prstGeom>
          <a:solidFill>
            <a:srgbClr val="F6F4EF"/>
          </a:solidFill>
          <a:ln/>
        </p:spPr>
      </p:sp>
      <p:sp>
        <p:nvSpPr>
          <p:cNvPr id="32" name="Shape 30"/>
          <p:cNvSpPr/>
          <p:nvPr/>
        </p:nvSpPr>
        <p:spPr>
          <a:xfrm>
            <a:off x="812800" y="4604345"/>
            <a:ext cx="1162248" cy="6350"/>
          </a:xfrm>
          <a:prstGeom prst="rect">
            <a:avLst/>
          </a:prstGeom>
          <a:solidFill>
            <a:srgbClr val="E2DED5"/>
          </a:solidFill>
          <a:ln/>
        </p:spPr>
      </p:sp>
      <p:sp>
        <p:nvSpPr>
          <p:cNvPr id="33" name="Text 31"/>
          <p:cNvSpPr txBox="1"/>
          <p:nvPr/>
        </p:nvSpPr>
        <p:spPr>
          <a:xfrm>
            <a:off x="939800" y="4083645"/>
            <a:ext cx="984448"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教育</a:t>
            </a:r>
            <a:endParaRPr lang="en-US" sz="1200" dirty="0"/>
          </a:p>
        </p:txBody>
      </p:sp>
      <p:sp>
        <p:nvSpPr>
          <p:cNvPr id="34" name="Shape 32"/>
          <p:cNvSpPr/>
          <p:nvPr/>
        </p:nvSpPr>
        <p:spPr>
          <a:xfrm>
            <a:off x="1975048" y="4604345"/>
            <a:ext cx="4966196" cy="6350"/>
          </a:xfrm>
          <a:prstGeom prst="rect">
            <a:avLst/>
          </a:prstGeom>
          <a:solidFill>
            <a:srgbClr val="E2DED5"/>
          </a:solidFill>
          <a:ln/>
        </p:spPr>
      </p:sp>
      <p:sp>
        <p:nvSpPr>
          <p:cNvPr id="35" name="Text 33"/>
          <p:cNvSpPr txBox="1"/>
          <p:nvPr/>
        </p:nvSpPr>
        <p:spPr>
          <a:xfrm>
            <a:off x="2102048" y="4083645"/>
            <a:ext cx="4788396" cy="450850"/>
          </a:xfrm>
          <a:prstGeom prst="rect">
            <a:avLst/>
          </a:prstGeom>
          <a:noFill/>
          <a:ln/>
        </p:spPr>
        <p:txBody>
          <a:bodyPr wrap="squar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Google：成果を出した人が社内講師／Meta：必要な学びは自分で（Udemy）／Pasona：アクノレッジ</a:t>
            </a:r>
            <a:endParaRPr lang="en-US" sz="1200" dirty="0"/>
          </a:p>
        </p:txBody>
      </p:sp>
      <p:sp>
        <p:nvSpPr>
          <p:cNvPr id="36" name="Shape 34"/>
          <p:cNvSpPr/>
          <p:nvPr/>
        </p:nvSpPr>
        <p:spPr>
          <a:xfrm>
            <a:off x="6941245" y="4604345"/>
            <a:ext cx="4437955" cy="6350"/>
          </a:xfrm>
          <a:prstGeom prst="rect">
            <a:avLst/>
          </a:prstGeom>
          <a:solidFill>
            <a:srgbClr val="E2DED5"/>
          </a:solidFill>
          <a:ln/>
        </p:spPr>
      </p:sp>
      <p:sp>
        <p:nvSpPr>
          <p:cNvPr id="37" name="Text 35"/>
          <p:cNvSpPr txBox="1"/>
          <p:nvPr/>
        </p:nvSpPr>
        <p:spPr>
          <a:xfrm>
            <a:off x="7068245" y="4083645"/>
            <a:ext cx="4260155"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キャリアは自分で作る</a:t>
            </a:r>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。学ぶ環境（Udemyコンテンツ）は会社が用意</a:t>
            </a:r>
            <a:endParaRPr lang="en-US" sz="1200" dirty="0"/>
          </a:p>
        </p:txBody>
      </p:sp>
      <p:sp>
        <p:nvSpPr>
          <p:cNvPr id="38" name="Shape 36"/>
          <p:cNvSpPr/>
          <p:nvPr/>
        </p:nvSpPr>
        <p:spPr>
          <a:xfrm>
            <a:off x="812800" y="5207595"/>
            <a:ext cx="1162248" cy="6350"/>
          </a:xfrm>
          <a:prstGeom prst="rect">
            <a:avLst/>
          </a:prstGeom>
          <a:solidFill>
            <a:srgbClr val="E2DED5"/>
          </a:solidFill>
          <a:ln/>
        </p:spPr>
      </p:sp>
      <p:sp>
        <p:nvSpPr>
          <p:cNvPr id="39" name="Text 37"/>
          <p:cNvSpPr txBox="1"/>
          <p:nvPr/>
        </p:nvSpPr>
        <p:spPr>
          <a:xfrm>
            <a:off x="939800" y="4686895"/>
            <a:ext cx="984448"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採用</a:t>
            </a:r>
            <a:endParaRPr lang="en-US" sz="1200" dirty="0"/>
          </a:p>
        </p:txBody>
      </p:sp>
      <p:sp>
        <p:nvSpPr>
          <p:cNvPr id="40" name="Shape 38"/>
          <p:cNvSpPr/>
          <p:nvPr/>
        </p:nvSpPr>
        <p:spPr>
          <a:xfrm>
            <a:off x="1975048" y="5207595"/>
            <a:ext cx="4966196" cy="6350"/>
          </a:xfrm>
          <a:prstGeom prst="rect">
            <a:avLst/>
          </a:prstGeom>
          <a:solidFill>
            <a:srgbClr val="E2DED5"/>
          </a:solidFill>
          <a:ln/>
        </p:spPr>
      </p:sp>
      <p:sp>
        <p:nvSpPr>
          <p:cNvPr id="41" name="Text 39"/>
          <p:cNvSpPr txBox="1"/>
          <p:nvPr/>
        </p:nvSpPr>
        <p:spPr>
          <a:xfrm>
            <a:off x="2102048" y="4686895"/>
            <a:ext cx="4788396" cy="450850"/>
          </a:xfrm>
          <a:prstGeom prst="rect">
            <a:avLst/>
          </a:prstGeom>
          <a:noFill/>
          <a:ln/>
        </p:spPr>
        <p:txBody>
          <a:bodyPr wrap="square" lIns="0" tIns="0" rIns="0" bIns="0" rtlCol="0" anchor="ctr"/>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Tesla：学力より経験／Google：IQ・EQと情報処理能力を、質問と実務で見抜く</a:t>
            </a:r>
            <a:endParaRPr lang="en-US" sz="1200" dirty="0"/>
          </a:p>
        </p:txBody>
      </p:sp>
      <p:sp>
        <p:nvSpPr>
          <p:cNvPr id="42" name="Shape 40"/>
          <p:cNvSpPr/>
          <p:nvPr/>
        </p:nvSpPr>
        <p:spPr>
          <a:xfrm>
            <a:off x="6941245" y="5207595"/>
            <a:ext cx="4437955" cy="6350"/>
          </a:xfrm>
          <a:prstGeom prst="rect">
            <a:avLst/>
          </a:prstGeom>
          <a:solidFill>
            <a:srgbClr val="E2DED5"/>
          </a:solidFill>
          <a:ln/>
        </p:spPr>
      </p:sp>
      <p:sp>
        <p:nvSpPr>
          <p:cNvPr id="43" name="Text 41"/>
          <p:cNvSpPr txBox="1"/>
          <p:nvPr/>
        </p:nvSpPr>
        <p:spPr>
          <a:xfrm>
            <a:off x="7068245" y="4686895"/>
            <a:ext cx="4260155" cy="450850"/>
          </a:xfrm>
          <a:prstGeom prst="rect">
            <a:avLst/>
          </a:prstGeom>
          <a:noFill/>
          <a:ln/>
        </p:spPr>
        <p:txBody>
          <a:bodyPr wrap="square" lIns="0" tIns="0" rIns="0" bIns="0" rtlCol="0" anchor="ctr"/>
          <a:lstStyle/>
          <a:p>
            <a:pPr algn="l" indent="0" marL="0">
              <a:lnSpc>
                <a:spcPct val="140000"/>
              </a:lnSpc>
              <a:buNone/>
            </a:pPr>
            <a:r>
              <a:rPr lang="en-US" sz="1200" b="1" dirty="0">
                <a:solidFill>
                  <a:srgbClr val="14213D"/>
                </a:solidFill>
                <a:latin typeface="Hiragino Sans" pitchFamily="34" charset="0"/>
                <a:ea typeface="Hiragino Sans" pitchFamily="34" charset="-122"/>
                <a:cs typeface="Hiragino Sans" pitchFamily="34" charset="-120"/>
              </a:rPr>
              <a:t>学歴不問</a:t>
            </a:r>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。カルチャーフィット＋情報処理能力（実務させる）で見抜く</a:t>
            </a:r>
            <a:endParaRPr lang="en-US" sz="1200" dirty="0"/>
          </a:p>
        </p:txBody>
      </p:sp>
      <p:sp>
        <p:nvSpPr>
          <p:cNvPr id="44" name="Text 42"/>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45" name="Text 43"/>
          <p:cNvSpPr txBox="1"/>
          <p:nvPr/>
        </p:nvSpPr>
        <p:spPr>
          <a:xfrm>
            <a:off x="11245453" y="6223000"/>
            <a:ext cx="133747"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05 ／ RESEARCH — 研究データで裏付け</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気づきは研究データでも裏付けられている</a:t>
            </a:r>
            <a:endParaRPr lang="en-US" sz="3200" dirty="0"/>
          </a:p>
        </p:txBody>
      </p:sp>
      <p:sp>
        <p:nvSpPr>
          <p:cNvPr id="4" name="Shape 2"/>
          <p:cNvSpPr/>
          <p:nvPr/>
        </p:nvSpPr>
        <p:spPr>
          <a:xfrm>
            <a:off x="812800" y="1819870"/>
            <a:ext cx="6375400" cy="4022130"/>
          </a:xfrm>
          <a:prstGeom prst="roundRect">
            <a:avLst>
              <a:gd name="adj" fmla="val 574"/>
            </a:avLst>
          </a:prstGeom>
          <a:solidFill>
            <a:srgbClr val="FDFCF9"/>
          </a:solidFill>
          <a:ln w="6350">
            <a:solidFill>
              <a:srgbClr val="E2DED5"/>
            </a:solidFill>
            <a:prstDash val="solid"/>
          </a:ln>
        </p:spPr>
      </p:sp>
      <p:sp>
        <p:nvSpPr>
          <p:cNvPr id="5" name="Text 3"/>
          <p:cNvSpPr txBox="1"/>
          <p:nvPr/>
        </p:nvSpPr>
        <p:spPr>
          <a:xfrm>
            <a:off x="1047750" y="2054820"/>
            <a:ext cx="5905500" cy="254000"/>
          </a:xfrm>
          <a:prstGeom prst="rect">
            <a:avLst/>
          </a:prstGeom>
          <a:noFill/>
          <a:ln/>
        </p:spPr>
        <p:txBody>
          <a:bodyPr wrap="none" lIns="0" tIns="0" rIns="0" bIns="0" rtlCol="0" anchor="t"/>
          <a:lstStyle/>
          <a:p>
            <a:pPr algn="l" indent="0" marL="0">
              <a:lnSpc>
                <a:spcPct val="140000"/>
              </a:lnSpc>
              <a:buNone/>
            </a:pPr>
            <a:r>
              <a:rPr lang="en-US" sz="1400" b="1" dirty="0">
                <a:solidFill>
                  <a:srgbClr val="14213D"/>
                </a:solidFill>
                <a:latin typeface="Hiragino Sans" pitchFamily="34" charset="0"/>
                <a:ea typeface="Hiragino Sans" pitchFamily="34" charset="-122"/>
                <a:cs typeface="Hiragino Sans" pitchFamily="34" charset="-120"/>
              </a:rPr>
              <a:t>採用手法ごとの入社後パフォーマンス予測力</a:t>
            </a:r>
            <a:endParaRPr lang="en-US" sz="1400" dirty="0"/>
          </a:p>
        </p:txBody>
      </p:sp>
      <p:sp>
        <p:nvSpPr>
          <p:cNvPr id="6" name="Text 4"/>
          <p:cNvSpPr txBox="1"/>
          <p:nvPr/>
        </p:nvSpPr>
        <p:spPr>
          <a:xfrm>
            <a:off x="1047750" y="2423120"/>
            <a:ext cx="5905500" cy="222250"/>
          </a:xfrm>
          <a:prstGeom prst="rect">
            <a:avLst/>
          </a:prstGeom>
          <a:noFill/>
          <a:ln/>
        </p:spPr>
        <p:txBody>
          <a:bodyPr wrap="none" lIns="0" tIns="0" rIns="0" bIns="0" rtlCol="0" anchor="t"/>
          <a:lstStyle/>
          <a:p>
            <a:pPr algn="l" indent="0" marL="0">
              <a:lnSpc>
                <a:spcPct val="140000"/>
              </a:lnSpc>
              <a:buNone/>
            </a:pPr>
            <a:r>
              <a:rPr lang="en-US" sz="1200" dirty="0">
                <a:solidFill>
                  <a:srgbClr val="4A5568"/>
                </a:solidFill>
                <a:latin typeface="Hiragino Sans" pitchFamily="34" charset="0"/>
                <a:ea typeface="Hiragino Sans" pitchFamily="34" charset="-122"/>
                <a:cs typeface="Hiragino Sans" pitchFamily="34" charset="-120"/>
              </a:rPr>
              <a:t>相関係数（1.0に近いほど予測が当たる）</a:t>
            </a:r>
            <a:endParaRPr lang="en-US" sz="1200" dirty="0"/>
          </a:p>
        </p:txBody>
      </p:sp>
      <p:sp>
        <p:nvSpPr>
          <p:cNvPr id="7" name="Text 5"/>
          <p:cNvSpPr txBox="1"/>
          <p:nvPr/>
        </p:nvSpPr>
        <p:spPr>
          <a:xfrm>
            <a:off x="1047750" y="2772370"/>
            <a:ext cx="1651000" cy="222250"/>
          </a:xfrm>
          <a:prstGeom prst="rect">
            <a:avLst/>
          </a:prstGeom>
          <a:noFill/>
          <a:ln/>
        </p:spPr>
        <p:txBody>
          <a:bodyPr wrap="none" lIns="0" tIns="0" rIns="0" bIns="0" rtlCol="0" anchor="t"/>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ワークサンプル（実務）</a:t>
            </a:r>
            <a:endParaRPr lang="en-US" sz="1200" dirty="0"/>
          </a:p>
        </p:txBody>
      </p:sp>
      <p:sp>
        <p:nvSpPr>
          <p:cNvPr id="8" name="Shape 6"/>
          <p:cNvSpPr/>
          <p:nvPr/>
        </p:nvSpPr>
        <p:spPr>
          <a:xfrm>
            <a:off x="2800350" y="2769195"/>
            <a:ext cx="3429000" cy="228600"/>
          </a:xfrm>
          <a:prstGeom prst="roundRect">
            <a:avLst>
              <a:gd name="adj" fmla="val 44444"/>
            </a:avLst>
          </a:prstGeom>
          <a:solidFill>
            <a:srgbClr val="E0662B"/>
          </a:solidFill>
          <a:ln/>
        </p:spPr>
      </p:sp>
      <p:sp>
        <p:nvSpPr>
          <p:cNvPr id="9" name="Text 7"/>
          <p:cNvSpPr txBox="1"/>
          <p:nvPr/>
        </p:nvSpPr>
        <p:spPr>
          <a:xfrm>
            <a:off x="6330950" y="2759670"/>
            <a:ext cx="189409" cy="2476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Avenir Next Condensed" pitchFamily="34" charset="0"/>
                <a:ea typeface="Avenir Next Condensed" pitchFamily="34" charset="-122"/>
                <a:cs typeface="Avenir Next Condensed" pitchFamily="34" charset="-120"/>
              </a:rPr>
              <a:t>.54</a:t>
            </a:r>
            <a:endParaRPr lang="en-US" sz="1300" dirty="0"/>
          </a:p>
        </p:txBody>
      </p:sp>
      <p:sp>
        <p:nvSpPr>
          <p:cNvPr id="10" name="Text 8"/>
          <p:cNvSpPr txBox="1"/>
          <p:nvPr/>
        </p:nvSpPr>
        <p:spPr>
          <a:xfrm>
            <a:off x="1047750" y="3108920"/>
            <a:ext cx="1651000" cy="222250"/>
          </a:xfrm>
          <a:prstGeom prst="rect">
            <a:avLst/>
          </a:prstGeom>
          <a:noFill/>
          <a:ln/>
        </p:spPr>
        <p:txBody>
          <a:bodyPr wrap="none" lIns="0" tIns="0" rIns="0" bIns="0" rtlCol="0" anchor="t"/>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構造化面接</a:t>
            </a:r>
            <a:endParaRPr lang="en-US" sz="1200" dirty="0"/>
          </a:p>
        </p:txBody>
      </p:sp>
      <p:sp>
        <p:nvSpPr>
          <p:cNvPr id="11" name="Shape 9"/>
          <p:cNvSpPr/>
          <p:nvPr/>
        </p:nvSpPr>
        <p:spPr>
          <a:xfrm>
            <a:off x="2800350" y="3105745"/>
            <a:ext cx="3238500" cy="228600"/>
          </a:xfrm>
          <a:prstGeom prst="roundRect">
            <a:avLst>
              <a:gd name="adj" fmla="val 44444"/>
            </a:avLst>
          </a:prstGeom>
          <a:solidFill>
            <a:srgbClr val="E0662B"/>
          </a:solidFill>
          <a:ln/>
        </p:spPr>
      </p:sp>
      <p:sp>
        <p:nvSpPr>
          <p:cNvPr id="12" name="Text 10"/>
          <p:cNvSpPr txBox="1"/>
          <p:nvPr/>
        </p:nvSpPr>
        <p:spPr>
          <a:xfrm>
            <a:off x="6140450" y="3096220"/>
            <a:ext cx="172045" cy="2476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Avenir Next Condensed" pitchFamily="34" charset="0"/>
                <a:ea typeface="Avenir Next Condensed" pitchFamily="34" charset="-122"/>
                <a:cs typeface="Avenir Next Condensed" pitchFamily="34" charset="-120"/>
              </a:rPr>
              <a:t>.51</a:t>
            </a:r>
            <a:endParaRPr lang="en-US" sz="1300" dirty="0"/>
          </a:p>
        </p:txBody>
      </p:sp>
      <p:sp>
        <p:nvSpPr>
          <p:cNvPr id="13" name="Text 11"/>
          <p:cNvSpPr txBox="1"/>
          <p:nvPr/>
        </p:nvSpPr>
        <p:spPr>
          <a:xfrm>
            <a:off x="1047750" y="3445470"/>
            <a:ext cx="1651000" cy="222250"/>
          </a:xfrm>
          <a:prstGeom prst="rect">
            <a:avLst/>
          </a:prstGeom>
          <a:noFill/>
          <a:ln/>
        </p:spPr>
        <p:txBody>
          <a:bodyPr wrap="none" lIns="0" tIns="0" rIns="0" bIns="0" rtlCol="0" anchor="t"/>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一般認知能力</a:t>
            </a:r>
            <a:endParaRPr lang="en-US" sz="1200" dirty="0"/>
          </a:p>
        </p:txBody>
      </p:sp>
      <p:sp>
        <p:nvSpPr>
          <p:cNvPr id="14" name="Shape 12"/>
          <p:cNvSpPr/>
          <p:nvPr/>
        </p:nvSpPr>
        <p:spPr>
          <a:xfrm>
            <a:off x="2800350" y="3442295"/>
            <a:ext cx="3238500" cy="228600"/>
          </a:xfrm>
          <a:prstGeom prst="roundRect">
            <a:avLst>
              <a:gd name="adj" fmla="val 44444"/>
            </a:avLst>
          </a:prstGeom>
          <a:solidFill>
            <a:srgbClr val="E0662B"/>
          </a:solidFill>
          <a:ln/>
        </p:spPr>
      </p:sp>
      <p:sp>
        <p:nvSpPr>
          <p:cNvPr id="15" name="Text 13"/>
          <p:cNvSpPr txBox="1"/>
          <p:nvPr/>
        </p:nvSpPr>
        <p:spPr>
          <a:xfrm>
            <a:off x="6140450" y="3432770"/>
            <a:ext cx="172045" cy="2476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Avenir Next Condensed" pitchFamily="34" charset="0"/>
                <a:ea typeface="Avenir Next Condensed" pitchFamily="34" charset="-122"/>
                <a:cs typeface="Avenir Next Condensed" pitchFamily="34" charset="-120"/>
              </a:rPr>
              <a:t>.51</a:t>
            </a:r>
            <a:endParaRPr lang="en-US" sz="1300" dirty="0"/>
          </a:p>
        </p:txBody>
      </p:sp>
      <p:sp>
        <p:nvSpPr>
          <p:cNvPr id="16" name="Text 14"/>
          <p:cNvSpPr txBox="1"/>
          <p:nvPr/>
        </p:nvSpPr>
        <p:spPr>
          <a:xfrm>
            <a:off x="1047750" y="3782020"/>
            <a:ext cx="1651000" cy="222250"/>
          </a:xfrm>
          <a:prstGeom prst="rect">
            <a:avLst/>
          </a:prstGeom>
          <a:noFill/>
          <a:ln/>
        </p:spPr>
        <p:txBody>
          <a:bodyPr wrap="none" lIns="0" tIns="0" rIns="0" bIns="0" rtlCol="0" anchor="t"/>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自由形式の面接</a:t>
            </a:r>
            <a:endParaRPr lang="en-US" sz="1200" dirty="0"/>
          </a:p>
        </p:txBody>
      </p:sp>
      <p:sp>
        <p:nvSpPr>
          <p:cNvPr id="17" name="Shape 15"/>
          <p:cNvSpPr/>
          <p:nvPr/>
        </p:nvSpPr>
        <p:spPr>
          <a:xfrm>
            <a:off x="2800350" y="3778845"/>
            <a:ext cx="2413000" cy="228600"/>
          </a:xfrm>
          <a:prstGeom prst="roundRect">
            <a:avLst>
              <a:gd name="adj" fmla="val 44444"/>
            </a:avLst>
          </a:prstGeom>
          <a:solidFill>
            <a:srgbClr val="A9B1BF"/>
          </a:solidFill>
          <a:ln/>
        </p:spPr>
      </p:sp>
      <p:sp>
        <p:nvSpPr>
          <p:cNvPr id="18" name="Text 16"/>
          <p:cNvSpPr txBox="1"/>
          <p:nvPr/>
        </p:nvSpPr>
        <p:spPr>
          <a:xfrm>
            <a:off x="5314950" y="3769320"/>
            <a:ext cx="192187" cy="2476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Avenir Next Condensed" pitchFamily="34" charset="0"/>
                <a:ea typeface="Avenir Next Condensed" pitchFamily="34" charset="-122"/>
                <a:cs typeface="Avenir Next Condensed" pitchFamily="34" charset="-120"/>
              </a:rPr>
              <a:t>.38</a:t>
            </a:r>
            <a:endParaRPr lang="en-US" sz="1300" dirty="0"/>
          </a:p>
        </p:txBody>
      </p:sp>
      <p:sp>
        <p:nvSpPr>
          <p:cNvPr id="19" name="Text 17"/>
          <p:cNvSpPr txBox="1"/>
          <p:nvPr/>
        </p:nvSpPr>
        <p:spPr>
          <a:xfrm>
            <a:off x="1047750" y="4118570"/>
            <a:ext cx="1651000" cy="222250"/>
          </a:xfrm>
          <a:prstGeom prst="rect">
            <a:avLst/>
          </a:prstGeom>
          <a:noFill/>
          <a:ln/>
        </p:spPr>
        <p:txBody>
          <a:bodyPr wrap="none" lIns="0" tIns="0" rIns="0" bIns="0" rtlCol="0" anchor="t"/>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職務経験年数</a:t>
            </a:r>
            <a:endParaRPr lang="en-US" sz="1200" dirty="0"/>
          </a:p>
        </p:txBody>
      </p:sp>
      <p:sp>
        <p:nvSpPr>
          <p:cNvPr id="20" name="Shape 18"/>
          <p:cNvSpPr/>
          <p:nvPr/>
        </p:nvSpPr>
        <p:spPr>
          <a:xfrm>
            <a:off x="2800350" y="4115395"/>
            <a:ext cx="1143000" cy="228600"/>
          </a:xfrm>
          <a:prstGeom prst="roundRect">
            <a:avLst>
              <a:gd name="adj" fmla="val 44444"/>
            </a:avLst>
          </a:prstGeom>
          <a:solidFill>
            <a:srgbClr val="A9B1BF"/>
          </a:solidFill>
          <a:ln/>
        </p:spPr>
      </p:sp>
      <p:sp>
        <p:nvSpPr>
          <p:cNvPr id="21" name="Text 19"/>
          <p:cNvSpPr txBox="1"/>
          <p:nvPr/>
        </p:nvSpPr>
        <p:spPr>
          <a:xfrm>
            <a:off x="4044950" y="4105870"/>
            <a:ext cx="175915" cy="2476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Avenir Next Condensed" pitchFamily="34" charset="0"/>
                <a:ea typeface="Avenir Next Condensed" pitchFamily="34" charset="-122"/>
                <a:cs typeface="Avenir Next Condensed" pitchFamily="34" charset="-120"/>
              </a:rPr>
              <a:t>.18</a:t>
            </a:r>
            <a:endParaRPr lang="en-US" sz="1300" dirty="0"/>
          </a:p>
        </p:txBody>
      </p:sp>
      <p:sp>
        <p:nvSpPr>
          <p:cNvPr id="22" name="Text 20"/>
          <p:cNvSpPr txBox="1"/>
          <p:nvPr/>
        </p:nvSpPr>
        <p:spPr>
          <a:xfrm>
            <a:off x="1047750" y="4455120"/>
            <a:ext cx="1651000" cy="222250"/>
          </a:xfrm>
          <a:prstGeom prst="rect">
            <a:avLst/>
          </a:prstGeom>
          <a:noFill/>
          <a:ln/>
        </p:spPr>
        <p:txBody>
          <a:bodyPr wrap="none" lIns="0" tIns="0" rIns="0" bIns="0" rtlCol="0" anchor="t"/>
          <a:lstStyle/>
          <a:p>
            <a:pPr algn="l" indent="0" marL="0">
              <a:lnSpc>
                <a:spcPct val="140000"/>
              </a:lnSpc>
              <a:buNone/>
            </a:pPr>
            <a:r>
              <a:rPr lang="en-US" sz="1200" dirty="0">
                <a:solidFill>
                  <a:srgbClr val="14213D"/>
                </a:solidFill>
                <a:latin typeface="Hiragino Sans" pitchFamily="34" charset="0"/>
                <a:ea typeface="Hiragino Sans" pitchFamily="34" charset="-122"/>
                <a:cs typeface="Hiragino Sans" pitchFamily="34" charset="-120"/>
              </a:rPr>
              <a:t>学歴（教育年数）</a:t>
            </a:r>
            <a:endParaRPr lang="en-US" sz="1200" dirty="0"/>
          </a:p>
        </p:txBody>
      </p:sp>
      <p:sp>
        <p:nvSpPr>
          <p:cNvPr id="23" name="Shape 21"/>
          <p:cNvSpPr/>
          <p:nvPr/>
        </p:nvSpPr>
        <p:spPr>
          <a:xfrm>
            <a:off x="2800350" y="4451945"/>
            <a:ext cx="635000" cy="228600"/>
          </a:xfrm>
          <a:prstGeom prst="roundRect">
            <a:avLst>
              <a:gd name="adj" fmla="val 44444"/>
            </a:avLst>
          </a:prstGeom>
          <a:solidFill>
            <a:srgbClr val="A9B1BF"/>
          </a:solidFill>
          <a:ln/>
        </p:spPr>
      </p:sp>
      <p:sp>
        <p:nvSpPr>
          <p:cNvPr id="24" name="Text 22"/>
          <p:cNvSpPr txBox="1"/>
          <p:nvPr/>
        </p:nvSpPr>
        <p:spPr>
          <a:xfrm>
            <a:off x="3536950" y="4442420"/>
            <a:ext cx="178891" cy="2476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Avenir Next Condensed" pitchFamily="34" charset="0"/>
                <a:ea typeface="Avenir Next Condensed" pitchFamily="34" charset="-122"/>
                <a:cs typeface="Avenir Next Condensed" pitchFamily="34" charset="-120"/>
              </a:rPr>
              <a:t>.10</a:t>
            </a:r>
            <a:endParaRPr lang="en-US" sz="1300" dirty="0"/>
          </a:p>
        </p:txBody>
      </p:sp>
      <p:sp>
        <p:nvSpPr>
          <p:cNvPr id="25" name="Text 23"/>
          <p:cNvSpPr txBox="1"/>
          <p:nvPr/>
        </p:nvSpPr>
        <p:spPr>
          <a:xfrm>
            <a:off x="1047750" y="4804370"/>
            <a:ext cx="5905500" cy="228600"/>
          </a:xfrm>
          <a:prstGeom prst="rect">
            <a:avLst/>
          </a:prstGeom>
          <a:noFill/>
          <a:ln/>
        </p:spPr>
        <p:txBody>
          <a:bodyPr wrap="none" lIns="0" tIns="0" rIns="0" bIns="0" rtlCol="0" anchor="t"/>
          <a:lstStyle/>
          <a:p>
            <a:pPr algn="l" indent="0" marL="0">
              <a:lnSpc>
                <a:spcPct val="150000"/>
              </a:lnSpc>
              <a:buNone/>
            </a:pPr>
            <a:r>
              <a:rPr lang="en-US" sz="1200" dirty="0">
                <a:solidFill>
                  <a:srgbClr val="14213D"/>
                </a:solidFill>
                <a:latin typeface="Hiragino Sans" pitchFamily="34" charset="0"/>
                <a:ea typeface="Hiragino Sans" pitchFamily="34" charset="-122"/>
                <a:cs typeface="Hiragino Sans" pitchFamily="34" charset="-120"/>
              </a:rPr>
              <a:t>→ </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「実務させる」「質問を揃える」採用は最も当たる</a:t>
            </a:r>
            <a:pPr algn="l" indent="0" marL="0">
              <a:lnSpc>
                <a:spcPct val="150000"/>
              </a:lnSpc>
              <a:buNone/>
            </a:pPr>
            <a:r>
              <a:rPr lang="en-US" sz="1200" dirty="0">
                <a:solidFill>
                  <a:srgbClr val="14213D"/>
                </a:solidFill>
                <a:latin typeface="Hiragino Sans" pitchFamily="34" charset="0"/>
                <a:ea typeface="Hiragino Sans" pitchFamily="34" charset="-122"/>
                <a:cs typeface="Hiragino Sans" pitchFamily="34" charset="-120"/>
              </a:rPr>
              <a:t>。学歴はほぼ予測しない。</a:t>
            </a:r>
            <a:endParaRPr lang="en-US" sz="1200" dirty="0"/>
          </a:p>
        </p:txBody>
      </p:sp>
      <p:sp>
        <p:nvSpPr>
          <p:cNvPr id="26" name="Shape 24"/>
          <p:cNvSpPr/>
          <p:nvPr/>
        </p:nvSpPr>
        <p:spPr>
          <a:xfrm>
            <a:off x="7442200" y="1819870"/>
            <a:ext cx="3937000" cy="1346200"/>
          </a:xfrm>
          <a:prstGeom prst="roundRect">
            <a:avLst>
              <a:gd name="adj" fmla="val 5126"/>
            </a:avLst>
          </a:prstGeom>
          <a:solidFill>
            <a:srgbClr val="14213D"/>
          </a:solidFill>
          <a:ln/>
        </p:spPr>
      </p:sp>
      <p:sp>
        <p:nvSpPr>
          <p:cNvPr id="27" name="Text 25"/>
          <p:cNvSpPr txBox="1"/>
          <p:nvPr/>
        </p:nvSpPr>
        <p:spPr>
          <a:xfrm>
            <a:off x="7645400" y="1997670"/>
            <a:ext cx="3530600" cy="254000"/>
          </a:xfrm>
          <a:prstGeom prst="rect">
            <a:avLst/>
          </a:prstGeom>
          <a:noFill/>
          <a:ln/>
        </p:spPr>
        <p:txBody>
          <a:bodyPr wrap="none" lIns="0" tIns="0" rIns="0" bIns="0" rtlCol="0" anchor="t"/>
          <a:lstStyle/>
          <a:p>
            <a:pPr algn="l" indent="0" marL="0">
              <a:lnSpc>
                <a:spcPct val="140000"/>
              </a:lnSpc>
              <a:buNone/>
            </a:pPr>
            <a:r>
              <a:rPr lang="en-US" sz="1400" b="1" dirty="0">
                <a:solidFill>
                  <a:srgbClr val="F08A4B"/>
                </a:solidFill>
                <a:latin typeface="Hiragino Sans" pitchFamily="34" charset="0"/>
                <a:ea typeface="Hiragino Sans" pitchFamily="34" charset="-122"/>
                <a:cs typeface="Hiragino Sans" pitchFamily="34" charset="-120"/>
              </a:rPr>
              <a:t>Googleの採用4基準</a:t>
            </a:r>
            <a:endParaRPr lang="en-US" sz="1400" dirty="0"/>
          </a:p>
        </p:txBody>
      </p:sp>
      <p:sp>
        <p:nvSpPr>
          <p:cNvPr id="28" name="Text 26"/>
          <p:cNvSpPr txBox="1"/>
          <p:nvPr/>
        </p:nvSpPr>
        <p:spPr>
          <a:xfrm>
            <a:off x="7645400" y="2302470"/>
            <a:ext cx="3606800" cy="685800"/>
          </a:xfrm>
          <a:prstGeom prst="rect">
            <a:avLst/>
          </a:prstGeom>
          <a:noFill/>
          <a:ln/>
        </p:spPr>
        <p:txBody>
          <a:bodyPr wrap="square" lIns="0" tIns="0" rIns="0" bIns="0" rtlCol="0" anchor="t"/>
          <a:lstStyle/>
          <a:p>
            <a:pPr algn="l" indent="0" marL="0">
              <a:lnSpc>
                <a:spcPct val="150000"/>
              </a:lnSpc>
              <a:buNone/>
            </a:pPr>
            <a:r>
              <a:rPr lang="en-US" sz="1200" dirty="0">
                <a:solidFill>
                  <a:srgbClr val="F6F4EF"/>
                </a:solidFill>
                <a:latin typeface="Hiragino Sans" pitchFamily="34" charset="0"/>
                <a:ea typeface="Hiragino Sans" pitchFamily="34" charset="-122"/>
                <a:cs typeface="Hiragino Sans" pitchFamily="34" charset="-120"/>
              </a:rPr>
              <a:t>①一般認知能力（学習・情報処理） ②リーダーシップ ③Googleらしさ（カルチャーフィット） ④職務に関する知識</a:t>
            </a:r>
            <a:endParaRPr lang="en-US" sz="1200" dirty="0"/>
          </a:p>
        </p:txBody>
      </p:sp>
      <p:sp>
        <p:nvSpPr>
          <p:cNvPr id="29" name="Shape 27"/>
          <p:cNvSpPr/>
          <p:nvPr/>
        </p:nvSpPr>
        <p:spPr>
          <a:xfrm>
            <a:off x="7442200" y="3293070"/>
            <a:ext cx="3937000" cy="1130300"/>
          </a:xfrm>
          <a:prstGeom prst="roundRect">
            <a:avLst>
              <a:gd name="adj" fmla="val 7272"/>
            </a:avLst>
          </a:prstGeom>
          <a:solidFill>
            <a:srgbClr val="FDFCF9"/>
          </a:solidFill>
          <a:ln w="6350">
            <a:solidFill>
              <a:srgbClr val="E2DED5"/>
            </a:solidFill>
            <a:prstDash val="solid"/>
          </a:ln>
        </p:spPr>
      </p:sp>
      <p:sp>
        <p:nvSpPr>
          <p:cNvPr id="30" name="Text 28"/>
          <p:cNvSpPr txBox="1"/>
          <p:nvPr/>
        </p:nvSpPr>
        <p:spPr>
          <a:xfrm>
            <a:off x="7651750" y="3477220"/>
            <a:ext cx="35179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Project Aristotle</a:t>
            </a:r>
            <a:endParaRPr lang="en-US" sz="1400" dirty="0"/>
          </a:p>
        </p:txBody>
      </p:sp>
      <p:sp>
        <p:nvSpPr>
          <p:cNvPr id="31" name="Text 29"/>
          <p:cNvSpPr txBox="1"/>
          <p:nvPr/>
        </p:nvSpPr>
        <p:spPr>
          <a:xfrm>
            <a:off x="7651750" y="3782020"/>
            <a:ext cx="359410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成果を出すチームの最大の要因は</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心理的安全性</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（Google, 2015）</a:t>
            </a:r>
            <a:endParaRPr lang="en-US" sz="1200" dirty="0"/>
          </a:p>
        </p:txBody>
      </p:sp>
      <p:sp>
        <p:nvSpPr>
          <p:cNvPr id="32" name="Shape 30"/>
          <p:cNvSpPr/>
          <p:nvPr/>
        </p:nvSpPr>
        <p:spPr>
          <a:xfrm>
            <a:off x="7442200" y="4550370"/>
            <a:ext cx="3937000" cy="1130300"/>
          </a:xfrm>
          <a:prstGeom prst="roundRect">
            <a:avLst>
              <a:gd name="adj" fmla="val 7272"/>
            </a:avLst>
          </a:prstGeom>
          <a:solidFill>
            <a:srgbClr val="FDFCF9"/>
          </a:solidFill>
          <a:ln w="6350">
            <a:solidFill>
              <a:srgbClr val="E2DED5"/>
            </a:solidFill>
            <a:prstDash val="solid"/>
          </a:ln>
        </p:spPr>
      </p:sp>
      <p:sp>
        <p:nvSpPr>
          <p:cNvPr id="33" name="Text 31"/>
          <p:cNvSpPr txBox="1"/>
          <p:nvPr/>
        </p:nvSpPr>
        <p:spPr>
          <a:xfrm>
            <a:off x="7651750" y="4734520"/>
            <a:ext cx="35179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Project Oxygen</a:t>
            </a:r>
            <a:endParaRPr lang="en-US" sz="1400" dirty="0"/>
          </a:p>
        </p:txBody>
      </p:sp>
      <p:sp>
        <p:nvSpPr>
          <p:cNvPr id="34" name="Text 32"/>
          <p:cNvSpPr txBox="1"/>
          <p:nvPr/>
        </p:nvSpPr>
        <p:spPr>
          <a:xfrm>
            <a:off x="7651750" y="5039320"/>
            <a:ext cx="359410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優れたマネージャーの行動の第1位は</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「良いコーチであること」</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 毎週の1on1</a:t>
            </a:r>
            <a:endParaRPr lang="en-US" sz="1200" dirty="0"/>
          </a:p>
        </p:txBody>
      </p:sp>
      <p:sp>
        <p:nvSpPr>
          <p:cNvPr id="35" name="Text 33"/>
          <p:cNvSpPr txBox="1"/>
          <p:nvPr/>
        </p:nvSpPr>
        <p:spPr>
          <a:xfrm>
            <a:off x="812800" y="6229350"/>
            <a:ext cx="9525000" cy="22225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出典：Schmidt &amp; Hunter (1998) Psychological Bulletin ／ L. Bock『ワーク・ルールズ！』／ Google re:Work</a:t>
            </a:r>
            <a:endParaRPr lang="en-US" sz="1200" dirty="0"/>
          </a:p>
        </p:txBody>
      </p:sp>
      <p:sp>
        <p:nvSpPr>
          <p:cNvPr id="36" name="Text 34"/>
          <p:cNvSpPr txBox="1"/>
          <p:nvPr/>
        </p:nvSpPr>
        <p:spPr>
          <a:xfrm>
            <a:off x="10744200" y="6223000"/>
            <a:ext cx="635000" cy="228600"/>
          </a:xfrm>
          <a:prstGeom prst="rect">
            <a:avLst/>
          </a:prstGeom>
          <a:noFill/>
          <a:ln/>
        </p:spPr>
        <p:txBody>
          <a:bodyPr wrap="none" lIns="0" tIns="0" rIns="0" bIns="0" rtlCol="0" anchor="t"/>
          <a:lstStyle/>
          <a:p>
            <a:pPr algn="r"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F08A4B"/>
                </a:solidFill>
                <a:latin typeface="Avenir Next Condensed" pitchFamily="34" charset="0"/>
                <a:ea typeface="Avenir Next Condensed" pitchFamily="34" charset="-122"/>
                <a:cs typeface="Avenir Next Condensed" pitchFamily="34" charset="-120"/>
              </a:rPr>
              <a:t>05 ／ KEY TAKEAWAYS</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F6F4EF"/>
                </a:solidFill>
                <a:latin typeface="Hiragino Sans" pitchFamily="34" charset="0"/>
                <a:ea typeface="Hiragino Sans" pitchFamily="34" charset="-122"/>
                <a:cs typeface="Hiragino Sans" pitchFamily="34" charset="-120"/>
              </a:rPr>
              <a:t>持ち帰る6つの原則</a:t>
            </a:r>
            <a:endParaRPr lang="en-US" sz="3200" dirty="0"/>
          </a:p>
        </p:txBody>
      </p:sp>
      <p:sp>
        <p:nvSpPr>
          <p:cNvPr id="4" name="Shape 2"/>
          <p:cNvSpPr/>
          <p:nvPr/>
        </p:nvSpPr>
        <p:spPr>
          <a:xfrm>
            <a:off x="812800" y="1896070"/>
            <a:ext cx="3403600" cy="1774031"/>
          </a:xfrm>
          <a:prstGeom prst="roundRect">
            <a:avLst>
              <a:gd name="adj" fmla="val 2952"/>
            </a:avLst>
          </a:prstGeom>
          <a:solidFill>
            <a:srgbClr val="1E2E52"/>
          </a:solidFill>
          <a:ln/>
        </p:spPr>
      </p:sp>
      <p:sp>
        <p:nvSpPr>
          <p:cNvPr id="5" name="Text 3"/>
          <p:cNvSpPr txBox="1"/>
          <p:nvPr/>
        </p:nvSpPr>
        <p:spPr>
          <a:xfrm>
            <a:off x="1041400" y="2124670"/>
            <a:ext cx="2946400" cy="381000"/>
          </a:xfrm>
          <a:prstGeom prst="rect">
            <a:avLst/>
          </a:prstGeom>
          <a:noFill/>
          <a:ln/>
        </p:spPr>
        <p:txBody>
          <a:bodyPr wrap="none" lIns="0" tIns="0" rIns="0" bIns="0" rtlCol="0" anchor="t"/>
          <a:lstStyle/>
          <a:p>
            <a:pPr algn="l" indent="0" marL="0">
              <a:lnSpc>
                <a:spcPct val="140000"/>
              </a:lnSpc>
              <a:buNone/>
            </a:pPr>
            <a:r>
              <a:rPr lang="en-US" sz="2000" dirty="0">
                <a:solidFill>
                  <a:srgbClr val="F08A4B"/>
                </a:solidFill>
                <a:latin typeface="Avenir Next Condensed" pitchFamily="34" charset="0"/>
                <a:ea typeface="Avenir Next Condensed" pitchFamily="34" charset="-122"/>
                <a:cs typeface="Avenir Next Condensed" pitchFamily="34" charset="-120"/>
              </a:rPr>
              <a:t>01</a:t>
            </a:r>
            <a:endParaRPr lang="en-US" sz="2000" dirty="0"/>
          </a:p>
        </p:txBody>
      </p:sp>
      <p:sp>
        <p:nvSpPr>
          <p:cNvPr id="6" name="Text 4"/>
          <p:cNvSpPr txBox="1"/>
          <p:nvPr/>
        </p:nvSpPr>
        <p:spPr>
          <a:xfrm>
            <a:off x="1041400" y="2581870"/>
            <a:ext cx="2946400" cy="311150"/>
          </a:xfrm>
          <a:prstGeom prst="rect">
            <a:avLst/>
          </a:prstGeom>
          <a:noFill/>
          <a:ln/>
        </p:spPr>
        <p:txBody>
          <a:bodyPr wrap="none" lIns="0" tIns="0" rIns="0" bIns="0" rtlCol="0" anchor="t"/>
          <a:lstStyle/>
          <a:p>
            <a:pPr algn="l" indent="0" marL="0">
              <a:lnSpc>
                <a:spcPct val="140000"/>
              </a:lnSpc>
              <a:buNone/>
            </a:pPr>
            <a:r>
              <a:rPr lang="en-US" sz="1700" b="1" dirty="0">
                <a:solidFill>
                  <a:srgbClr val="F6F4EF"/>
                </a:solidFill>
                <a:latin typeface="Hiragino Sans" pitchFamily="34" charset="0"/>
                <a:ea typeface="Hiragino Sans" pitchFamily="34" charset="-122"/>
                <a:cs typeface="Hiragino Sans" pitchFamily="34" charset="-120"/>
              </a:rPr>
              <a:t>仕組みで人が動く</a:t>
            </a:r>
            <a:endParaRPr lang="en-US" sz="1700" dirty="0"/>
          </a:p>
        </p:txBody>
      </p:sp>
      <p:sp>
        <p:nvSpPr>
          <p:cNvPr id="7" name="Text 5"/>
          <p:cNvSpPr txBox="1"/>
          <p:nvPr/>
        </p:nvSpPr>
        <p:spPr>
          <a:xfrm>
            <a:off x="1041400" y="2969220"/>
            <a:ext cx="3022600" cy="472281"/>
          </a:xfrm>
          <a:prstGeom prst="rect">
            <a:avLst/>
          </a:prstGeom>
          <a:noFill/>
          <a:ln/>
        </p:spPr>
        <p:txBody>
          <a:bodyPr wrap="square" lIns="0" tIns="0" rIns="0" bIns="0" rtlCol="0" anchor="t"/>
          <a:lstStyle/>
          <a:p>
            <a:pPr algn="l" indent="0" marL="0">
              <a:lnSpc>
                <a:spcPct val="155000"/>
              </a:lnSpc>
              <a:buNone/>
            </a:pPr>
            <a:r>
              <a:rPr lang="en-US" sz="1200" dirty="0">
                <a:solidFill>
                  <a:srgbClr val="C9D3E6"/>
                </a:solidFill>
                <a:latin typeface="Hiragino Sans" pitchFamily="34" charset="0"/>
                <a:ea typeface="Hiragino Sans" pitchFamily="34" charset="-122"/>
                <a:cs typeface="Hiragino Sans" pitchFamily="34" charset="-120"/>
              </a:rPr>
              <a:t>頑張りに頼らず、サボれない・成果が出る仕組みをつくる</a:t>
            </a:r>
            <a:endParaRPr lang="en-US" sz="1200" dirty="0"/>
          </a:p>
        </p:txBody>
      </p:sp>
      <p:sp>
        <p:nvSpPr>
          <p:cNvPr id="8" name="Shape 6"/>
          <p:cNvSpPr/>
          <p:nvPr/>
        </p:nvSpPr>
        <p:spPr>
          <a:xfrm>
            <a:off x="4394200" y="1896070"/>
            <a:ext cx="3403600" cy="1774031"/>
          </a:xfrm>
          <a:prstGeom prst="roundRect">
            <a:avLst>
              <a:gd name="adj" fmla="val 2952"/>
            </a:avLst>
          </a:prstGeom>
          <a:solidFill>
            <a:srgbClr val="1E2E52"/>
          </a:solidFill>
          <a:ln/>
        </p:spPr>
      </p:sp>
      <p:sp>
        <p:nvSpPr>
          <p:cNvPr id="9" name="Text 7"/>
          <p:cNvSpPr txBox="1"/>
          <p:nvPr/>
        </p:nvSpPr>
        <p:spPr>
          <a:xfrm>
            <a:off x="4622800" y="2124670"/>
            <a:ext cx="2946400" cy="381000"/>
          </a:xfrm>
          <a:prstGeom prst="rect">
            <a:avLst/>
          </a:prstGeom>
          <a:noFill/>
          <a:ln/>
        </p:spPr>
        <p:txBody>
          <a:bodyPr wrap="none" lIns="0" tIns="0" rIns="0" bIns="0" rtlCol="0" anchor="t"/>
          <a:lstStyle/>
          <a:p>
            <a:pPr algn="l" indent="0" marL="0">
              <a:lnSpc>
                <a:spcPct val="140000"/>
              </a:lnSpc>
              <a:buNone/>
            </a:pPr>
            <a:r>
              <a:rPr lang="en-US" sz="2000" dirty="0">
                <a:solidFill>
                  <a:srgbClr val="F08A4B"/>
                </a:solidFill>
                <a:latin typeface="Avenir Next Condensed" pitchFamily="34" charset="0"/>
                <a:ea typeface="Avenir Next Condensed" pitchFamily="34" charset="-122"/>
                <a:cs typeface="Avenir Next Condensed" pitchFamily="34" charset="-120"/>
              </a:rPr>
              <a:t>02</a:t>
            </a:r>
            <a:endParaRPr lang="en-US" sz="2000" dirty="0"/>
          </a:p>
        </p:txBody>
      </p:sp>
      <p:sp>
        <p:nvSpPr>
          <p:cNvPr id="10" name="Text 8"/>
          <p:cNvSpPr txBox="1"/>
          <p:nvPr/>
        </p:nvSpPr>
        <p:spPr>
          <a:xfrm>
            <a:off x="4622800" y="2581870"/>
            <a:ext cx="2946400" cy="311150"/>
          </a:xfrm>
          <a:prstGeom prst="rect">
            <a:avLst/>
          </a:prstGeom>
          <a:noFill/>
          <a:ln/>
        </p:spPr>
        <p:txBody>
          <a:bodyPr wrap="none" lIns="0" tIns="0" rIns="0" bIns="0" rtlCol="0" anchor="t"/>
          <a:lstStyle/>
          <a:p>
            <a:pPr algn="l" indent="0" marL="0">
              <a:lnSpc>
                <a:spcPct val="140000"/>
              </a:lnSpc>
              <a:buNone/>
            </a:pPr>
            <a:r>
              <a:rPr lang="en-US" sz="1700" b="1" dirty="0">
                <a:solidFill>
                  <a:srgbClr val="F6F4EF"/>
                </a:solidFill>
                <a:latin typeface="Hiragino Sans" pitchFamily="34" charset="0"/>
                <a:ea typeface="Hiragino Sans" pitchFamily="34" charset="-122"/>
                <a:cs typeface="Hiragino Sans" pitchFamily="34" charset="-120"/>
              </a:rPr>
              <a:t>成果だけを見る</a:t>
            </a:r>
            <a:endParaRPr lang="en-US" sz="1700" dirty="0"/>
          </a:p>
        </p:txBody>
      </p:sp>
      <p:sp>
        <p:nvSpPr>
          <p:cNvPr id="11" name="Text 9"/>
          <p:cNvSpPr txBox="1"/>
          <p:nvPr/>
        </p:nvSpPr>
        <p:spPr>
          <a:xfrm>
            <a:off x="4622800" y="2969220"/>
            <a:ext cx="3022600" cy="472281"/>
          </a:xfrm>
          <a:prstGeom prst="rect">
            <a:avLst/>
          </a:prstGeom>
          <a:noFill/>
          <a:ln/>
        </p:spPr>
        <p:txBody>
          <a:bodyPr wrap="square" lIns="0" tIns="0" rIns="0" bIns="0" rtlCol="0" anchor="t"/>
          <a:lstStyle/>
          <a:p>
            <a:pPr algn="l" indent="0" marL="0">
              <a:lnSpc>
                <a:spcPct val="155000"/>
              </a:lnSpc>
              <a:buNone/>
            </a:pPr>
            <a:r>
              <a:rPr lang="en-US" sz="1200" dirty="0">
                <a:solidFill>
                  <a:srgbClr val="C9D3E6"/>
                </a:solidFill>
                <a:latin typeface="Hiragino Sans" pitchFamily="34" charset="0"/>
                <a:ea typeface="Hiragino Sans" pitchFamily="34" charset="-122"/>
                <a:cs typeface="Hiragino Sans" pitchFamily="34" charset="-120"/>
              </a:rPr>
              <a:t>時間ではなく成果。短い時間で出すほど価値がある</a:t>
            </a:r>
            <a:endParaRPr lang="en-US" sz="1200" dirty="0"/>
          </a:p>
        </p:txBody>
      </p:sp>
      <p:sp>
        <p:nvSpPr>
          <p:cNvPr id="12" name="Shape 10"/>
          <p:cNvSpPr/>
          <p:nvPr/>
        </p:nvSpPr>
        <p:spPr>
          <a:xfrm>
            <a:off x="7975600" y="1896070"/>
            <a:ext cx="3403600" cy="1774031"/>
          </a:xfrm>
          <a:prstGeom prst="roundRect">
            <a:avLst>
              <a:gd name="adj" fmla="val 2952"/>
            </a:avLst>
          </a:prstGeom>
          <a:solidFill>
            <a:srgbClr val="1E2E52"/>
          </a:solidFill>
          <a:ln/>
        </p:spPr>
      </p:sp>
      <p:sp>
        <p:nvSpPr>
          <p:cNvPr id="13" name="Text 11"/>
          <p:cNvSpPr txBox="1"/>
          <p:nvPr/>
        </p:nvSpPr>
        <p:spPr>
          <a:xfrm>
            <a:off x="8204200" y="2124670"/>
            <a:ext cx="2946400" cy="381000"/>
          </a:xfrm>
          <a:prstGeom prst="rect">
            <a:avLst/>
          </a:prstGeom>
          <a:noFill/>
          <a:ln/>
        </p:spPr>
        <p:txBody>
          <a:bodyPr wrap="none" lIns="0" tIns="0" rIns="0" bIns="0" rtlCol="0" anchor="t"/>
          <a:lstStyle/>
          <a:p>
            <a:pPr algn="l" indent="0" marL="0">
              <a:lnSpc>
                <a:spcPct val="140000"/>
              </a:lnSpc>
              <a:buNone/>
            </a:pPr>
            <a:r>
              <a:rPr lang="en-US" sz="2000" dirty="0">
                <a:solidFill>
                  <a:srgbClr val="F08A4B"/>
                </a:solidFill>
                <a:latin typeface="Avenir Next Condensed" pitchFamily="34" charset="0"/>
                <a:ea typeface="Avenir Next Condensed" pitchFamily="34" charset="-122"/>
                <a:cs typeface="Avenir Next Condensed" pitchFamily="34" charset="-120"/>
              </a:rPr>
              <a:t>03</a:t>
            </a:r>
            <a:endParaRPr lang="en-US" sz="2000" dirty="0"/>
          </a:p>
        </p:txBody>
      </p:sp>
      <p:sp>
        <p:nvSpPr>
          <p:cNvPr id="14" name="Text 12"/>
          <p:cNvSpPr txBox="1"/>
          <p:nvPr/>
        </p:nvSpPr>
        <p:spPr>
          <a:xfrm>
            <a:off x="8204200" y="2581870"/>
            <a:ext cx="2946400" cy="311150"/>
          </a:xfrm>
          <a:prstGeom prst="rect">
            <a:avLst/>
          </a:prstGeom>
          <a:noFill/>
          <a:ln/>
        </p:spPr>
        <p:txBody>
          <a:bodyPr wrap="none" lIns="0" tIns="0" rIns="0" bIns="0" rtlCol="0" anchor="t"/>
          <a:lstStyle/>
          <a:p>
            <a:pPr algn="l" indent="0" marL="0">
              <a:lnSpc>
                <a:spcPct val="140000"/>
              </a:lnSpc>
              <a:buNone/>
            </a:pPr>
            <a:r>
              <a:rPr lang="en-US" sz="1700" b="1" dirty="0">
                <a:solidFill>
                  <a:srgbClr val="F6F4EF"/>
                </a:solidFill>
                <a:latin typeface="Hiragino Sans" pitchFamily="34" charset="0"/>
                <a:ea typeface="Hiragino Sans" pitchFamily="34" charset="-122"/>
                <a:cs typeface="Hiragino Sans" pitchFamily="34" charset="-120"/>
              </a:rPr>
              <a:t>キャリアは自分で作る</a:t>
            </a:r>
            <a:endParaRPr lang="en-US" sz="1700" dirty="0"/>
          </a:p>
        </p:txBody>
      </p:sp>
      <p:sp>
        <p:nvSpPr>
          <p:cNvPr id="15" name="Text 13"/>
          <p:cNvSpPr txBox="1"/>
          <p:nvPr/>
        </p:nvSpPr>
        <p:spPr>
          <a:xfrm>
            <a:off x="8204200" y="2969220"/>
            <a:ext cx="3022600" cy="472281"/>
          </a:xfrm>
          <a:prstGeom prst="rect">
            <a:avLst/>
          </a:prstGeom>
          <a:noFill/>
          <a:ln/>
        </p:spPr>
        <p:txBody>
          <a:bodyPr wrap="square" lIns="0" tIns="0" rIns="0" bIns="0" rtlCol="0" anchor="t"/>
          <a:lstStyle/>
          <a:p>
            <a:pPr algn="l" indent="0" marL="0">
              <a:lnSpc>
                <a:spcPct val="155000"/>
              </a:lnSpc>
              <a:buNone/>
            </a:pPr>
            <a:r>
              <a:rPr lang="en-US" sz="1200" dirty="0">
                <a:solidFill>
                  <a:srgbClr val="C9D3E6"/>
                </a:solidFill>
                <a:latin typeface="Hiragino Sans" pitchFamily="34" charset="0"/>
                <a:ea typeface="Hiragino Sans" pitchFamily="34" charset="-122"/>
                <a:cs typeface="Hiragino Sans" pitchFamily="34" charset="-120"/>
              </a:rPr>
              <a:t>やりたい仕事に手を挙げ、必要な学びは自分で選ぶ</a:t>
            </a:r>
            <a:endParaRPr lang="en-US" sz="1200" dirty="0"/>
          </a:p>
        </p:txBody>
      </p:sp>
      <p:sp>
        <p:nvSpPr>
          <p:cNvPr id="16" name="Shape 14"/>
          <p:cNvSpPr/>
          <p:nvPr/>
        </p:nvSpPr>
        <p:spPr>
          <a:xfrm>
            <a:off x="812800" y="3847902"/>
            <a:ext cx="3403600" cy="1774031"/>
          </a:xfrm>
          <a:prstGeom prst="roundRect">
            <a:avLst>
              <a:gd name="adj" fmla="val 2952"/>
            </a:avLst>
          </a:prstGeom>
          <a:solidFill>
            <a:srgbClr val="1E2E52"/>
          </a:solidFill>
          <a:ln/>
        </p:spPr>
      </p:sp>
      <p:sp>
        <p:nvSpPr>
          <p:cNvPr id="17" name="Text 15"/>
          <p:cNvSpPr txBox="1"/>
          <p:nvPr/>
        </p:nvSpPr>
        <p:spPr>
          <a:xfrm>
            <a:off x="1041400" y="4076502"/>
            <a:ext cx="2946400" cy="381000"/>
          </a:xfrm>
          <a:prstGeom prst="rect">
            <a:avLst/>
          </a:prstGeom>
          <a:noFill/>
          <a:ln/>
        </p:spPr>
        <p:txBody>
          <a:bodyPr wrap="none" lIns="0" tIns="0" rIns="0" bIns="0" rtlCol="0" anchor="t"/>
          <a:lstStyle/>
          <a:p>
            <a:pPr algn="l" indent="0" marL="0">
              <a:lnSpc>
                <a:spcPct val="140000"/>
              </a:lnSpc>
              <a:buNone/>
            </a:pPr>
            <a:r>
              <a:rPr lang="en-US" sz="2000" dirty="0">
                <a:solidFill>
                  <a:srgbClr val="F08A4B"/>
                </a:solidFill>
                <a:latin typeface="Avenir Next Condensed" pitchFamily="34" charset="0"/>
                <a:ea typeface="Avenir Next Condensed" pitchFamily="34" charset="-122"/>
                <a:cs typeface="Avenir Next Condensed" pitchFamily="34" charset="-120"/>
              </a:rPr>
              <a:t>04</a:t>
            </a:r>
            <a:endParaRPr lang="en-US" sz="2000" dirty="0"/>
          </a:p>
        </p:txBody>
      </p:sp>
      <p:sp>
        <p:nvSpPr>
          <p:cNvPr id="18" name="Text 16"/>
          <p:cNvSpPr txBox="1"/>
          <p:nvPr/>
        </p:nvSpPr>
        <p:spPr>
          <a:xfrm>
            <a:off x="1041400" y="4533702"/>
            <a:ext cx="2946400" cy="311150"/>
          </a:xfrm>
          <a:prstGeom prst="rect">
            <a:avLst/>
          </a:prstGeom>
          <a:noFill/>
          <a:ln/>
        </p:spPr>
        <p:txBody>
          <a:bodyPr wrap="none" lIns="0" tIns="0" rIns="0" bIns="0" rtlCol="0" anchor="t"/>
          <a:lstStyle/>
          <a:p>
            <a:pPr algn="l" indent="0" marL="0">
              <a:lnSpc>
                <a:spcPct val="140000"/>
              </a:lnSpc>
              <a:buNone/>
            </a:pPr>
            <a:r>
              <a:rPr lang="en-US" sz="1700" b="1" dirty="0">
                <a:solidFill>
                  <a:srgbClr val="F6F4EF"/>
                </a:solidFill>
                <a:latin typeface="Hiragino Sans" pitchFamily="34" charset="0"/>
                <a:ea typeface="Hiragino Sans" pitchFamily="34" charset="-122"/>
                <a:cs typeface="Hiragino Sans" pitchFamily="34" charset="-120"/>
              </a:rPr>
              <a:t>採用は実務で見抜く</a:t>
            </a:r>
            <a:endParaRPr lang="en-US" sz="1700" dirty="0"/>
          </a:p>
        </p:txBody>
      </p:sp>
      <p:sp>
        <p:nvSpPr>
          <p:cNvPr id="19" name="Text 17"/>
          <p:cNvSpPr txBox="1"/>
          <p:nvPr/>
        </p:nvSpPr>
        <p:spPr>
          <a:xfrm>
            <a:off x="1041400" y="4921052"/>
            <a:ext cx="3022600" cy="472281"/>
          </a:xfrm>
          <a:prstGeom prst="rect">
            <a:avLst/>
          </a:prstGeom>
          <a:noFill/>
          <a:ln/>
        </p:spPr>
        <p:txBody>
          <a:bodyPr wrap="square" lIns="0" tIns="0" rIns="0" bIns="0" rtlCol="0" anchor="t"/>
          <a:lstStyle/>
          <a:p>
            <a:pPr algn="l" indent="0" marL="0">
              <a:lnSpc>
                <a:spcPct val="155000"/>
              </a:lnSpc>
              <a:buNone/>
            </a:pPr>
            <a:r>
              <a:rPr lang="en-US" sz="1200" dirty="0">
                <a:solidFill>
                  <a:srgbClr val="C9D3E6"/>
                </a:solidFill>
                <a:latin typeface="Hiragino Sans" pitchFamily="34" charset="0"/>
                <a:ea typeface="Hiragino Sans" pitchFamily="34" charset="-122"/>
                <a:cs typeface="Hiragino Sans" pitchFamily="34" charset="-120"/>
              </a:rPr>
              <a:t>学歴ではなく、情報処理能力と成果の出し方を見る</a:t>
            </a:r>
            <a:endParaRPr lang="en-US" sz="1200" dirty="0"/>
          </a:p>
        </p:txBody>
      </p:sp>
      <p:sp>
        <p:nvSpPr>
          <p:cNvPr id="20" name="Shape 18"/>
          <p:cNvSpPr/>
          <p:nvPr/>
        </p:nvSpPr>
        <p:spPr>
          <a:xfrm>
            <a:off x="4394200" y="3847902"/>
            <a:ext cx="3403600" cy="1774031"/>
          </a:xfrm>
          <a:prstGeom prst="roundRect">
            <a:avLst>
              <a:gd name="adj" fmla="val 2952"/>
            </a:avLst>
          </a:prstGeom>
          <a:solidFill>
            <a:srgbClr val="1E2E52"/>
          </a:solidFill>
          <a:ln/>
        </p:spPr>
      </p:sp>
      <p:sp>
        <p:nvSpPr>
          <p:cNvPr id="21" name="Text 19"/>
          <p:cNvSpPr txBox="1"/>
          <p:nvPr/>
        </p:nvSpPr>
        <p:spPr>
          <a:xfrm>
            <a:off x="4622800" y="4076502"/>
            <a:ext cx="2946400" cy="381000"/>
          </a:xfrm>
          <a:prstGeom prst="rect">
            <a:avLst/>
          </a:prstGeom>
          <a:noFill/>
          <a:ln/>
        </p:spPr>
        <p:txBody>
          <a:bodyPr wrap="none" lIns="0" tIns="0" rIns="0" bIns="0" rtlCol="0" anchor="t"/>
          <a:lstStyle/>
          <a:p>
            <a:pPr algn="l" indent="0" marL="0">
              <a:lnSpc>
                <a:spcPct val="140000"/>
              </a:lnSpc>
              <a:buNone/>
            </a:pPr>
            <a:r>
              <a:rPr lang="en-US" sz="2000" dirty="0">
                <a:solidFill>
                  <a:srgbClr val="F08A4B"/>
                </a:solidFill>
                <a:latin typeface="Avenir Next Condensed" pitchFamily="34" charset="0"/>
                <a:ea typeface="Avenir Next Condensed" pitchFamily="34" charset="-122"/>
                <a:cs typeface="Avenir Next Condensed" pitchFamily="34" charset="-120"/>
              </a:rPr>
              <a:t>05</a:t>
            </a:r>
            <a:endParaRPr lang="en-US" sz="2000" dirty="0"/>
          </a:p>
        </p:txBody>
      </p:sp>
      <p:sp>
        <p:nvSpPr>
          <p:cNvPr id="22" name="Text 20"/>
          <p:cNvSpPr txBox="1"/>
          <p:nvPr/>
        </p:nvSpPr>
        <p:spPr>
          <a:xfrm>
            <a:off x="4622800" y="4533702"/>
            <a:ext cx="2946400" cy="311150"/>
          </a:xfrm>
          <a:prstGeom prst="rect">
            <a:avLst/>
          </a:prstGeom>
          <a:noFill/>
          <a:ln/>
        </p:spPr>
        <p:txBody>
          <a:bodyPr wrap="none" lIns="0" tIns="0" rIns="0" bIns="0" rtlCol="0" anchor="t"/>
          <a:lstStyle/>
          <a:p>
            <a:pPr algn="l" indent="0" marL="0">
              <a:lnSpc>
                <a:spcPct val="140000"/>
              </a:lnSpc>
              <a:buNone/>
            </a:pPr>
            <a:r>
              <a:rPr lang="en-US" sz="1700" b="1" dirty="0">
                <a:solidFill>
                  <a:srgbClr val="F6F4EF"/>
                </a:solidFill>
                <a:latin typeface="Hiragino Sans" pitchFamily="34" charset="0"/>
                <a:ea typeface="Hiragino Sans" pitchFamily="34" charset="-122"/>
                <a:cs typeface="Hiragino Sans" pitchFamily="34" charset="-120"/>
              </a:rPr>
              <a:t>管理職ほど現場へ</a:t>
            </a:r>
            <a:endParaRPr lang="en-US" sz="1700" dirty="0"/>
          </a:p>
        </p:txBody>
      </p:sp>
      <p:sp>
        <p:nvSpPr>
          <p:cNvPr id="23" name="Text 21"/>
          <p:cNvSpPr txBox="1"/>
          <p:nvPr/>
        </p:nvSpPr>
        <p:spPr>
          <a:xfrm>
            <a:off x="4622800" y="4921052"/>
            <a:ext cx="3022600" cy="472281"/>
          </a:xfrm>
          <a:prstGeom prst="rect">
            <a:avLst/>
          </a:prstGeom>
          <a:noFill/>
          <a:ln/>
        </p:spPr>
        <p:txBody>
          <a:bodyPr wrap="square" lIns="0" tIns="0" rIns="0" bIns="0" rtlCol="0" anchor="t"/>
          <a:lstStyle/>
          <a:p>
            <a:pPr algn="l" indent="0" marL="0">
              <a:lnSpc>
                <a:spcPct val="155000"/>
              </a:lnSpc>
              <a:buNone/>
            </a:pPr>
            <a:r>
              <a:rPr lang="en-US" sz="1200" dirty="0">
                <a:solidFill>
                  <a:srgbClr val="C9D3E6"/>
                </a:solidFill>
                <a:latin typeface="Hiragino Sans" pitchFamily="34" charset="0"/>
                <a:ea typeface="Hiragino Sans" pitchFamily="34" charset="-122"/>
                <a:cs typeface="Hiragino Sans" pitchFamily="34" charset="-120"/>
              </a:rPr>
              <a:t>間接費を最小化し、売上に関わる人を増やす</a:t>
            </a:r>
            <a:endParaRPr lang="en-US" sz="1200" dirty="0"/>
          </a:p>
        </p:txBody>
      </p:sp>
      <p:sp>
        <p:nvSpPr>
          <p:cNvPr id="24" name="Shape 22"/>
          <p:cNvSpPr/>
          <p:nvPr/>
        </p:nvSpPr>
        <p:spPr>
          <a:xfrm>
            <a:off x="7975600" y="3847902"/>
            <a:ext cx="3403600" cy="1774031"/>
          </a:xfrm>
          <a:prstGeom prst="roundRect">
            <a:avLst>
              <a:gd name="adj" fmla="val 2952"/>
            </a:avLst>
          </a:prstGeom>
          <a:solidFill>
            <a:srgbClr val="1E2E52"/>
          </a:solidFill>
          <a:ln/>
        </p:spPr>
      </p:sp>
      <p:sp>
        <p:nvSpPr>
          <p:cNvPr id="25" name="Text 23"/>
          <p:cNvSpPr txBox="1"/>
          <p:nvPr/>
        </p:nvSpPr>
        <p:spPr>
          <a:xfrm>
            <a:off x="8204200" y="4076502"/>
            <a:ext cx="2946400" cy="381000"/>
          </a:xfrm>
          <a:prstGeom prst="rect">
            <a:avLst/>
          </a:prstGeom>
          <a:noFill/>
          <a:ln/>
        </p:spPr>
        <p:txBody>
          <a:bodyPr wrap="none" lIns="0" tIns="0" rIns="0" bIns="0" rtlCol="0" anchor="t"/>
          <a:lstStyle/>
          <a:p>
            <a:pPr algn="l" indent="0" marL="0">
              <a:lnSpc>
                <a:spcPct val="140000"/>
              </a:lnSpc>
              <a:buNone/>
            </a:pPr>
            <a:r>
              <a:rPr lang="en-US" sz="2000" dirty="0">
                <a:solidFill>
                  <a:srgbClr val="F08A4B"/>
                </a:solidFill>
                <a:latin typeface="Avenir Next Condensed" pitchFamily="34" charset="0"/>
                <a:ea typeface="Avenir Next Condensed" pitchFamily="34" charset="-122"/>
                <a:cs typeface="Avenir Next Condensed" pitchFamily="34" charset="-120"/>
              </a:rPr>
              <a:t>06</a:t>
            </a:r>
            <a:endParaRPr lang="en-US" sz="2000" dirty="0"/>
          </a:p>
        </p:txBody>
      </p:sp>
      <p:sp>
        <p:nvSpPr>
          <p:cNvPr id="26" name="Text 24"/>
          <p:cNvSpPr txBox="1"/>
          <p:nvPr/>
        </p:nvSpPr>
        <p:spPr>
          <a:xfrm>
            <a:off x="8204200" y="4533702"/>
            <a:ext cx="2946400" cy="311150"/>
          </a:xfrm>
          <a:prstGeom prst="rect">
            <a:avLst/>
          </a:prstGeom>
          <a:noFill/>
          <a:ln/>
        </p:spPr>
        <p:txBody>
          <a:bodyPr wrap="none" lIns="0" tIns="0" rIns="0" bIns="0" rtlCol="0" anchor="t"/>
          <a:lstStyle/>
          <a:p>
            <a:pPr algn="l" indent="0" marL="0">
              <a:lnSpc>
                <a:spcPct val="140000"/>
              </a:lnSpc>
              <a:buNone/>
            </a:pPr>
            <a:r>
              <a:rPr lang="en-US" sz="1700" b="1" dirty="0">
                <a:solidFill>
                  <a:srgbClr val="F6F4EF"/>
                </a:solidFill>
                <a:latin typeface="Hiragino Sans" pitchFamily="34" charset="0"/>
                <a:ea typeface="Hiragino Sans" pitchFamily="34" charset="-122"/>
                <a:cs typeface="Hiragino Sans" pitchFamily="34" charset="-120"/>
              </a:rPr>
              <a:t>夢中になれる仕事</a:t>
            </a:r>
            <a:endParaRPr lang="en-US" sz="1700" dirty="0"/>
          </a:p>
        </p:txBody>
      </p:sp>
      <p:sp>
        <p:nvSpPr>
          <p:cNvPr id="27" name="Text 25"/>
          <p:cNvSpPr txBox="1"/>
          <p:nvPr/>
        </p:nvSpPr>
        <p:spPr>
          <a:xfrm>
            <a:off x="8204200" y="4921052"/>
            <a:ext cx="3022600" cy="472281"/>
          </a:xfrm>
          <a:prstGeom prst="rect">
            <a:avLst/>
          </a:prstGeom>
          <a:noFill/>
          <a:ln/>
        </p:spPr>
        <p:txBody>
          <a:bodyPr wrap="square" lIns="0" tIns="0" rIns="0" bIns="0" rtlCol="0" anchor="t"/>
          <a:lstStyle/>
          <a:p>
            <a:pPr algn="l" indent="0" marL="0">
              <a:lnSpc>
                <a:spcPct val="155000"/>
              </a:lnSpc>
              <a:buNone/>
            </a:pPr>
            <a:r>
              <a:rPr lang="en-US" sz="1200" dirty="0">
                <a:solidFill>
                  <a:srgbClr val="C9D3E6"/>
                </a:solidFill>
                <a:latin typeface="Hiragino Sans" pitchFamily="34" charset="0"/>
                <a:ea typeface="Hiragino Sans" pitchFamily="34" charset="-122"/>
                <a:cs typeface="Hiragino Sans" pitchFamily="34" charset="-120"/>
              </a:rPr>
              <a:t>好きなことを仕事にできる人が最強。適材適所を設計する</a:t>
            </a:r>
            <a:endParaRPr lang="en-US" sz="1200" dirty="0"/>
          </a:p>
        </p:txBody>
      </p:sp>
      <p:sp>
        <p:nvSpPr>
          <p:cNvPr id="28" name="Text 26"/>
          <p:cNvSpPr txBox="1"/>
          <p:nvPr/>
        </p:nvSpPr>
        <p:spPr>
          <a:xfrm>
            <a:off x="812800" y="6223000"/>
            <a:ext cx="2599333" cy="228600"/>
          </a:xfrm>
          <a:prstGeom prst="rect">
            <a:avLst/>
          </a:prstGeom>
          <a:noFill/>
          <a:ln/>
        </p:spPr>
        <p:txBody>
          <a:bodyPr wrap="none" lIns="0" tIns="0" rIns="0" bIns="0" rtlCol="0" anchor="t"/>
          <a:lstStyle/>
          <a:p>
            <a:pPr algn="l" indent="0" marL="0">
              <a:lnSpc>
                <a:spcPct val="140000"/>
              </a:lnSpc>
              <a:buNone/>
            </a:pPr>
            <a:r>
              <a:rPr lang="en-US" sz="1200" dirty="0">
                <a:solidFill>
                  <a:srgbClr val="8E9BB5"/>
                </a:solidFill>
                <a:latin typeface="Hiragino Sans" pitchFamily="34" charset="0"/>
                <a:ea typeface="Hiragino Sans" pitchFamily="34" charset="-122"/>
                <a:cs typeface="Hiragino Sans" pitchFamily="34" charset="-120"/>
              </a:rPr>
              <a:t>シリコンバレー企業研修 報告 2026.10</a:t>
            </a:r>
            <a:endParaRPr lang="en-US" sz="1200" dirty="0"/>
          </a:p>
        </p:txBody>
      </p:sp>
      <p:sp>
        <p:nvSpPr>
          <p:cNvPr id="29" name="Text 27"/>
          <p:cNvSpPr txBox="1"/>
          <p:nvPr/>
        </p:nvSpPr>
        <p:spPr>
          <a:xfrm>
            <a:off x="11227495" y="6223000"/>
            <a:ext cx="151705" cy="228600"/>
          </a:xfrm>
          <a:prstGeom prst="rect">
            <a:avLst/>
          </a:prstGeom>
          <a:noFill/>
          <a:ln/>
        </p:spPr>
        <p:txBody>
          <a:bodyPr wrap="none" lIns="0" tIns="0" rIns="0" bIns="0" rtlCol="0" anchor="t"/>
          <a:lstStyle/>
          <a:p>
            <a:pPr algn="l" indent="0" marL="0">
              <a:lnSpc>
                <a:spcPct val="140000"/>
              </a:lnSpc>
              <a:buNone/>
            </a:pPr>
            <a:r>
              <a:rPr lang="en-US" sz="1200" dirty="0">
                <a:solidFill>
                  <a:srgbClr val="8E9BB5"/>
                </a:solidFill>
                <a:latin typeface="Avenir Next Condensed" pitchFamily="34" charset="0"/>
                <a:ea typeface="Avenir Next Condensed" pitchFamily="34" charset="-122"/>
                <a:cs typeface="Avenir Next Condensed"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06 ／ ACTION PLAN — 全体像</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研修後アクション：4つの柱</a:t>
            </a:r>
            <a:endParaRPr lang="en-US" sz="3200" dirty="0"/>
          </a:p>
        </p:txBody>
      </p:sp>
      <p:sp>
        <p:nvSpPr>
          <p:cNvPr id="4" name="Shape 2"/>
          <p:cNvSpPr/>
          <p:nvPr/>
        </p:nvSpPr>
        <p:spPr>
          <a:xfrm>
            <a:off x="812800" y="1896070"/>
            <a:ext cx="2527300" cy="3299222"/>
          </a:xfrm>
          <a:prstGeom prst="roundRect">
            <a:avLst>
              <a:gd name="adj" fmla="val 1455"/>
            </a:avLst>
          </a:prstGeom>
          <a:solidFill>
            <a:srgbClr val="FDFCF9"/>
          </a:solidFill>
          <a:ln/>
        </p:spPr>
      </p:sp>
      <p:sp>
        <p:nvSpPr>
          <p:cNvPr id="5" name="Shape 3"/>
          <p:cNvSpPr/>
          <p:nvPr/>
        </p:nvSpPr>
        <p:spPr>
          <a:xfrm>
            <a:off x="812800" y="1896070"/>
            <a:ext cx="2527300" cy="50800"/>
          </a:xfrm>
          <a:prstGeom prst="rect">
            <a:avLst/>
          </a:prstGeom>
          <a:solidFill>
            <a:srgbClr val="E0662B"/>
          </a:solidFill>
          <a:ln/>
        </p:spPr>
      </p:sp>
      <p:sp>
        <p:nvSpPr>
          <p:cNvPr id="6" name="Shape 4"/>
          <p:cNvSpPr/>
          <p:nvPr/>
        </p:nvSpPr>
        <p:spPr>
          <a:xfrm>
            <a:off x="3333750" y="1896070"/>
            <a:ext cx="6350" cy="3299222"/>
          </a:xfrm>
          <a:prstGeom prst="rect">
            <a:avLst/>
          </a:prstGeom>
          <a:solidFill>
            <a:srgbClr val="E2DED5"/>
          </a:solidFill>
          <a:ln/>
        </p:spPr>
      </p:sp>
      <p:sp>
        <p:nvSpPr>
          <p:cNvPr id="7" name="Shape 5"/>
          <p:cNvSpPr/>
          <p:nvPr/>
        </p:nvSpPr>
        <p:spPr>
          <a:xfrm>
            <a:off x="812800" y="5188942"/>
            <a:ext cx="2527300" cy="6350"/>
          </a:xfrm>
          <a:prstGeom prst="rect">
            <a:avLst/>
          </a:prstGeom>
          <a:solidFill>
            <a:srgbClr val="E2DED5"/>
          </a:solidFill>
          <a:ln/>
        </p:spPr>
      </p:sp>
      <p:sp>
        <p:nvSpPr>
          <p:cNvPr id="8" name="Shape 6"/>
          <p:cNvSpPr/>
          <p:nvPr/>
        </p:nvSpPr>
        <p:spPr>
          <a:xfrm>
            <a:off x="812800" y="1896070"/>
            <a:ext cx="6350" cy="3299222"/>
          </a:xfrm>
          <a:prstGeom prst="rect">
            <a:avLst/>
          </a:prstGeom>
          <a:solidFill>
            <a:srgbClr val="E2DED5"/>
          </a:solidFill>
          <a:ln/>
        </p:spPr>
      </p:sp>
      <p:sp>
        <p:nvSpPr>
          <p:cNvPr id="9" name="Text 7"/>
          <p:cNvSpPr txBox="1"/>
          <p:nvPr/>
        </p:nvSpPr>
        <p:spPr>
          <a:xfrm>
            <a:off x="1022350" y="2175470"/>
            <a:ext cx="2108200" cy="304800"/>
          </a:xfrm>
          <a:prstGeom prst="rect">
            <a:avLst/>
          </a:prstGeom>
          <a:noFill/>
          <a:ln/>
        </p:spPr>
        <p:txBody>
          <a:bodyPr wrap="none" lIns="0" tIns="0" rIns="0" bIns="0" rtlCol="0" anchor="t"/>
          <a:lstStyle/>
          <a:p>
            <a:pPr algn="l" indent="0" marL="0">
              <a:lnSpc>
                <a:spcPct val="100000"/>
              </a:lnSpc>
              <a:buNone/>
            </a:pPr>
            <a:r>
              <a:rPr lang="en-US" sz="2400" dirty="0">
                <a:solidFill>
                  <a:srgbClr val="B4481A"/>
                </a:solidFill>
                <a:latin typeface="Avenir Next Condensed" pitchFamily="34" charset="0"/>
                <a:ea typeface="Avenir Next Condensed" pitchFamily="34" charset="-122"/>
                <a:cs typeface="Avenir Next Condensed" pitchFamily="34" charset="-120"/>
              </a:rPr>
              <a:t>01</a:t>
            </a:r>
            <a:endParaRPr lang="en-US" sz="2400" dirty="0"/>
          </a:p>
        </p:txBody>
      </p:sp>
      <p:sp>
        <p:nvSpPr>
          <p:cNvPr id="10" name="Text 8"/>
          <p:cNvSpPr txBox="1"/>
          <p:nvPr/>
        </p:nvSpPr>
        <p:spPr>
          <a:xfrm>
            <a:off x="1022350" y="2607270"/>
            <a:ext cx="2108200" cy="274241"/>
          </a:xfrm>
          <a:prstGeom prst="rect">
            <a:avLst/>
          </a:prstGeom>
          <a:noFill/>
          <a:ln/>
        </p:spPr>
        <p:txBody>
          <a:bodyPr wrap="none" lIns="0" tIns="0" rIns="0" bIns="0" rtlCol="0" anchor="t"/>
          <a:lstStyle/>
          <a:p>
            <a:pPr algn="l" indent="0" marL="0">
              <a:lnSpc>
                <a:spcPct val="135000"/>
              </a:lnSpc>
              <a:buNone/>
            </a:pPr>
            <a:r>
              <a:rPr lang="en-US" sz="1600" b="1" dirty="0">
                <a:solidFill>
                  <a:srgbClr val="14213D"/>
                </a:solidFill>
                <a:latin typeface="Hiragino Sans" pitchFamily="34" charset="0"/>
                <a:ea typeface="Hiragino Sans" pitchFamily="34" charset="-122"/>
                <a:cs typeface="Hiragino Sans" pitchFamily="34" charset="-120"/>
              </a:rPr>
              <a:t>人事ファネルの構築</a:t>
            </a:r>
            <a:endParaRPr lang="en-US" sz="1600" dirty="0"/>
          </a:p>
        </p:txBody>
      </p:sp>
      <p:sp>
        <p:nvSpPr>
          <p:cNvPr id="11" name="Shape 9"/>
          <p:cNvSpPr/>
          <p:nvPr/>
        </p:nvSpPr>
        <p:spPr>
          <a:xfrm>
            <a:off x="1022350" y="3008511"/>
            <a:ext cx="2108200" cy="387350"/>
          </a:xfrm>
          <a:prstGeom prst="roundRect">
            <a:avLst>
              <a:gd name="adj" fmla="val 30959"/>
            </a:avLst>
          </a:prstGeom>
          <a:solidFill>
            <a:srgbClr val="F1ECE3"/>
          </a:solidFill>
          <a:ln/>
        </p:spPr>
      </p:sp>
      <p:sp>
        <p:nvSpPr>
          <p:cNvPr id="12" name="Text 10"/>
          <p:cNvSpPr txBox="1"/>
          <p:nvPr/>
        </p:nvSpPr>
        <p:spPr>
          <a:xfrm>
            <a:off x="1149350" y="3084711"/>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採用</a:t>
            </a:r>
            <a:endParaRPr lang="en-US" sz="1300" dirty="0"/>
          </a:p>
        </p:txBody>
      </p:sp>
      <p:sp>
        <p:nvSpPr>
          <p:cNvPr id="13" name="Shape 11"/>
          <p:cNvSpPr/>
          <p:nvPr/>
        </p:nvSpPr>
        <p:spPr>
          <a:xfrm>
            <a:off x="1022350" y="3472061"/>
            <a:ext cx="2108200" cy="387350"/>
          </a:xfrm>
          <a:prstGeom prst="roundRect">
            <a:avLst>
              <a:gd name="adj" fmla="val 30959"/>
            </a:avLst>
          </a:prstGeom>
          <a:solidFill>
            <a:srgbClr val="F1ECE3"/>
          </a:solidFill>
          <a:ln/>
        </p:spPr>
      </p:sp>
      <p:sp>
        <p:nvSpPr>
          <p:cNvPr id="14" name="Text 12"/>
          <p:cNvSpPr txBox="1"/>
          <p:nvPr/>
        </p:nvSpPr>
        <p:spPr>
          <a:xfrm>
            <a:off x="1149350" y="3548261"/>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離脱</a:t>
            </a:r>
            <a:endParaRPr lang="en-US" sz="1300" dirty="0"/>
          </a:p>
        </p:txBody>
      </p:sp>
      <p:sp>
        <p:nvSpPr>
          <p:cNvPr id="15" name="Text 13"/>
          <p:cNvSpPr txBox="1"/>
          <p:nvPr/>
        </p:nvSpPr>
        <p:spPr>
          <a:xfrm>
            <a:off x="1022350" y="3986411"/>
            <a:ext cx="2184400" cy="472281"/>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入社から教育・離脱までを一本の流れとして設計する</a:t>
            </a:r>
            <a:endParaRPr lang="en-US" sz="1200" dirty="0"/>
          </a:p>
        </p:txBody>
      </p:sp>
      <p:sp>
        <p:nvSpPr>
          <p:cNvPr id="16" name="Shape 14"/>
          <p:cNvSpPr/>
          <p:nvPr/>
        </p:nvSpPr>
        <p:spPr>
          <a:xfrm>
            <a:off x="3492500" y="1896070"/>
            <a:ext cx="2527300" cy="3299222"/>
          </a:xfrm>
          <a:prstGeom prst="roundRect">
            <a:avLst>
              <a:gd name="adj" fmla="val 1455"/>
            </a:avLst>
          </a:prstGeom>
          <a:solidFill>
            <a:srgbClr val="FDFCF9"/>
          </a:solidFill>
          <a:ln/>
        </p:spPr>
      </p:sp>
      <p:sp>
        <p:nvSpPr>
          <p:cNvPr id="17" name="Shape 15"/>
          <p:cNvSpPr/>
          <p:nvPr/>
        </p:nvSpPr>
        <p:spPr>
          <a:xfrm>
            <a:off x="3492500" y="1896070"/>
            <a:ext cx="2527300" cy="50800"/>
          </a:xfrm>
          <a:prstGeom prst="rect">
            <a:avLst/>
          </a:prstGeom>
          <a:solidFill>
            <a:srgbClr val="E0662B"/>
          </a:solidFill>
          <a:ln/>
        </p:spPr>
      </p:sp>
      <p:sp>
        <p:nvSpPr>
          <p:cNvPr id="18" name="Shape 16"/>
          <p:cNvSpPr/>
          <p:nvPr/>
        </p:nvSpPr>
        <p:spPr>
          <a:xfrm>
            <a:off x="6013450" y="1896070"/>
            <a:ext cx="6350" cy="3299222"/>
          </a:xfrm>
          <a:prstGeom prst="rect">
            <a:avLst/>
          </a:prstGeom>
          <a:solidFill>
            <a:srgbClr val="E2DED5"/>
          </a:solidFill>
          <a:ln/>
        </p:spPr>
      </p:sp>
      <p:sp>
        <p:nvSpPr>
          <p:cNvPr id="19" name="Shape 17"/>
          <p:cNvSpPr/>
          <p:nvPr/>
        </p:nvSpPr>
        <p:spPr>
          <a:xfrm>
            <a:off x="3492500" y="5188942"/>
            <a:ext cx="2527300" cy="6350"/>
          </a:xfrm>
          <a:prstGeom prst="rect">
            <a:avLst/>
          </a:prstGeom>
          <a:solidFill>
            <a:srgbClr val="E2DED5"/>
          </a:solidFill>
          <a:ln/>
        </p:spPr>
      </p:sp>
      <p:sp>
        <p:nvSpPr>
          <p:cNvPr id="20" name="Shape 18"/>
          <p:cNvSpPr/>
          <p:nvPr/>
        </p:nvSpPr>
        <p:spPr>
          <a:xfrm>
            <a:off x="3492500" y="1896070"/>
            <a:ext cx="6350" cy="3299222"/>
          </a:xfrm>
          <a:prstGeom prst="rect">
            <a:avLst/>
          </a:prstGeom>
          <a:solidFill>
            <a:srgbClr val="E2DED5"/>
          </a:solidFill>
          <a:ln/>
        </p:spPr>
      </p:sp>
      <p:sp>
        <p:nvSpPr>
          <p:cNvPr id="21" name="Text 19"/>
          <p:cNvSpPr txBox="1"/>
          <p:nvPr/>
        </p:nvSpPr>
        <p:spPr>
          <a:xfrm>
            <a:off x="3702050" y="2175470"/>
            <a:ext cx="2108200" cy="304800"/>
          </a:xfrm>
          <a:prstGeom prst="rect">
            <a:avLst/>
          </a:prstGeom>
          <a:noFill/>
          <a:ln/>
        </p:spPr>
        <p:txBody>
          <a:bodyPr wrap="none" lIns="0" tIns="0" rIns="0" bIns="0" rtlCol="0" anchor="t"/>
          <a:lstStyle/>
          <a:p>
            <a:pPr algn="l" indent="0" marL="0">
              <a:lnSpc>
                <a:spcPct val="100000"/>
              </a:lnSpc>
              <a:buNone/>
            </a:pPr>
            <a:r>
              <a:rPr lang="en-US" sz="2400" dirty="0">
                <a:solidFill>
                  <a:srgbClr val="B4481A"/>
                </a:solidFill>
                <a:latin typeface="Avenir Next Condensed" pitchFamily="34" charset="0"/>
                <a:ea typeface="Avenir Next Condensed" pitchFamily="34" charset="-122"/>
                <a:cs typeface="Avenir Next Condensed" pitchFamily="34" charset="-120"/>
              </a:rPr>
              <a:t>02</a:t>
            </a:r>
            <a:endParaRPr lang="en-US" sz="2400" dirty="0"/>
          </a:p>
        </p:txBody>
      </p:sp>
      <p:sp>
        <p:nvSpPr>
          <p:cNvPr id="22" name="Text 20"/>
          <p:cNvSpPr txBox="1"/>
          <p:nvPr/>
        </p:nvSpPr>
        <p:spPr>
          <a:xfrm>
            <a:off x="3702050" y="2607270"/>
            <a:ext cx="2184400" cy="548481"/>
          </a:xfrm>
          <a:prstGeom prst="rect">
            <a:avLst/>
          </a:prstGeom>
          <a:noFill/>
          <a:ln/>
        </p:spPr>
        <p:txBody>
          <a:bodyPr wrap="square" lIns="0" tIns="0" rIns="0" bIns="0" rtlCol="0" anchor="t"/>
          <a:lstStyle/>
          <a:p>
            <a:pPr algn="l" indent="0" marL="0">
              <a:lnSpc>
                <a:spcPct val="135000"/>
              </a:lnSpc>
              <a:buNone/>
            </a:pPr>
            <a:r>
              <a:rPr lang="en-US" sz="1600" b="1" dirty="0">
                <a:solidFill>
                  <a:srgbClr val="14213D"/>
                </a:solidFill>
                <a:latin typeface="Hiragino Sans" pitchFamily="34" charset="0"/>
                <a:ea typeface="Hiragino Sans" pitchFamily="34" charset="-122"/>
                <a:cs typeface="Hiragino Sans" pitchFamily="34" charset="-120"/>
              </a:rPr>
              <a:t>採用現状把握ツールの構築</a:t>
            </a:r>
            <a:endParaRPr lang="en-US" sz="1600" dirty="0"/>
          </a:p>
        </p:txBody>
      </p:sp>
      <p:sp>
        <p:nvSpPr>
          <p:cNvPr id="23" name="Shape 21"/>
          <p:cNvSpPr/>
          <p:nvPr/>
        </p:nvSpPr>
        <p:spPr>
          <a:xfrm>
            <a:off x="3702050" y="3282752"/>
            <a:ext cx="2108200" cy="387350"/>
          </a:xfrm>
          <a:prstGeom prst="roundRect">
            <a:avLst>
              <a:gd name="adj" fmla="val 30959"/>
            </a:avLst>
          </a:prstGeom>
          <a:solidFill>
            <a:srgbClr val="F1ECE3"/>
          </a:solidFill>
          <a:ln/>
        </p:spPr>
      </p:sp>
      <p:sp>
        <p:nvSpPr>
          <p:cNvPr id="24" name="Text 22"/>
          <p:cNvSpPr txBox="1"/>
          <p:nvPr/>
        </p:nvSpPr>
        <p:spPr>
          <a:xfrm>
            <a:off x="3829050" y="3358952"/>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媒体</a:t>
            </a:r>
            <a:endParaRPr lang="en-US" sz="1300" dirty="0"/>
          </a:p>
        </p:txBody>
      </p:sp>
      <p:sp>
        <p:nvSpPr>
          <p:cNvPr id="25" name="Shape 23"/>
          <p:cNvSpPr/>
          <p:nvPr/>
        </p:nvSpPr>
        <p:spPr>
          <a:xfrm>
            <a:off x="3702050" y="3746302"/>
            <a:ext cx="2108200" cy="387350"/>
          </a:xfrm>
          <a:prstGeom prst="roundRect">
            <a:avLst>
              <a:gd name="adj" fmla="val 30959"/>
            </a:avLst>
          </a:prstGeom>
          <a:solidFill>
            <a:srgbClr val="F1ECE3"/>
          </a:solidFill>
          <a:ln/>
        </p:spPr>
      </p:sp>
      <p:sp>
        <p:nvSpPr>
          <p:cNvPr id="26" name="Text 24"/>
          <p:cNvSpPr txBox="1"/>
          <p:nvPr/>
        </p:nvSpPr>
        <p:spPr>
          <a:xfrm>
            <a:off x="3829050" y="3822502"/>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人材</a:t>
            </a:r>
            <a:endParaRPr lang="en-US" sz="1300" dirty="0"/>
          </a:p>
        </p:txBody>
      </p:sp>
      <p:sp>
        <p:nvSpPr>
          <p:cNvPr id="27" name="Text 25"/>
          <p:cNvSpPr txBox="1"/>
          <p:nvPr/>
        </p:nvSpPr>
        <p:spPr>
          <a:xfrm>
            <a:off x="3702050" y="4260652"/>
            <a:ext cx="2184400" cy="472281"/>
          </a:xfrm>
          <a:prstGeom prst="rect">
            <a:avLst/>
          </a:prstGeom>
          <a:noFill/>
          <a:ln/>
        </p:spPr>
        <p:txBody>
          <a:bodyPr wrap="squar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媒体と人の進捗を管理表で見える化する</a:t>
            </a:r>
            <a:endParaRPr lang="en-US" sz="1200" dirty="0"/>
          </a:p>
        </p:txBody>
      </p:sp>
      <p:sp>
        <p:nvSpPr>
          <p:cNvPr id="28" name="Shape 26"/>
          <p:cNvSpPr/>
          <p:nvPr/>
        </p:nvSpPr>
        <p:spPr>
          <a:xfrm>
            <a:off x="6172200" y="1896070"/>
            <a:ext cx="2527300" cy="3299222"/>
          </a:xfrm>
          <a:prstGeom prst="roundRect">
            <a:avLst>
              <a:gd name="adj" fmla="val 1455"/>
            </a:avLst>
          </a:prstGeom>
          <a:solidFill>
            <a:srgbClr val="FDFCF9"/>
          </a:solidFill>
          <a:ln/>
        </p:spPr>
      </p:sp>
      <p:sp>
        <p:nvSpPr>
          <p:cNvPr id="29" name="Shape 27"/>
          <p:cNvSpPr/>
          <p:nvPr/>
        </p:nvSpPr>
        <p:spPr>
          <a:xfrm>
            <a:off x="6172200" y="1896070"/>
            <a:ext cx="2527300" cy="50800"/>
          </a:xfrm>
          <a:prstGeom prst="rect">
            <a:avLst/>
          </a:prstGeom>
          <a:solidFill>
            <a:srgbClr val="E0662B"/>
          </a:solidFill>
          <a:ln/>
        </p:spPr>
      </p:sp>
      <p:sp>
        <p:nvSpPr>
          <p:cNvPr id="30" name="Shape 28"/>
          <p:cNvSpPr/>
          <p:nvPr/>
        </p:nvSpPr>
        <p:spPr>
          <a:xfrm>
            <a:off x="8693150" y="1896070"/>
            <a:ext cx="6350" cy="3299222"/>
          </a:xfrm>
          <a:prstGeom prst="rect">
            <a:avLst/>
          </a:prstGeom>
          <a:solidFill>
            <a:srgbClr val="E2DED5"/>
          </a:solidFill>
          <a:ln/>
        </p:spPr>
      </p:sp>
      <p:sp>
        <p:nvSpPr>
          <p:cNvPr id="31" name="Shape 29"/>
          <p:cNvSpPr/>
          <p:nvPr/>
        </p:nvSpPr>
        <p:spPr>
          <a:xfrm>
            <a:off x="6172200" y="5188942"/>
            <a:ext cx="2527300" cy="6350"/>
          </a:xfrm>
          <a:prstGeom prst="rect">
            <a:avLst/>
          </a:prstGeom>
          <a:solidFill>
            <a:srgbClr val="E2DED5"/>
          </a:solidFill>
          <a:ln/>
        </p:spPr>
      </p:sp>
      <p:sp>
        <p:nvSpPr>
          <p:cNvPr id="32" name="Shape 30"/>
          <p:cNvSpPr/>
          <p:nvPr/>
        </p:nvSpPr>
        <p:spPr>
          <a:xfrm>
            <a:off x="6172200" y="1896070"/>
            <a:ext cx="6350" cy="3299222"/>
          </a:xfrm>
          <a:prstGeom prst="rect">
            <a:avLst/>
          </a:prstGeom>
          <a:solidFill>
            <a:srgbClr val="E2DED5"/>
          </a:solidFill>
          <a:ln/>
        </p:spPr>
      </p:sp>
      <p:sp>
        <p:nvSpPr>
          <p:cNvPr id="33" name="Text 31"/>
          <p:cNvSpPr txBox="1"/>
          <p:nvPr/>
        </p:nvSpPr>
        <p:spPr>
          <a:xfrm>
            <a:off x="6381750" y="2175470"/>
            <a:ext cx="2108200" cy="304800"/>
          </a:xfrm>
          <a:prstGeom prst="rect">
            <a:avLst/>
          </a:prstGeom>
          <a:noFill/>
          <a:ln/>
        </p:spPr>
        <p:txBody>
          <a:bodyPr wrap="none" lIns="0" tIns="0" rIns="0" bIns="0" rtlCol="0" anchor="t"/>
          <a:lstStyle/>
          <a:p>
            <a:pPr algn="l" indent="0" marL="0">
              <a:lnSpc>
                <a:spcPct val="100000"/>
              </a:lnSpc>
              <a:buNone/>
            </a:pPr>
            <a:r>
              <a:rPr lang="en-US" sz="2400" dirty="0">
                <a:solidFill>
                  <a:srgbClr val="B4481A"/>
                </a:solidFill>
                <a:latin typeface="Avenir Next Condensed" pitchFamily="34" charset="0"/>
                <a:ea typeface="Avenir Next Condensed" pitchFamily="34" charset="-122"/>
                <a:cs typeface="Avenir Next Condensed" pitchFamily="34" charset="-120"/>
              </a:rPr>
              <a:t>03</a:t>
            </a:r>
            <a:endParaRPr lang="en-US" sz="2400" dirty="0"/>
          </a:p>
        </p:txBody>
      </p:sp>
      <p:sp>
        <p:nvSpPr>
          <p:cNvPr id="34" name="Text 32"/>
          <p:cNvSpPr txBox="1"/>
          <p:nvPr/>
        </p:nvSpPr>
        <p:spPr>
          <a:xfrm>
            <a:off x="6381750" y="2607270"/>
            <a:ext cx="2184400" cy="548481"/>
          </a:xfrm>
          <a:prstGeom prst="rect">
            <a:avLst/>
          </a:prstGeom>
          <a:noFill/>
          <a:ln/>
        </p:spPr>
        <p:txBody>
          <a:bodyPr wrap="square" lIns="0" tIns="0" rIns="0" bIns="0" rtlCol="0" anchor="t"/>
          <a:lstStyle/>
          <a:p>
            <a:pPr algn="l" indent="0" marL="0">
              <a:lnSpc>
                <a:spcPct val="135000"/>
              </a:lnSpc>
              <a:buNone/>
            </a:pPr>
            <a:r>
              <a:rPr lang="en-US" sz="1600" b="1" dirty="0">
                <a:solidFill>
                  <a:srgbClr val="14213D"/>
                </a:solidFill>
                <a:latin typeface="Hiragino Sans" pitchFamily="34" charset="0"/>
                <a:ea typeface="Hiragino Sans" pitchFamily="34" charset="-122"/>
                <a:cs typeface="Hiragino Sans" pitchFamily="34" charset="-120"/>
              </a:rPr>
              <a:t>リストブランディングの強化</a:t>
            </a:r>
            <a:endParaRPr lang="en-US" sz="1600" dirty="0"/>
          </a:p>
        </p:txBody>
      </p:sp>
      <p:sp>
        <p:nvSpPr>
          <p:cNvPr id="35" name="Shape 33"/>
          <p:cNvSpPr/>
          <p:nvPr/>
        </p:nvSpPr>
        <p:spPr>
          <a:xfrm>
            <a:off x="6381750" y="3282752"/>
            <a:ext cx="2108200" cy="387350"/>
          </a:xfrm>
          <a:prstGeom prst="roundRect">
            <a:avLst>
              <a:gd name="adj" fmla="val 30959"/>
            </a:avLst>
          </a:prstGeom>
          <a:solidFill>
            <a:srgbClr val="F1ECE3"/>
          </a:solidFill>
          <a:ln/>
        </p:spPr>
      </p:sp>
      <p:sp>
        <p:nvSpPr>
          <p:cNvPr id="36" name="Text 34"/>
          <p:cNvSpPr txBox="1"/>
          <p:nvPr/>
        </p:nvSpPr>
        <p:spPr>
          <a:xfrm>
            <a:off x="6508750" y="3358952"/>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SNS</a:t>
            </a:r>
            <a:endParaRPr lang="en-US" sz="1300" dirty="0"/>
          </a:p>
        </p:txBody>
      </p:sp>
      <p:sp>
        <p:nvSpPr>
          <p:cNvPr id="37" name="Shape 35"/>
          <p:cNvSpPr/>
          <p:nvPr/>
        </p:nvSpPr>
        <p:spPr>
          <a:xfrm>
            <a:off x="6381750" y="3746302"/>
            <a:ext cx="2108200" cy="387350"/>
          </a:xfrm>
          <a:prstGeom prst="roundRect">
            <a:avLst>
              <a:gd name="adj" fmla="val 30959"/>
            </a:avLst>
          </a:prstGeom>
          <a:solidFill>
            <a:srgbClr val="F1ECE3"/>
          </a:solidFill>
          <a:ln/>
        </p:spPr>
      </p:sp>
      <p:sp>
        <p:nvSpPr>
          <p:cNvPr id="38" name="Text 36"/>
          <p:cNvSpPr txBox="1"/>
          <p:nvPr/>
        </p:nvSpPr>
        <p:spPr>
          <a:xfrm>
            <a:off x="6508750" y="3822502"/>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メール</a:t>
            </a:r>
            <a:endParaRPr lang="en-US" sz="1300" dirty="0"/>
          </a:p>
        </p:txBody>
      </p:sp>
      <p:sp>
        <p:nvSpPr>
          <p:cNvPr id="39" name="Shape 37"/>
          <p:cNvSpPr/>
          <p:nvPr/>
        </p:nvSpPr>
        <p:spPr>
          <a:xfrm>
            <a:off x="6381750" y="4209852"/>
            <a:ext cx="2108200" cy="387350"/>
          </a:xfrm>
          <a:prstGeom prst="roundRect">
            <a:avLst>
              <a:gd name="adj" fmla="val 30959"/>
            </a:avLst>
          </a:prstGeom>
          <a:solidFill>
            <a:srgbClr val="F1ECE3"/>
          </a:solidFill>
          <a:ln/>
        </p:spPr>
      </p:sp>
      <p:sp>
        <p:nvSpPr>
          <p:cNvPr id="40" name="Text 38"/>
          <p:cNvSpPr txBox="1"/>
          <p:nvPr/>
        </p:nvSpPr>
        <p:spPr>
          <a:xfrm>
            <a:off x="6508750" y="4286052"/>
            <a:ext cx="1854200" cy="234950"/>
          </a:xfrm>
          <a:prstGeom prst="rect">
            <a:avLst/>
          </a:prstGeom>
          <a:noFill/>
          <a:ln/>
        </p:spPr>
        <p:txBody>
          <a:bodyPr wrap="none" lIns="0" tIns="0" rIns="0" bIns="0" rtlCol="0" anchor="t"/>
          <a:lstStyle/>
          <a:p>
            <a:pPr algn="l" indent="0" marL="0">
              <a:lnSpc>
                <a:spcPct val="140000"/>
              </a:lnSpc>
              <a:buNone/>
            </a:pPr>
            <a:r>
              <a:rPr lang="en-US" sz="1300" dirty="0">
                <a:solidFill>
                  <a:srgbClr val="14213D"/>
                </a:solidFill>
                <a:latin typeface="Hiragino Sans" pitchFamily="34" charset="0"/>
                <a:ea typeface="Hiragino Sans" pitchFamily="34" charset="-122"/>
                <a:cs typeface="Hiragino Sans" pitchFamily="34" charset="-120"/>
              </a:rPr>
              <a:t>LINE</a:t>
            </a:r>
            <a:endParaRPr lang="en-US" sz="1300" dirty="0"/>
          </a:p>
        </p:txBody>
      </p:sp>
      <p:sp>
        <p:nvSpPr>
          <p:cNvPr id="41" name="Text 39"/>
          <p:cNvSpPr txBox="1"/>
          <p:nvPr/>
        </p:nvSpPr>
        <p:spPr>
          <a:xfrm>
            <a:off x="6381750" y="4724202"/>
            <a:ext cx="2108200" cy="236141"/>
          </a:xfrm>
          <a:prstGeom prst="rect">
            <a:avLst/>
          </a:prstGeom>
          <a:noFill/>
          <a:ln/>
        </p:spPr>
        <p:txBody>
          <a:bodyPr wrap="none" lIns="0" tIns="0" rIns="0" bIns="0" rtlCol="0" anchor="t"/>
          <a:lstStyle/>
          <a:p>
            <a:pPr algn="l" indent="0" marL="0">
              <a:lnSpc>
                <a:spcPct val="155000"/>
              </a:lnSpc>
              <a:buNone/>
            </a:pPr>
            <a:r>
              <a:rPr lang="en-US" sz="1200" dirty="0">
                <a:solidFill>
                  <a:srgbClr val="4A5568"/>
                </a:solidFill>
                <a:latin typeface="Hiragino Sans" pitchFamily="34" charset="0"/>
                <a:ea typeface="Hiragino Sans" pitchFamily="34" charset="-122"/>
                <a:cs typeface="Hiragino Sans" pitchFamily="34" charset="-120"/>
              </a:rPr>
              <a:t>パーソナライズを全面に出す</a:t>
            </a:r>
            <a:endParaRPr lang="en-US" sz="1200" dirty="0"/>
          </a:p>
        </p:txBody>
      </p:sp>
      <p:sp>
        <p:nvSpPr>
          <p:cNvPr id="42" name="Shape 40"/>
          <p:cNvSpPr/>
          <p:nvPr/>
        </p:nvSpPr>
        <p:spPr>
          <a:xfrm>
            <a:off x="8851900" y="1896070"/>
            <a:ext cx="2527300" cy="3299222"/>
          </a:xfrm>
          <a:prstGeom prst="roundRect">
            <a:avLst>
              <a:gd name="adj" fmla="val 1455"/>
            </a:avLst>
          </a:prstGeom>
          <a:solidFill>
            <a:srgbClr val="14213D"/>
          </a:solidFill>
          <a:ln/>
        </p:spPr>
      </p:sp>
      <p:sp>
        <p:nvSpPr>
          <p:cNvPr id="43" name="Shape 41"/>
          <p:cNvSpPr/>
          <p:nvPr/>
        </p:nvSpPr>
        <p:spPr>
          <a:xfrm>
            <a:off x="8851900" y="1896070"/>
            <a:ext cx="2527300" cy="50800"/>
          </a:xfrm>
          <a:prstGeom prst="rect">
            <a:avLst/>
          </a:prstGeom>
          <a:solidFill>
            <a:srgbClr val="E0662B"/>
          </a:solidFill>
          <a:ln/>
        </p:spPr>
      </p:sp>
      <p:sp>
        <p:nvSpPr>
          <p:cNvPr id="44" name="Text 42"/>
          <p:cNvSpPr txBox="1"/>
          <p:nvPr/>
        </p:nvSpPr>
        <p:spPr>
          <a:xfrm>
            <a:off x="9055100" y="2175470"/>
            <a:ext cx="2120900" cy="304800"/>
          </a:xfrm>
          <a:prstGeom prst="rect">
            <a:avLst/>
          </a:prstGeom>
          <a:noFill/>
          <a:ln/>
        </p:spPr>
        <p:txBody>
          <a:bodyPr wrap="none" lIns="0" tIns="0" rIns="0" bIns="0" rtlCol="0" anchor="t"/>
          <a:lstStyle/>
          <a:p>
            <a:pPr algn="l" indent="0" marL="0">
              <a:lnSpc>
                <a:spcPct val="100000"/>
              </a:lnSpc>
              <a:buNone/>
            </a:pPr>
            <a:r>
              <a:rPr lang="en-US" sz="2400" dirty="0">
                <a:solidFill>
                  <a:srgbClr val="F08A4B"/>
                </a:solidFill>
                <a:latin typeface="Avenir Next Condensed" pitchFamily="34" charset="0"/>
                <a:ea typeface="Avenir Next Condensed" pitchFamily="34" charset="-122"/>
                <a:cs typeface="Avenir Next Condensed" pitchFamily="34" charset="-120"/>
              </a:rPr>
              <a:t>04</a:t>
            </a:r>
            <a:endParaRPr lang="en-US" sz="2400" dirty="0"/>
          </a:p>
        </p:txBody>
      </p:sp>
      <p:sp>
        <p:nvSpPr>
          <p:cNvPr id="45" name="Text 43"/>
          <p:cNvSpPr txBox="1"/>
          <p:nvPr/>
        </p:nvSpPr>
        <p:spPr>
          <a:xfrm>
            <a:off x="9055100" y="2607270"/>
            <a:ext cx="2120900" cy="274241"/>
          </a:xfrm>
          <a:prstGeom prst="rect">
            <a:avLst/>
          </a:prstGeom>
          <a:noFill/>
          <a:ln/>
        </p:spPr>
        <p:txBody>
          <a:bodyPr wrap="none" lIns="0" tIns="0" rIns="0" bIns="0" rtlCol="0" anchor="t"/>
          <a:lstStyle/>
          <a:p>
            <a:pPr algn="l" indent="0" marL="0">
              <a:lnSpc>
                <a:spcPct val="135000"/>
              </a:lnSpc>
              <a:buNone/>
            </a:pPr>
            <a:r>
              <a:rPr lang="en-US" sz="1600" b="1" dirty="0">
                <a:solidFill>
                  <a:srgbClr val="F6F4EF"/>
                </a:solidFill>
                <a:latin typeface="Hiragino Sans" pitchFamily="34" charset="0"/>
                <a:ea typeface="Hiragino Sans" pitchFamily="34" charset="-122"/>
                <a:cs typeface="Hiragino Sans" pitchFamily="34" charset="-120"/>
              </a:rPr>
              <a:t>教育システムの構築</a:t>
            </a:r>
            <a:endParaRPr lang="en-US" sz="1600" dirty="0"/>
          </a:p>
        </p:txBody>
      </p:sp>
      <p:sp>
        <p:nvSpPr>
          <p:cNvPr id="46" name="Shape 44"/>
          <p:cNvSpPr/>
          <p:nvPr/>
        </p:nvSpPr>
        <p:spPr>
          <a:xfrm>
            <a:off x="9055100" y="3008511"/>
            <a:ext cx="2120900" cy="387350"/>
          </a:xfrm>
          <a:prstGeom prst="roundRect">
            <a:avLst>
              <a:gd name="adj" fmla="val 30959"/>
            </a:avLst>
          </a:prstGeom>
          <a:solidFill>
            <a:srgbClr val="1E2E52"/>
          </a:solidFill>
          <a:ln/>
        </p:spPr>
      </p:sp>
      <p:sp>
        <p:nvSpPr>
          <p:cNvPr id="47" name="Text 45"/>
          <p:cNvSpPr txBox="1"/>
          <p:nvPr/>
        </p:nvSpPr>
        <p:spPr>
          <a:xfrm>
            <a:off x="9182100" y="3084711"/>
            <a:ext cx="1866900" cy="234950"/>
          </a:xfrm>
          <a:prstGeom prst="rect">
            <a:avLst/>
          </a:prstGeom>
          <a:noFill/>
          <a:ln/>
        </p:spPr>
        <p:txBody>
          <a:bodyPr wrap="none" lIns="0" tIns="0" rIns="0" bIns="0" rtlCol="0" anchor="t"/>
          <a:lstStyle/>
          <a:p>
            <a:pPr algn="l" indent="0" marL="0">
              <a:lnSpc>
                <a:spcPct val="140000"/>
              </a:lnSpc>
              <a:buNone/>
            </a:pPr>
            <a:r>
              <a:rPr lang="en-US" sz="1300" dirty="0">
                <a:solidFill>
                  <a:srgbClr val="F6F4EF"/>
                </a:solidFill>
                <a:latin typeface="Hiragino Sans" pitchFamily="34" charset="0"/>
                <a:ea typeface="Hiragino Sans" pitchFamily="34" charset="-122"/>
                <a:cs typeface="Hiragino Sans" pitchFamily="34" charset="-120"/>
              </a:rPr>
              <a:t>90デイズ</a:t>
            </a:r>
            <a:endParaRPr lang="en-US" sz="1300" dirty="0"/>
          </a:p>
        </p:txBody>
      </p:sp>
      <p:sp>
        <p:nvSpPr>
          <p:cNvPr id="48" name="Shape 46"/>
          <p:cNvSpPr/>
          <p:nvPr/>
        </p:nvSpPr>
        <p:spPr>
          <a:xfrm>
            <a:off x="9055100" y="3472061"/>
            <a:ext cx="2120900" cy="387350"/>
          </a:xfrm>
          <a:prstGeom prst="roundRect">
            <a:avLst>
              <a:gd name="adj" fmla="val 30959"/>
            </a:avLst>
          </a:prstGeom>
          <a:solidFill>
            <a:srgbClr val="1E2E52"/>
          </a:solidFill>
          <a:ln/>
        </p:spPr>
      </p:sp>
      <p:sp>
        <p:nvSpPr>
          <p:cNvPr id="49" name="Text 47"/>
          <p:cNvSpPr txBox="1"/>
          <p:nvPr/>
        </p:nvSpPr>
        <p:spPr>
          <a:xfrm>
            <a:off x="9182100" y="3548261"/>
            <a:ext cx="1866900" cy="234950"/>
          </a:xfrm>
          <a:prstGeom prst="rect">
            <a:avLst/>
          </a:prstGeom>
          <a:noFill/>
          <a:ln/>
        </p:spPr>
        <p:txBody>
          <a:bodyPr wrap="none" lIns="0" tIns="0" rIns="0" bIns="0" rtlCol="0" anchor="t"/>
          <a:lstStyle/>
          <a:p>
            <a:pPr algn="l" indent="0" marL="0">
              <a:lnSpc>
                <a:spcPct val="140000"/>
              </a:lnSpc>
              <a:buNone/>
            </a:pPr>
            <a:r>
              <a:rPr lang="en-US" sz="1300" dirty="0">
                <a:solidFill>
                  <a:srgbClr val="F6F4EF"/>
                </a:solidFill>
                <a:latin typeface="Hiragino Sans" pitchFamily="34" charset="0"/>
                <a:ea typeface="Hiragino Sans" pitchFamily="34" charset="-122"/>
                <a:cs typeface="Hiragino Sans" pitchFamily="34" charset="-120"/>
              </a:rPr>
              <a:t>社内毎月アンケート</a:t>
            </a:r>
            <a:endParaRPr lang="en-US" sz="1300" dirty="0"/>
          </a:p>
        </p:txBody>
      </p:sp>
      <p:sp>
        <p:nvSpPr>
          <p:cNvPr id="50" name="Shape 48"/>
          <p:cNvSpPr/>
          <p:nvPr/>
        </p:nvSpPr>
        <p:spPr>
          <a:xfrm>
            <a:off x="9055100" y="3935611"/>
            <a:ext cx="2120900" cy="387350"/>
          </a:xfrm>
          <a:prstGeom prst="roundRect">
            <a:avLst>
              <a:gd name="adj" fmla="val 30959"/>
            </a:avLst>
          </a:prstGeom>
          <a:solidFill>
            <a:srgbClr val="1E2E52"/>
          </a:solidFill>
          <a:ln/>
        </p:spPr>
      </p:sp>
      <p:sp>
        <p:nvSpPr>
          <p:cNvPr id="51" name="Text 49"/>
          <p:cNvSpPr txBox="1"/>
          <p:nvPr/>
        </p:nvSpPr>
        <p:spPr>
          <a:xfrm>
            <a:off x="9182100" y="4011811"/>
            <a:ext cx="1866900" cy="234950"/>
          </a:xfrm>
          <a:prstGeom prst="rect">
            <a:avLst/>
          </a:prstGeom>
          <a:noFill/>
          <a:ln/>
        </p:spPr>
        <p:txBody>
          <a:bodyPr wrap="none" lIns="0" tIns="0" rIns="0" bIns="0" rtlCol="0" anchor="t"/>
          <a:lstStyle/>
          <a:p>
            <a:pPr algn="l" indent="0" marL="0">
              <a:lnSpc>
                <a:spcPct val="140000"/>
              </a:lnSpc>
              <a:buNone/>
            </a:pPr>
            <a:r>
              <a:rPr lang="en-US" sz="1300" dirty="0">
                <a:solidFill>
                  <a:srgbClr val="F6F4EF"/>
                </a:solidFill>
                <a:latin typeface="Hiragino Sans" pitchFamily="34" charset="0"/>
                <a:ea typeface="Hiragino Sans" pitchFamily="34" charset="-122"/>
                <a:cs typeface="Hiragino Sans" pitchFamily="34" charset="-120"/>
              </a:rPr>
              <a:t>1on1</a:t>
            </a:r>
            <a:endParaRPr lang="en-US" sz="1300" dirty="0"/>
          </a:p>
        </p:txBody>
      </p:sp>
      <p:sp>
        <p:nvSpPr>
          <p:cNvPr id="52" name="Shape 50"/>
          <p:cNvSpPr/>
          <p:nvPr/>
        </p:nvSpPr>
        <p:spPr>
          <a:xfrm>
            <a:off x="9055100" y="4399161"/>
            <a:ext cx="2120900" cy="387350"/>
          </a:xfrm>
          <a:prstGeom prst="roundRect">
            <a:avLst>
              <a:gd name="adj" fmla="val 30959"/>
            </a:avLst>
          </a:prstGeom>
          <a:solidFill>
            <a:srgbClr val="1E2E52"/>
          </a:solidFill>
          <a:ln/>
        </p:spPr>
      </p:sp>
      <p:sp>
        <p:nvSpPr>
          <p:cNvPr id="53" name="Text 51"/>
          <p:cNvSpPr txBox="1"/>
          <p:nvPr/>
        </p:nvSpPr>
        <p:spPr>
          <a:xfrm>
            <a:off x="9182100" y="4475361"/>
            <a:ext cx="1866900" cy="234950"/>
          </a:xfrm>
          <a:prstGeom prst="rect">
            <a:avLst/>
          </a:prstGeom>
          <a:noFill/>
          <a:ln/>
        </p:spPr>
        <p:txBody>
          <a:bodyPr wrap="none" lIns="0" tIns="0" rIns="0" bIns="0" rtlCol="0" anchor="t"/>
          <a:lstStyle/>
          <a:p>
            <a:pPr algn="l" indent="0" marL="0">
              <a:lnSpc>
                <a:spcPct val="140000"/>
              </a:lnSpc>
              <a:buNone/>
            </a:pPr>
            <a:r>
              <a:rPr lang="en-US" sz="1300" dirty="0">
                <a:solidFill>
                  <a:srgbClr val="F6F4EF"/>
                </a:solidFill>
                <a:latin typeface="Hiragino Sans" pitchFamily="34" charset="0"/>
                <a:ea typeface="Hiragino Sans" pitchFamily="34" charset="-122"/>
                <a:cs typeface="Hiragino Sans" pitchFamily="34" charset="-120"/>
              </a:rPr>
              <a:t>教育環境（Udemy）</a:t>
            </a:r>
            <a:endParaRPr lang="en-US" sz="1300" dirty="0"/>
          </a:p>
        </p:txBody>
      </p:sp>
      <p:sp>
        <p:nvSpPr>
          <p:cNvPr id="54" name="Text 52"/>
          <p:cNvSpPr txBox="1"/>
          <p:nvPr/>
        </p:nvSpPr>
        <p:spPr>
          <a:xfrm>
            <a:off x="812800" y="6223000"/>
            <a:ext cx="373449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 ／ 責任者：松田</a:t>
            </a:r>
            <a:endParaRPr lang="en-US" sz="1200" dirty="0"/>
          </a:p>
        </p:txBody>
      </p:sp>
      <p:sp>
        <p:nvSpPr>
          <p:cNvPr id="55" name="Text 53"/>
          <p:cNvSpPr txBox="1"/>
          <p:nvPr/>
        </p:nvSpPr>
        <p:spPr>
          <a:xfrm>
            <a:off x="11248727" y="6223000"/>
            <a:ext cx="130473"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06 ／ ACTION PLAN ① 採用・人事部</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採用を変える：カルチャー × 情報処理能力</a:t>
            </a:r>
            <a:endParaRPr lang="en-US" sz="3200" dirty="0"/>
          </a:p>
        </p:txBody>
      </p:sp>
      <p:sp>
        <p:nvSpPr>
          <p:cNvPr id="4" name="Text 2"/>
          <p:cNvSpPr txBox="1"/>
          <p:nvPr/>
        </p:nvSpPr>
        <p:spPr>
          <a:xfrm>
            <a:off x="812800" y="1794470"/>
            <a:ext cx="10566400" cy="234950"/>
          </a:xfrm>
          <a:prstGeom prst="rect">
            <a:avLst/>
          </a:prstGeom>
          <a:noFill/>
          <a:ln/>
        </p:spPr>
        <p:txBody>
          <a:bodyPr wrap="none" lIns="0" tIns="0" rIns="0" bIns="0" rtlCol="0" anchor="t"/>
          <a:lstStyle/>
          <a:p>
            <a:pPr algn="l" indent="0" marL="0">
              <a:lnSpc>
                <a:spcPct val="140000"/>
              </a:lnSpc>
              <a:buNone/>
            </a:pPr>
            <a:r>
              <a:rPr lang="en-US" sz="1300" b="1" dirty="0">
                <a:solidFill>
                  <a:srgbClr val="6B7280"/>
                </a:solidFill>
                <a:latin typeface="Hiragino Sans" pitchFamily="34" charset="0"/>
                <a:ea typeface="Hiragino Sans" pitchFamily="34" charset="-122"/>
                <a:cs typeface="Hiragino Sans" pitchFamily="34" charset="-120"/>
              </a:rPr>
              <a:t>新しい採用フロー（適性テストなし・学歴不問）</a:t>
            </a:r>
            <a:endParaRPr lang="en-US" sz="1300" dirty="0"/>
          </a:p>
        </p:txBody>
      </p:sp>
      <p:sp>
        <p:nvSpPr>
          <p:cNvPr id="5" name="Shape 3"/>
          <p:cNvSpPr/>
          <p:nvPr/>
        </p:nvSpPr>
        <p:spPr>
          <a:xfrm>
            <a:off x="812800" y="2232620"/>
            <a:ext cx="3119934" cy="1130300"/>
          </a:xfrm>
          <a:prstGeom prst="roundRect">
            <a:avLst>
              <a:gd name="adj" fmla="val 7272"/>
            </a:avLst>
          </a:prstGeom>
          <a:solidFill>
            <a:srgbClr val="FDFCF9"/>
          </a:solidFill>
          <a:ln w="6350">
            <a:solidFill>
              <a:srgbClr val="E2DED5"/>
            </a:solidFill>
            <a:prstDash val="solid"/>
          </a:ln>
        </p:spPr>
      </p:sp>
      <p:sp>
        <p:nvSpPr>
          <p:cNvPr id="6" name="Text 4"/>
          <p:cNvSpPr txBox="1"/>
          <p:nvPr/>
        </p:nvSpPr>
        <p:spPr>
          <a:xfrm>
            <a:off x="1022350" y="2416770"/>
            <a:ext cx="2700834"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0次：ラフ面談</a:t>
            </a:r>
            <a:endParaRPr lang="en-US" sz="1400" dirty="0"/>
          </a:p>
        </p:txBody>
      </p:sp>
      <p:sp>
        <p:nvSpPr>
          <p:cNvPr id="7" name="Text 5"/>
          <p:cNvSpPr txBox="1"/>
          <p:nvPr/>
        </p:nvSpPr>
        <p:spPr>
          <a:xfrm>
            <a:off x="1022350" y="2721570"/>
            <a:ext cx="2777034"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カルチャーフィット確認</a:t>
            </a:r>
            <a:endParaRPr lang="en-US" sz="1200" dirty="0"/>
          </a:p>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「素直で、いいやつか？」</a:t>
            </a:r>
            <a:endParaRPr lang="en-US" sz="1200" dirty="0"/>
          </a:p>
        </p:txBody>
      </p:sp>
      <p:sp>
        <p:nvSpPr>
          <p:cNvPr id="8" name="Shape 6"/>
          <p:cNvSpPr/>
          <p:nvPr/>
        </p:nvSpPr>
        <p:spPr>
          <a:xfrm>
            <a:off x="4059734" y="2708870"/>
            <a:ext cx="355600" cy="177800"/>
          </a:xfrm>
          <a:prstGeom prst="rightArrow">
            <a:avLst/>
          </a:prstGeom>
          <a:solidFill>
            <a:srgbClr val="E0662B"/>
          </a:solidFill>
          <a:ln/>
        </p:spPr>
      </p:sp>
      <p:sp>
        <p:nvSpPr>
          <p:cNvPr id="9" name="Shape 7"/>
          <p:cNvSpPr/>
          <p:nvPr/>
        </p:nvSpPr>
        <p:spPr>
          <a:xfrm>
            <a:off x="4542334" y="2232620"/>
            <a:ext cx="3119934" cy="1130300"/>
          </a:xfrm>
          <a:prstGeom prst="roundRect">
            <a:avLst>
              <a:gd name="adj" fmla="val 7272"/>
            </a:avLst>
          </a:prstGeom>
          <a:solidFill>
            <a:srgbClr val="FDFCF9"/>
          </a:solidFill>
          <a:ln w="6350">
            <a:solidFill>
              <a:srgbClr val="E2DED5"/>
            </a:solidFill>
            <a:prstDash val="solid"/>
          </a:ln>
        </p:spPr>
      </p:sp>
      <p:sp>
        <p:nvSpPr>
          <p:cNvPr id="10" name="Text 8"/>
          <p:cNvSpPr txBox="1"/>
          <p:nvPr/>
        </p:nvSpPr>
        <p:spPr>
          <a:xfrm>
            <a:off x="4751884" y="2416770"/>
            <a:ext cx="2700834"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2次：スキル面接のみ</a:t>
            </a:r>
            <a:endParaRPr lang="en-US" sz="1400" dirty="0"/>
          </a:p>
        </p:txBody>
      </p:sp>
      <p:sp>
        <p:nvSpPr>
          <p:cNvPr id="11" name="Text 9"/>
          <p:cNvSpPr txBox="1"/>
          <p:nvPr/>
        </p:nvSpPr>
        <p:spPr>
          <a:xfrm>
            <a:off x="4751884" y="2721570"/>
            <a:ext cx="2777034"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論理的思考・言語化能力</a:t>
            </a:r>
            <a:endParaRPr lang="en-US" sz="1200" dirty="0"/>
          </a:p>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「頭がキレるか？」</a:t>
            </a:r>
            <a:endParaRPr lang="en-US" sz="1200" dirty="0"/>
          </a:p>
        </p:txBody>
      </p:sp>
      <p:sp>
        <p:nvSpPr>
          <p:cNvPr id="12" name="Shape 10"/>
          <p:cNvSpPr/>
          <p:nvPr/>
        </p:nvSpPr>
        <p:spPr>
          <a:xfrm>
            <a:off x="7789267" y="2708870"/>
            <a:ext cx="355600" cy="177800"/>
          </a:xfrm>
          <a:prstGeom prst="rightArrow">
            <a:avLst/>
          </a:prstGeom>
          <a:solidFill>
            <a:srgbClr val="E0662B"/>
          </a:solidFill>
          <a:ln/>
        </p:spPr>
      </p:sp>
      <p:sp>
        <p:nvSpPr>
          <p:cNvPr id="13" name="Shape 11"/>
          <p:cNvSpPr/>
          <p:nvPr/>
        </p:nvSpPr>
        <p:spPr>
          <a:xfrm>
            <a:off x="8271867" y="2238970"/>
            <a:ext cx="3107234" cy="1117600"/>
          </a:xfrm>
          <a:prstGeom prst="roundRect">
            <a:avLst>
              <a:gd name="adj" fmla="val 7438"/>
            </a:avLst>
          </a:prstGeom>
          <a:solidFill>
            <a:srgbClr val="14213D"/>
          </a:solidFill>
          <a:ln/>
        </p:spPr>
      </p:sp>
      <p:sp>
        <p:nvSpPr>
          <p:cNvPr id="14" name="Text 12"/>
          <p:cNvSpPr txBox="1"/>
          <p:nvPr/>
        </p:nvSpPr>
        <p:spPr>
          <a:xfrm>
            <a:off x="8475067" y="2416770"/>
            <a:ext cx="2700834" cy="254000"/>
          </a:xfrm>
          <a:prstGeom prst="rect">
            <a:avLst/>
          </a:prstGeom>
          <a:noFill/>
          <a:ln/>
        </p:spPr>
        <p:txBody>
          <a:bodyPr wrap="none" lIns="0" tIns="0" rIns="0" bIns="0" rtlCol="0" anchor="t"/>
          <a:lstStyle/>
          <a:p>
            <a:pPr algn="l" indent="0" marL="0">
              <a:lnSpc>
                <a:spcPct val="140000"/>
              </a:lnSpc>
              <a:buNone/>
            </a:pPr>
            <a:r>
              <a:rPr lang="en-US" sz="1400" b="1" dirty="0">
                <a:solidFill>
                  <a:srgbClr val="F08A4B"/>
                </a:solidFill>
                <a:latin typeface="Hiragino Sans" pitchFamily="34" charset="0"/>
                <a:ea typeface="Hiragino Sans" pitchFamily="34" charset="-122"/>
                <a:cs typeface="Hiragino Sans" pitchFamily="34" charset="-120"/>
              </a:rPr>
              <a:t>実務で見抜く</a:t>
            </a:r>
            <a:endParaRPr lang="en-US" sz="1400" dirty="0"/>
          </a:p>
        </p:txBody>
      </p:sp>
      <p:sp>
        <p:nvSpPr>
          <p:cNvPr id="15" name="Text 13"/>
          <p:cNvSpPr txBox="1"/>
          <p:nvPr/>
        </p:nvSpPr>
        <p:spPr>
          <a:xfrm>
            <a:off x="8475067" y="2721570"/>
            <a:ext cx="2777034" cy="457200"/>
          </a:xfrm>
          <a:prstGeom prst="rect">
            <a:avLst/>
          </a:prstGeom>
          <a:noFill/>
          <a:ln/>
        </p:spPr>
        <p:txBody>
          <a:bodyPr wrap="square" lIns="0" tIns="0" rIns="0" bIns="0" rtlCol="0" anchor="t"/>
          <a:lstStyle/>
          <a:p>
            <a:pPr algn="l" indent="0" marL="0">
              <a:lnSpc>
                <a:spcPct val="150000"/>
              </a:lnSpc>
              <a:buNone/>
            </a:pPr>
            <a:r>
              <a:rPr lang="en-US" sz="1200" dirty="0">
                <a:solidFill>
                  <a:srgbClr val="F6F4EF"/>
                </a:solidFill>
                <a:latin typeface="Hiragino Sans" pitchFamily="34" charset="0"/>
                <a:ea typeface="Hiragino Sans" pitchFamily="34" charset="-122"/>
                <a:cs typeface="Hiragino Sans" pitchFamily="34" charset="-120"/>
              </a:rPr>
              <a:t>現状把握 → 問題点 → アクションの</a:t>
            </a:r>
            <a:pPr algn="l" indent="0" marL="0">
              <a:lnSpc>
                <a:spcPct val="150000"/>
              </a:lnSpc>
              <a:buNone/>
            </a:pPr>
            <a:r>
              <a:rPr lang="en-US" sz="1200" b="1" dirty="0">
                <a:solidFill>
                  <a:srgbClr val="F6F4EF"/>
                </a:solidFill>
                <a:latin typeface="Hiragino Sans" pitchFamily="34" charset="0"/>
                <a:ea typeface="Hiragino Sans" pitchFamily="34" charset="-122"/>
                <a:cs typeface="Hiragino Sans" pitchFamily="34" charset="-120"/>
              </a:rPr>
              <a:t>一貫性と論理</a:t>
            </a:r>
            <a:pPr algn="l" indent="0" marL="0">
              <a:lnSpc>
                <a:spcPct val="150000"/>
              </a:lnSpc>
              <a:buNone/>
            </a:pPr>
            <a:r>
              <a:rPr lang="en-US" sz="1200" dirty="0">
                <a:solidFill>
                  <a:srgbClr val="F6F4EF"/>
                </a:solidFill>
                <a:latin typeface="Hiragino Sans" pitchFamily="34" charset="0"/>
                <a:ea typeface="Hiragino Sans" pitchFamily="34" charset="-122"/>
                <a:cs typeface="Hiragino Sans" pitchFamily="34" charset="-120"/>
              </a:rPr>
              <a:t>を見る（間違っていてOK）</a:t>
            </a:r>
            <a:endParaRPr lang="en-US" sz="1200" dirty="0"/>
          </a:p>
        </p:txBody>
      </p:sp>
      <p:sp>
        <p:nvSpPr>
          <p:cNvPr id="16" name="Text 14"/>
          <p:cNvSpPr txBox="1"/>
          <p:nvPr/>
        </p:nvSpPr>
        <p:spPr>
          <a:xfrm>
            <a:off x="812800" y="3566120"/>
            <a:ext cx="10566400" cy="234950"/>
          </a:xfrm>
          <a:prstGeom prst="rect">
            <a:avLst/>
          </a:prstGeom>
          <a:noFill/>
          <a:ln/>
        </p:spPr>
        <p:txBody>
          <a:bodyPr wrap="none" lIns="0" tIns="0" rIns="0" bIns="0" rtlCol="0" anchor="t"/>
          <a:lstStyle/>
          <a:p>
            <a:pPr algn="l" indent="0" marL="0">
              <a:lnSpc>
                <a:spcPct val="140000"/>
              </a:lnSpc>
              <a:buNone/>
            </a:pPr>
            <a:r>
              <a:rPr lang="en-US" sz="1300" b="1" dirty="0">
                <a:solidFill>
                  <a:srgbClr val="6B7280"/>
                </a:solidFill>
                <a:latin typeface="Hiragino Sans" pitchFamily="34" charset="0"/>
                <a:ea typeface="Hiragino Sans" pitchFamily="34" charset="-122"/>
                <a:cs typeface="Hiragino Sans" pitchFamily="34" charset="-120"/>
              </a:rPr>
              <a:t>ジョブディスクリプションの導入（自分で自分のキャリアを作る）</a:t>
            </a:r>
            <a:endParaRPr lang="en-US" sz="1300" dirty="0"/>
          </a:p>
        </p:txBody>
      </p:sp>
      <p:sp>
        <p:nvSpPr>
          <p:cNvPr id="17" name="Shape 15"/>
          <p:cNvSpPr/>
          <p:nvPr/>
        </p:nvSpPr>
        <p:spPr>
          <a:xfrm>
            <a:off x="812800" y="4004270"/>
            <a:ext cx="3115766" cy="546100"/>
          </a:xfrm>
          <a:prstGeom prst="roundRect">
            <a:avLst>
              <a:gd name="adj" fmla="val 31152"/>
            </a:avLst>
          </a:prstGeom>
          <a:solidFill>
            <a:srgbClr val="FDFCF9"/>
          </a:solidFill>
          <a:ln w="6350">
            <a:solidFill>
              <a:srgbClr val="E2DED5"/>
            </a:solidFill>
            <a:prstDash val="solid"/>
          </a:ln>
        </p:spPr>
      </p:sp>
      <p:sp>
        <p:nvSpPr>
          <p:cNvPr id="18" name="Text 16"/>
          <p:cNvSpPr txBox="1"/>
          <p:nvPr/>
        </p:nvSpPr>
        <p:spPr>
          <a:xfrm>
            <a:off x="1022350" y="4163020"/>
            <a:ext cx="2696666" cy="228600"/>
          </a:xfrm>
          <a:prstGeom prst="rect">
            <a:avLst/>
          </a:prstGeom>
          <a:noFill/>
          <a:ln/>
        </p:spPr>
        <p:txBody>
          <a:bodyPr wrap="none" lIns="0" tIns="0" rIns="0" bIns="0" rtlCol="0" anchor="t"/>
          <a:lstStyle/>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チーム</a:t>
            </a:r>
            <a:pPr algn="l" indent="0" marL="0">
              <a:lnSpc>
                <a:spcPct val="150000"/>
              </a:lnSpc>
              <a:buNone/>
            </a:pPr>
            <a:r>
              <a:rPr lang="en-US" sz="1200" dirty="0">
                <a:solidFill>
                  <a:srgbClr val="14213D"/>
                </a:solidFill>
                <a:latin typeface="Hiragino Sans" pitchFamily="34" charset="0"/>
                <a:ea typeface="Hiragino Sans" pitchFamily="34" charset="-122"/>
                <a:cs typeface="Hiragino Sans" pitchFamily="34" charset="-120"/>
              </a:rPr>
              <a:t>：予算・募集依頼</a:t>
            </a:r>
            <a:endParaRPr lang="en-US" sz="1200" dirty="0"/>
          </a:p>
        </p:txBody>
      </p:sp>
      <p:sp>
        <p:nvSpPr>
          <p:cNvPr id="19" name="Shape 17"/>
          <p:cNvSpPr/>
          <p:nvPr/>
        </p:nvSpPr>
        <p:spPr>
          <a:xfrm>
            <a:off x="4055566" y="4188420"/>
            <a:ext cx="355600" cy="177800"/>
          </a:xfrm>
          <a:prstGeom prst="rightArrow">
            <a:avLst/>
          </a:prstGeom>
          <a:solidFill>
            <a:srgbClr val="E0662B"/>
          </a:solidFill>
          <a:ln/>
        </p:spPr>
      </p:sp>
      <p:sp>
        <p:nvSpPr>
          <p:cNvPr id="20" name="Shape 18"/>
          <p:cNvSpPr/>
          <p:nvPr/>
        </p:nvSpPr>
        <p:spPr>
          <a:xfrm>
            <a:off x="4538166" y="4004270"/>
            <a:ext cx="3115766" cy="546100"/>
          </a:xfrm>
          <a:prstGeom prst="roundRect">
            <a:avLst>
              <a:gd name="adj" fmla="val 31152"/>
            </a:avLst>
          </a:prstGeom>
          <a:solidFill>
            <a:srgbClr val="FDFCF9"/>
          </a:solidFill>
          <a:ln w="6350">
            <a:solidFill>
              <a:srgbClr val="E2DED5"/>
            </a:solidFill>
            <a:prstDash val="solid"/>
          </a:ln>
        </p:spPr>
      </p:sp>
      <p:sp>
        <p:nvSpPr>
          <p:cNvPr id="21" name="Text 19"/>
          <p:cNvSpPr txBox="1"/>
          <p:nvPr/>
        </p:nvSpPr>
        <p:spPr>
          <a:xfrm>
            <a:off x="4747716" y="4163020"/>
            <a:ext cx="2696666" cy="228600"/>
          </a:xfrm>
          <a:prstGeom prst="rect">
            <a:avLst/>
          </a:prstGeom>
          <a:noFill/>
          <a:ln/>
        </p:spPr>
        <p:txBody>
          <a:bodyPr wrap="none" lIns="0" tIns="0" rIns="0" bIns="0" rtlCol="0" anchor="t"/>
          <a:lstStyle/>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人事部</a:t>
            </a:r>
            <a:pPr algn="l" indent="0" marL="0">
              <a:lnSpc>
                <a:spcPct val="150000"/>
              </a:lnSpc>
              <a:buNone/>
            </a:pPr>
            <a:r>
              <a:rPr lang="en-US" sz="1200" dirty="0">
                <a:solidFill>
                  <a:srgbClr val="14213D"/>
                </a:solidFill>
                <a:latin typeface="Hiragino Sans" pitchFamily="34" charset="0"/>
                <a:ea typeface="Hiragino Sans" pitchFamily="34" charset="-122"/>
                <a:cs typeface="Hiragino Sans" pitchFamily="34" charset="-120"/>
              </a:rPr>
              <a:t>：母集団形成・カルチャー面談</a:t>
            </a:r>
            <a:endParaRPr lang="en-US" sz="1200" dirty="0"/>
          </a:p>
        </p:txBody>
      </p:sp>
      <p:sp>
        <p:nvSpPr>
          <p:cNvPr id="22" name="Shape 20"/>
          <p:cNvSpPr/>
          <p:nvPr/>
        </p:nvSpPr>
        <p:spPr>
          <a:xfrm>
            <a:off x="7780933" y="4188420"/>
            <a:ext cx="355600" cy="177800"/>
          </a:xfrm>
          <a:prstGeom prst="rightArrow">
            <a:avLst/>
          </a:prstGeom>
          <a:solidFill>
            <a:srgbClr val="E0662B"/>
          </a:solidFill>
          <a:ln/>
        </p:spPr>
      </p:sp>
      <p:sp>
        <p:nvSpPr>
          <p:cNvPr id="23" name="Shape 21"/>
          <p:cNvSpPr/>
          <p:nvPr/>
        </p:nvSpPr>
        <p:spPr>
          <a:xfrm>
            <a:off x="8263533" y="4004270"/>
            <a:ext cx="3115766" cy="546100"/>
          </a:xfrm>
          <a:prstGeom prst="roundRect">
            <a:avLst>
              <a:gd name="adj" fmla="val 31152"/>
            </a:avLst>
          </a:prstGeom>
          <a:solidFill>
            <a:srgbClr val="FDFCF9"/>
          </a:solidFill>
          <a:ln w="6350">
            <a:solidFill>
              <a:srgbClr val="E2DED5"/>
            </a:solidFill>
            <a:prstDash val="solid"/>
          </a:ln>
        </p:spPr>
      </p:sp>
      <p:sp>
        <p:nvSpPr>
          <p:cNvPr id="24" name="Text 22"/>
          <p:cNvSpPr txBox="1"/>
          <p:nvPr/>
        </p:nvSpPr>
        <p:spPr>
          <a:xfrm>
            <a:off x="8473083" y="4163020"/>
            <a:ext cx="2696666" cy="228600"/>
          </a:xfrm>
          <a:prstGeom prst="rect">
            <a:avLst/>
          </a:prstGeom>
          <a:noFill/>
          <a:ln/>
        </p:spPr>
        <p:txBody>
          <a:bodyPr wrap="none" lIns="0" tIns="0" rIns="0" bIns="0" rtlCol="0" anchor="t"/>
          <a:lstStyle/>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チーム</a:t>
            </a:r>
            <a:pPr algn="l" indent="0" marL="0">
              <a:lnSpc>
                <a:spcPct val="150000"/>
              </a:lnSpc>
              <a:buNone/>
            </a:pPr>
            <a:r>
              <a:rPr lang="en-US" sz="1200" dirty="0">
                <a:solidFill>
                  <a:srgbClr val="14213D"/>
                </a:solidFill>
                <a:latin typeface="Hiragino Sans" pitchFamily="34" charset="0"/>
                <a:ea typeface="Hiragino Sans" pitchFamily="34" charset="-122"/>
                <a:cs typeface="Hiragino Sans" pitchFamily="34" charset="-120"/>
              </a:rPr>
              <a:t>：採用面談・育成</a:t>
            </a:r>
            <a:endParaRPr lang="en-US" sz="1200" dirty="0"/>
          </a:p>
        </p:txBody>
      </p:sp>
      <p:sp>
        <p:nvSpPr>
          <p:cNvPr id="25" name="Shape 23"/>
          <p:cNvSpPr/>
          <p:nvPr/>
        </p:nvSpPr>
        <p:spPr>
          <a:xfrm>
            <a:off x="812800" y="4753570"/>
            <a:ext cx="38100" cy="508000"/>
          </a:xfrm>
          <a:prstGeom prst="rect">
            <a:avLst/>
          </a:prstGeom>
          <a:solidFill>
            <a:srgbClr val="E0662B"/>
          </a:solidFill>
          <a:ln/>
        </p:spPr>
      </p:sp>
      <p:sp>
        <p:nvSpPr>
          <p:cNvPr id="26" name="Text 24"/>
          <p:cNvSpPr txBox="1"/>
          <p:nvPr/>
        </p:nvSpPr>
        <p:spPr>
          <a:xfrm>
            <a:off x="939800" y="4778970"/>
            <a:ext cx="5168900" cy="457200"/>
          </a:xfrm>
          <a:prstGeom prst="rect">
            <a:avLst/>
          </a:prstGeom>
          <a:noFill/>
          <a:ln/>
        </p:spPr>
        <p:txBody>
          <a:bodyPr wrap="square" lIns="0" tIns="0" rIns="0" bIns="0" rtlCol="0" anchor="t"/>
          <a:lstStyle/>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「任せる」の定義</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：相手の問題点と現在のアクションを理解している状態。放置にしない。</a:t>
            </a:r>
            <a:endParaRPr lang="en-US" sz="1200" dirty="0"/>
          </a:p>
        </p:txBody>
      </p:sp>
      <p:sp>
        <p:nvSpPr>
          <p:cNvPr id="27" name="Shape 25"/>
          <p:cNvSpPr/>
          <p:nvPr/>
        </p:nvSpPr>
        <p:spPr>
          <a:xfrm>
            <a:off x="6159500" y="4753570"/>
            <a:ext cx="38100" cy="508000"/>
          </a:xfrm>
          <a:prstGeom prst="rect">
            <a:avLst/>
          </a:prstGeom>
          <a:solidFill>
            <a:srgbClr val="E0662B"/>
          </a:solidFill>
          <a:ln/>
        </p:spPr>
      </p:sp>
      <p:sp>
        <p:nvSpPr>
          <p:cNvPr id="28" name="Text 26"/>
          <p:cNvSpPr txBox="1"/>
          <p:nvPr/>
        </p:nvSpPr>
        <p:spPr>
          <a:xfrm>
            <a:off x="6286500" y="4778970"/>
            <a:ext cx="5168900" cy="457200"/>
          </a:xfrm>
          <a:prstGeom prst="rect">
            <a:avLst/>
          </a:prstGeom>
          <a:noFill/>
          <a:ln/>
        </p:spPr>
        <p:txBody>
          <a:bodyPr wrap="square" lIns="0" tIns="0" rIns="0" bIns="0" rtlCol="0" anchor="t"/>
          <a:lstStyle/>
          <a:p>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人事部の仕事を定義</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：人と媒体の進捗管理、JDフロー作成、Googleの採用4基準を取り入れる。</a:t>
            </a:r>
            <a:endParaRPr lang="en-US" sz="1200" dirty="0"/>
          </a:p>
        </p:txBody>
      </p:sp>
      <p:sp>
        <p:nvSpPr>
          <p:cNvPr id="29" name="Text 27"/>
          <p:cNvSpPr txBox="1"/>
          <p:nvPr/>
        </p:nvSpPr>
        <p:spPr>
          <a:xfrm>
            <a:off x="812800" y="6223000"/>
            <a:ext cx="373449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 ／ 責任者：松田</a:t>
            </a:r>
            <a:endParaRPr lang="en-US" sz="1200" dirty="0"/>
          </a:p>
        </p:txBody>
      </p:sp>
      <p:sp>
        <p:nvSpPr>
          <p:cNvPr id="30" name="Text 28"/>
          <p:cNvSpPr txBox="1"/>
          <p:nvPr/>
        </p:nvSpPr>
        <p:spPr>
          <a:xfrm>
            <a:off x="11233448" y="6223000"/>
            <a:ext cx="145752"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06 ／ ACTION PLAN ② 組織・給与・評価</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生産性2億円の構造をつくる</a:t>
            </a:r>
            <a:endParaRPr lang="en-US" sz="3200" dirty="0"/>
          </a:p>
        </p:txBody>
      </p:sp>
      <p:sp>
        <p:nvSpPr>
          <p:cNvPr id="4" name="Shape 2"/>
          <p:cNvSpPr/>
          <p:nvPr/>
        </p:nvSpPr>
        <p:spPr>
          <a:xfrm>
            <a:off x="812800" y="1794470"/>
            <a:ext cx="5207000" cy="1143000"/>
          </a:xfrm>
          <a:prstGeom prst="roundRect">
            <a:avLst>
              <a:gd name="adj" fmla="val 7111"/>
            </a:avLst>
          </a:prstGeom>
          <a:solidFill>
            <a:srgbClr val="FDFCF9"/>
          </a:solidFill>
          <a:ln w="6350">
            <a:solidFill>
              <a:srgbClr val="E2DED5"/>
            </a:solidFill>
            <a:prstDash val="solid"/>
          </a:ln>
        </p:spPr>
      </p:sp>
      <p:sp>
        <p:nvSpPr>
          <p:cNvPr id="5" name="Text 3"/>
          <p:cNvSpPr txBox="1"/>
          <p:nvPr/>
        </p:nvSpPr>
        <p:spPr>
          <a:xfrm>
            <a:off x="1022350" y="1978620"/>
            <a:ext cx="47879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間接費の最小化（組織）</a:t>
            </a:r>
            <a:endParaRPr lang="en-US" sz="1400" dirty="0"/>
          </a:p>
        </p:txBody>
      </p:sp>
      <p:sp>
        <p:nvSpPr>
          <p:cNvPr id="6" name="Text 4"/>
          <p:cNvSpPr txBox="1"/>
          <p:nvPr/>
        </p:nvSpPr>
        <p:spPr>
          <a:xfrm>
            <a:off x="1022350" y="2296120"/>
            <a:ext cx="486410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CEOと最小限のバックオフィス以外は</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売上に関わる変動費</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に。CEOも事業部長も、管理職ほど現場で売上に貢献する。</a:t>
            </a:r>
            <a:endParaRPr lang="en-US" sz="1200" dirty="0"/>
          </a:p>
        </p:txBody>
      </p:sp>
      <p:sp>
        <p:nvSpPr>
          <p:cNvPr id="7" name="Shape 5"/>
          <p:cNvSpPr/>
          <p:nvPr/>
        </p:nvSpPr>
        <p:spPr>
          <a:xfrm>
            <a:off x="6172200" y="1794470"/>
            <a:ext cx="5207000" cy="1143000"/>
          </a:xfrm>
          <a:prstGeom prst="roundRect">
            <a:avLst>
              <a:gd name="adj" fmla="val 7111"/>
            </a:avLst>
          </a:prstGeom>
          <a:solidFill>
            <a:srgbClr val="FDFCF9"/>
          </a:solidFill>
          <a:ln w="6350">
            <a:solidFill>
              <a:srgbClr val="E2DED5"/>
            </a:solidFill>
            <a:prstDash val="solid"/>
          </a:ln>
        </p:spPr>
      </p:sp>
      <p:sp>
        <p:nvSpPr>
          <p:cNvPr id="8" name="Text 6"/>
          <p:cNvSpPr txBox="1"/>
          <p:nvPr/>
        </p:nvSpPr>
        <p:spPr>
          <a:xfrm>
            <a:off x="6381750" y="1978620"/>
            <a:ext cx="47879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給与は高め × 離脱基準（給与）</a:t>
            </a:r>
            <a:endParaRPr lang="en-US" sz="1400" dirty="0"/>
          </a:p>
        </p:txBody>
      </p:sp>
      <p:sp>
        <p:nvSpPr>
          <p:cNvPr id="9" name="Text 7"/>
          <p:cNvSpPr txBox="1"/>
          <p:nvPr/>
        </p:nvSpPr>
        <p:spPr>
          <a:xfrm>
            <a:off x="6381750" y="2296120"/>
            <a:ext cx="486410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業界1番の水準を意識。</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離脱基準が明確なら人件費率は上がらない</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。生産性の高い人が残り、低い人は離脱する。</a:t>
            </a:r>
            <a:endParaRPr lang="en-US" sz="1200" dirty="0"/>
          </a:p>
        </p:txBody>
      </p:sp>
      <p:sp>
        <p:nvSpPr>
          <p:cNvPr id="10" name="Shape 8"/>
          <p:cNvSpPr/>
          <p:nvPr/>
        </p:nvSpPr>
        <p:spPr>
          <a:xfrm>
            <a:off x="812800" y="3089870"/>
            <a:ext cx="5207000" cy="1371600"/>
          </a:xfrm>
          <a:prstGeom prst="roundRect">
            <a:avLst>
              <a:gd name="adj" fmla="val 4938"/>
            </a:avLst>
          </a:prstGeom>
          <a:solidFill>
            <a:srgbClr val="FDFCF9"/>
          </a:solidFill>
          <a:ln w="6350">
            <a:solidFill>
              <a:srgbClr val="E2DED5"/>
            </a:solidFill>
            <a:prstDash val="solid"/>
          </a:ln>
        </p:spPr>
      </p:sp>
      <p:sp>
        <p:nvSpPr>
          <p:cNvPr id="11" name="Text 9"/>
          <p:cNvSpPr txBox="1"/>
          <p:nvPr/>
        </p:nvSpPr>
        <p:spPr>
          <a:xfrm>
            <a:off x="1022350" y="3274020"/>
            <a:ext cx="47879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雇用形態の見直し（組織）</a:t>
            </a:r>
            <a:endParaRPr lang="en-US" sz="1400" dirty="0"/>
          </a:p>
        </p:txBody>
      </p:sp>
      <p:sp>
        <p:nvSpPr>
          <p:cNvPr id="12" name="Text 10"/>
          <p:cNvSpPr txBox="1"/>
          <p:nvPr/>
        </p:nvSpPr>
        <p:spPr>
          <a:xfrm>
            <a:off x="1022350" y="3591520"/>
            <a:ext cx="4864100" cy="6858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MGR以上は社員、現場は有期雇用・業務委託が中心。業務委託は成果が出れば高給のハイリスク・ハイリターン。有期雇用は最終手段とし、3年程度の成果で無期へ。</a:t>
            </a:r>
            <a:endParaRPr lang="en-US" sz="1200" dirty="0"/>
          </a:p>
        </p:txBody>
      </p:sp>
      <p:sp>
        <p:nvSpPr>
          <p:cNvPr id="13" name="Shape 11"/>
          <p:cNvSpPr/>
          <p:nvPr/>
        </p:nvSpPr>
        <p:spPr>
          <a:xfrm>
            <a:off x="6172200" y="3089870"/>
            <a:ext cx="5207000" cy="1371600"/>
          </a:xfrm>
          <a:prstGeom prst="roundRect">
            <a:avLst>
              <a:gd name="adj" fmla="val 4938"/>
            </a:avLst>
          </a:prstGeom>
          <a:solidFill>
            <a:srgbClr val="FDFCF9"/>
          </a:solidFill>
          <a:ln w="6350">
            <a:solidFill>
              <a:srgbClr val="E2DED5"/>
            </a:solidFill>
            <a:prstDash val="solid"/>
          </a:ln>
        </p:spPr>
      </p:sp>
      <p:sp>
        <p:nvSpPr>
          <p:cNvPr id="14" name="Text 12"/>
          <p:cNvSpPr txBox="1"/>
          <p:nvPr/>
        </p:nvSpPr>
        <p:spPr>
          <a:xfrm>
            <a:off x="6381750" y="3274020"/>
            <a:ext cx="47879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成果だけを見る（評価）</a:t>
            </a:r>
            <a:endParaRPr lang="en-US" sz="1400" dirty="0"/>
          </a:p>
        </p:txBody>
      </p:sp>
      <p:sp>
        <p:nvSpPr>
          <p:cNvPr id="15" name="Text 13"/>
          <p:cNvSpPr txBox="1"/>
          <p:nvPr/>
        </p:nvSpPr>
        <p:spPr>
          <a:xfrm>
            <a:off x="6381750" y="3591520"/>
            <a:ext cx="486410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成果が出なければ評価しない（給与・待遇は変えない）。</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OKR</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と</a:t>
            </a:r>
            <a:pPr algn="l" indent="0" marL="0">
              <a:lnSpc>
                <a:spcPct val="150000"/>
              </a:lnSpc>
              <a:buNone/>
            </a:pPr>
            <a:r>
              <a:rPr lang="en-US" sz="1200" b="1" dirty="0">
                <a:solidFill>
                  <a:srgbClr val="14213D"/>
                </a:solidFill>
                <a:latin typeface="Hiragino Sans" pitchFamily="34" charset="0"/>
                <a:ea typeface="Hiragino Sans" pitchFamily="34" charset="-122"/>
                <a:cs typeface="Hiragino Sans" pitchFamily="34" charset="-120"/>
              </a:rPr>
              <a:t>毎週の1on1</a:t>
            </a:r>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の導入を検討。</a:t>
            </a:r>
            <a:endParaRPr lang="en-US" sz="1200" dirty="0"/>
          </a:p>
        </p:txBody>
      </p:sp>
      <p:sp>
        <p:nvSpPr>
          <p:cNvPr id="16" name="Shape 14"/>
          <p:cNvSpPr/>
          <p:nvPr/>
        </p:nvSpPr>
        <p:spPr>
          <a:xfrm>
            <a:off x="812800" y="4664670"/>
            <a:ext cx="10566400" cy="812800"/>
          </a:xfrm>
          <a:prstGeom prst="roundRect">
            <a:avLst>
              <a:gd name="adj" fmla="val 14063"/>
            </a:avLst>
          </a:prstGeom>
          <a:solidFill>
            <a:srgbClr val="14213D"/>
          </a:solidFill>
          <a:ln/>
        </p:spPr>
      </p:sp>
      <p:sp>
        <p:nvSpPr>
          <p:cNvPr id="17" name="Text 15"/>
          <p:cNvSpPr txBox="1"/>
          <p:nvPr/>
        </p:nvSpPr>
        <p:spPr>
          <a:xfrm>
            <a:off x="1066800" y="4931370"/>
            <a:ext cx="1562894" cy="279400"/>
          </a:xfrm>
          <a:prstGeom prst="rect">
            <a:avLst/>
          </a:prstGeom>
          <a:noFill/>
          <a:ln/>
        </p:spPr>
        <p:txBody>
          <a:bodyPr wrap="none" lIns="0" tIns="0" rIns="0" bIns="0" rtlCol="0" anchor="t"/>
          <a:lstStyle/>
          <a:p>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トップ20%へ集中</a:t>
            </a:r>
            <a:endParaRPr lang="en-US" sz="1500" dirty="0"/>
          </a:p>
        </p:txBody>
      </p:sp>
      <p:sp>
        <p:nvSpPr>
          <p:cNvPr id="18" name="Text 16"/>
          <p:cNvSpPr txBox="1"/>
          <p:nvPr/>
        </p:nvSpPr>
        <p:spPr>
          <a:xfrm>
            <a:off x="2883694" y="4842470"/>
            <a:ext cx="8317706" cy="457200"/>
          </a:xfrm>
          <a:prstGeom prst="rect">
            <a:avLst/>
          </a:prstGeom>
          <a:noFill/>
          <a:ln/>
        </p:spPr>
        <p:txBody>
          <a:bodyPr wrap="square" lIns="0" tIns="0" rIns="0" bIns="0" rtlCol="0" anchor="t"/>
          <a:lstStyle/>
          <a:p>
            <a:pPr algn="l" indent="0" marL="0">
              <a:lnSpc>
                <a:spcPct val="150000"/>
              </a:lnSpc>
              <a:buNone/>
            </a:pPr>
            <a:r>
              <a:rPr lang="en-US" sz="1200" dirty="0">
                <a:solidFill>
                  <a:srgbClr val="F6F4EF"/>
                </a:solidFill>
                <a:latin typeface="Hiragino Sans" pitchFamily="34" charset="0"/>
                <a:ea typeface="Hiragino Sans" pitchFamily="34" charset="-122"/>
                <a:cs typeface="Hiragino Sans" pitchFamily="34" charset="-120"/>
              </a:rPr>
              <a:t>企業を変えるのはいつもトップ20%。入社 → 教育 → 離脱までの</a:t>
            </a:r>
            <a:pPr algn="l" indent="0" marL="0">
              <a:lnSpc>
                <a:spcPct val="150000"/>
              </a:lnSpc>
              <a:buNone/>
            </a:pPr>
            <a:r>
              <a:rPr lang="en-US" sz="1200" b="1" dirty="0">
                <a:solidFill>
                  <a:srgbClr val="F6F4EF"/>
                </a:solidFill>
                <a:latin typeface="Hiragino Sans" pitchFamily="34" charset="0"/>
                <a:ea typeface="Hiragino Sans" pitchFamily="34" charset="-122"/>
                <a:cs typeface="Hiragino Sans" pitchFamily="34" charset="-120"/>
              </a:rPr>
              <a:t>人材ファネル</a:t>
            </a:r>
            <a:pPr algn="l" indent="0" marL="0">
              <a:lnSpc>
                <a:spcPct val="150000"/>
              </a:lnSpc>
              <a:buNone/>
            </a:pPr>
            <a:r>
              <a:rPr lang="en-US" sz="1200" dirty="0">
                <a:solidFill>
                  <a:srgbClr val="F6F4EF"/>
                </a:solidFill>
                <a:latin typeface="Hiragino Sans" pitchFamily="34" charset="0"/>
                <a:ea typeface="Hiragino Sans" pitchFamily="34" charset="-122"/>
                <a:cs typeface="Hiragino Sans" pitchFamily="34" charset="-120"/>
              </a:rPr>
              <a:t>を作り、ボトム層の業務は自動化する。※「お金・自分だけ」にならない設計にする</a:t>
            </a:r>
            <a:endParaRPr lang="en-US" sz="1200" dirty="0"/>
          </a:p>
        </p:txBody>
      </p:sp>
      <p:sp>
        <p:nvSpPr>
          <p:cNvPr id="19" name="Text 17"/>
          <p:cNvSpPr txBox="1"/>
          <p:nvPr/>
        </p:nvSpPr>
        <p:spPr>
          <a:xfrm>
            <a:off x="812800" y="6223000"/>
            <a:ext cx="373449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 ／ 責任者：松田</a:t>
            </a:r>
            <a:endParaRPr lang="en-US" sz="1200" dirty="0"/>
          </a:p>
        </p:txBody>
      </p:sp>
      <p:sp>
        <p:nvSpPr>
          <p:cNvPr id="20" name="Text 18"/>
          <p:cNvSpPr txBox="1"/>
          <p:nvPr/>
        </p:nvSpPr>
        <p:spPr>
          <a:xfrm>
            <a:off x="11233646" y="6223000"/>
            <a:ext cx="145554"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B4481A"/>
                </a:solidFill>
                <a:latin typeface="Avenir Next Condensed" pitchFamily="34" charset="0"/>
                <a:ea typeface="Avenir Next Condensed" pitchFamily="34" charset="-122"/>
                <a:cs typeface="Avenir Next Condensed" pitchFamily="34" charset="-120"/>
              </a:rPr>
              <a:t>06 ／ ACTION PLAN ③ 教育・エンゲージメント</a:t>
            </a:r>
            <a:endParaRPr lang="en-US" sz="1200" dirty="0"/>
          </a:p>
        </p:txBody>
      </p:sp>
      <p:sp>
        <p:nvSpPr>
          <p:cNvPr id="3" name="Text 1"/>
          <p:cNvSpPr txBox="1"/>
          <p:nvPr/>
        </p:nvSpPr>
        <p:spPr>
          <a:xfrm>
            <a:off x="812800" y="1123950"/>
            <a:ext cx="10566400" cy="467320"/>
          </a:xfrm>
          <a:prstGeom prst="rect">
            <a:avLst/>
          </a:prstGeom>
          <a:noFill/>
          <a:ln/>
        </p:spPr>
        <p:txBody>
          <a:bodyPr wrap="none" lIns="0" tIns="0" rIns="0" bIns="0" rtlCol="0" anchor="t"/>
          <a:lstStyle/>
          <a:p>
            <a:pPr algn="l" indent="0" marL="0">
              <a:lnSpc>
                <a:spcPct val="115000"/>
              </a:lnSpc>
              <a:buNone/>
            </a:pPr>
            <a:r>
              <a:rPr lang="en-US" sz="3200" b="1" dirty="0">
                <a:solidFill>
                  <a:srgbClr val="14213D"/>
                </a:solidFill>
                <a:latin typeface="Hiragino Sans" pitchFamily="34" charset="0"/>
                <a:ea typeface="Hiragino Sans" pitchFamily="34" charset="-122"/>
                <a:cs typeface="Hiragino Sans" pitchFamily="34" charset="-120"/>
              </a:rPr>
              <a:t>育つ環境と、声を聞く仕組み</a:t>
            </a:r>
            <a:endParaRPr lang="en-US" sz="3200" dirty="0"/>
          </a:p>
        </p:txBody>
      </p:sp>
      <p:sp>
        <p:nvSpPr>
          <p:cNvPr id="4" name="Shape 2"/>
          <p:cNvSpPr/>
          <p:nvPr/>
        </p:nvSpPr>
        <p:spPr>
          <a:xfrm>
            <a:off x="812800" y="1794470"/>
            <a:ext cx="5435600" cy="4047530"/>
          </a:xfrm>
          <a:prstGeom prst="roundRect">
            <a:avLst>
              <a:gd name="adj" fmla="val 567"/>
            </a:avLst>
          </a:prstGeom>
          <a:solidFill>
            <a:srgbClr val="14213D"/>
          </a:solidFill>
          <a:ln/>
        </p:spPr>
      </p:sp>
      <p:sp>
        <p:nvSpPr>
          <p:cNvPr id="5" name="Text 3"/>
          <p:cNvSpPr txBox="1"/>
          <p:nvPr/>
        </p:nvSpPr>
        <p:spPr>
          <a:xfrm>
            <a:off x="1066800" y="2023070"/>
            <a:ext cx="4927600" cy="279400"/>
          </a:xfrm>
          <a:prstGeom prst="rect">
            <a:avLst/>
          </a:prstGeom>
          <a:noFill/>
          <a:ln/>
        </p:spPr>
        <p:txBody>
          <a:bodyPr wrap="none" lIns="0" tIns="0" rIns="0" bIns="0" rtlCol="0" anchor="t"/>
          <a:lstStyle/>
          <a:p>
            <a:pPr algn="l" indent="0" marL="0">
              <a:lnSpc>
                <a:spcPct val="140000"/>
              </a:lnSpc>
              <a:buNone/>
            </a:pPr>
            <a:r>
              <a:rPr lang="en-US" sz="1500" b="1" dirty="0">
                <a:solidFill>
                  <a:srgbClr val="F08A4B"/>
                </a:solidFill>
                <a:latin typeface="Hiragino Sans" pitchFamily="34" charset="0"/>
                <a:ea typeface="Hiragino Sans" pitchFamily="34" charset="-122"/>
                <a:cs typeface="Hiragino Sans" pitchFamily="34" charset="-120"/>
              </a:rPr>
              <a:t>毎月のメンバーアンケート</a:t>
            </a:r>
            <a:endParaRPr lang="en-US" sz="1500" dirty="0"/>
          </a:p>
        </p:txBody>
      </p:sp>
      <p:sp>
        <p:nvSpPr>
          <p:cNvPr id="6" name="Text 4"/>
          <p:cNvSpPr txBox="1"/>
          <p:nvPr/>
        </p:nvSpPr>
        <p:spPr>
          <a:xfrm>
            <a:off x="1066800" y="2404070"/>
            <a:ext cx="5003800" cy="457200"/>
          </a:xfrm>
          <a:prstGeom prst="rect">
            <a:avLst/>
          </a:prstGeom>
          <a:noFill/>
          <a:ln/>
        </p:spPr>
        <p:txBody>
          <a:bodyPr wrap="square" lIns="0" tIns="0" rIns="0" bIns="0" rtlCol="0" anchor="t"/>
          <a:lstStyle/>
          <a:p>
            <a:pPr algn="l" indent="0" marL="0">
              <a:lnSpc>
                <a:spcPct val="150000"/>
              </a:lnSpc>
              <a:buNone/>
            </a:pPr>
            <a:r>
              <a:rPr lang="en-US" sz="1200" dirty="0">
                <a:solidFill>
                  <a:srgbClr val="C9D3E6"/>
                </a:solidFill>
                <a:latin typeface="Hiragino Sans" pitchFamily="34" charset="0"/>
                <a:ea typeface="Hiragino Sans" pitchFamily="34" charset="-122"/>
                <a:cs typeface="Hiragino Sans" pitchFamily="34" charset="-120"/>
              </a:rPr>
              <a:t>満足度と問題（ハラスメント等）を確認。毎月考える時間を取り、現場感をつかんでMGRへフィードバック。</a:t>
            </a:r>
            <a:endParaRPr lang="en-US" sz="1200" dirty="0"/>
          </a:p>
        </p:txBody>
      </p:sp>
      <p:sp>
        <p:nvSpPr>
          <p:cNvPr id="7" name="Text 5"/>
          <p:cNvSpPr txBox="1"/>
          <p:nvPr/>
        </p:nvSpPr>
        <p:spPr>
          <a:xfrm>
            <a:off x="1066800" y="2962870"/>
            <a:ext cx="4927600" cy="243780"/>
          </a:xfrm>
          <a:prstGeom prst="rect">
            <a:avLst/>
          </a:prstGeom>
          <a:noFill/>
          <a:ln/>
        </p:spPr>
        <p:txBody>
          <a:bodyPr wrap="none" lIns="0" tIns="0" rIns="0" bIns="0" rtlCol="0" anchor="t"/>
          <a:lstStyle/>
          <a:p>
            <a:pPr algn="l" marL="228600" indent="-228600">
              <a:lnSpc>
                <a:spcPct val="160000"/>
              </a:lnSpc>
              <a:buSzPct val="100000"/>
              <a:buChar char="•"/>
            </a:pPr>
            <a:r>
              <a:rPr lang="en-US" sz="1200" dirty="0">
                <a:solidFill>
                  <a:srgbClr val="F6F4EF"/>
                </a:solidFill>
                <a:latin typeface="Hiragino Sans" pitchFamily="34" charset="0"/>
                <a:ea typeface="Hiragino Sans" pitchFamily="34" charset="-122"/>
                <a:cs typeface="Hiragino Sans" pitchFamily="34" charset="-120"/>
              </a:rPr>
              <a:t>どのくらい長くこの会社にいたいですか？</a:t>
            </a:r>
            <a:endParaRPr lang="en-US" sz="1200" dirty="0"/>
          </a:p>
        </p:txBody>
      </p:sp>
      <p:sp>
        <p:nvSpPr>
          <p:cNvPr id="8" name="Text 6"/>
          <p:cNvSpPr txBox="1"/>
          <p:nvPr/>
        </p:nvSpPr>
        <p:spPr>
          <a:xfrm>
            <a:off x="1066800" y="3257451"/>
            <a:ext cx="4927600" cy="243780"/>
          </a:xfrm>
          <a:prstGeom prst="rect">
            <a:avLst/>
          </a:prstGeom>
          <a:noFill/>
          <a:ln/>
        </p:spPr>
        <p:txBody>
          <a:bodyPr wrap="none" lIns="0" tIns="0" rIns="0" bIns="0" rtlCol="0" anchor="t"/>
          <a:lstStyle/>
          <a:p>
            <a:pPr algn="l" marL="228600" indent="-228600">
              <a:lnSpc>
                <a:spcPct val="160000"/>
              </a:lnSpc>
              <a:buSzPct val="100000"/>
              <a:buChar char="•"/>
            </a:pPr>
            <a:r>
              <a:rPr lang="en-US" sz="1200" dirty="0">
                <a:solidFill>
                  <a:srgbClr val="F6F4EF"/>
                </a:solidFill>
                <a:latin typeface="Hiragino Sans" pitchFamily="34" charset="0"/>
                <a:ea typeface="Hiragino Sans" pitchFamily="34" charset="-122"/>
                <a:cs typeface="Hiragino Sans" pitchFamily="34" charset="-120"/>
              </a:rPr>
              <a:t>尊重されていると感じますか？</a:t>
            </a:r>
            <a:endParaRPr lang="en-US" sz="1200" dirty="0"/>
          </a:p>
        </p:txBody>
      </p:sp>
      <p:sp>
        <p:nvSpPr>
          <p:cNvPr id="9" name="Text 7"/>
          <p:cNvSpPr txBox="1"/>
          <p:nvPr/>
        </p:nvSpPr>
        <p:spPr>
          <a:xfrm>
            <a:off x="1066800" y="3552031"/>
            <a:ext cx="4927600" cy="243780"/>
          </a:xfrm>
          <a:prstGeom prst="rect">
            <a:avLst/>
          </a:prstGeom>
          <a:noFill/>
          <a:ln/>
        </p:spPr>
        <p:txBody>
          <a:bodyPr wrap="none" lIns="0" tIns="0" rIns="0" bIns="0" rtlCol="0" anchor="t"/>
          <a:lstStyle/>
          <a:p>
            <a:pPr algn="l" marL="228600" indent="-228600">
              <a:lnSpc>
                <a:spcPct val="160000"/>
              </a:lnSpc>
              <a:buSzPct val="100000"/>
              <a:buChar char="•"/>
            </a:pPr>
            <a:r>
              <a:rPr lang="en-US" sz="1200" dirty="0">
                <a:solidFill>
                  <a:srgbClr val="F6F4EF"/>
                </a:solidFill>
                <a:latin typeface="Hiragino Sans" pitchFamily="34" charset="0"/>
                <a:ea typeface="Hiragino Sans" pitchFamily="34" charset="-122"/>
                <a:cs typeface="Hiragino Sans" pitchFamily="34" charset="-120"/>
              </a:rPr>
              <a:t>マネージャーは質問を聞いてくれますか？</a:t>
            </a:r>
            <a:endParaRPr lang="en-US" sz="1200" dirty="0"/>
          </a:p>
        </p:txBody>
      </p:sp>
      <p:sp>
        <p:nvSpPr>
          <p:cNvPr id="10" name="Text 8"/>
          <p:cNvSpPr txBox="1"/>
          <p:nvPr/>
        </p:nvSpPr>
        <p:spPr>
          <a:xfrm>
            <a:off x="1066800" y="3846612"/>
            <a:ext cx="4927600" cy="243780"/>
          </a:xfrm>
          <a:prstGeom prst="rect">
            <a:avLst/>
          </a:prstGeom>
          <a:noFill/>
          <a:ln/>
        </p:spPr>
        <p:txBody>
          <a:bodyPr wrap="none" lIns="0" tIns="0" rIns="0" bIns="0" rtlCol="0" anchor="t"/>
          <a:lstStyle/>
          <a:p>
            <a:pPr algn="l" marL="228600" indent="-228600">
              <a:lnSpc>
                <a:spcPct val="160000"/>
              </a:lnSpc>
              <a:buSzPct val="100000"/>
              <a:buChar char="•"/>
            </a:pPr>
            <a:r>
              <a:rPr lang="en-US" sz="1200" dirty="0">
                <a:solidFill>
                  <a:srgbClr val="F6F4EF"/>
                </a:solidFill>
                <a:latin typeface="Hiragino Sans" pitchFamily="34" charset="0"/>
                <a:ea typeface="Hiragino Sans" pitchFamily="34" charset="-122"/>
                <a:cs typeface="Hiragino Sans" pitchFamily="34" charset="-120"/>
              </a:rPr>
              <a:t>会社の方向性に満足していますか？</a:t>
            </a:r>
            <a:endParaRPr lang="en-US" sz="1200" dirty="0"/>
          </a:p>
        </p:txBody>
      </p:sp>
      <p:sp>
        <p:nvSpPr>
          <p:cNvPr id="11" name="Shape 9"/>
          <p:cNvSpPr/>
          <p:nvPr/>
        </p:nvSpPr>
        <p:spPr>
          <a:xfrm>
            <a:off x="6451600" y="1794470"/>
            <a:ext cx="4927600" cy="901700"/>
          </a:xfrm>
          <a:prstGeom prst="roundRect">
            <a:avLst>
              <a:gd name="adj" fmla="val 11426"/>
            </a:avLst>
          </a:prstGeom>
          <a:solidFill>
            <a:srgbClr val="FDFCF9"/>
          </a:solidFill>
          <a:ln w="6350">
            <a:solidFill>
              <a:srgbClr val="E2DED5"/>
            </a:solidFill>
            <a:prstDash val="solid"/>
          </a:ln>
        </p:spPr>
      </p:sp>
      <p:sp>
        <p:nvSpPr>
          <p:cNvPr id="12" name="Text 10"/>
          <p:cNvSpPr txBox="1"/>
          <p:nvPr/>
        </p:nvSpPr>
        <p:spPr>
          <a:xfrm>
            <a:off x="6661150" y="1978620"/>
            <a:ext cx="45085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Udemyで社内コンテンツ作成</a:t>
            </a:r>
            <a:endParaRPr lang="en-US" sz="1400" dirty="0"/>
          </a:p>
        </p:txBody>
      </p:sp>
      <p:sp>
        <p:nvSpPr>
          <p:cNvPr id="13" name="Text 11"/>
          <p:cNvSpPr txBox="1"/>
          <p:nvPr/>
        </p:nvSpPr>
        <p:spPr>
          <a:xfrm>
            <a:off x="6661150" y="2283420"/>
            <a:ext cx="4508500" cy="228600"/>
          </a:xfrm>
          <a:prstGeom prst="rect">
            <a:avLst/>
          </a:prstGeom>
          <a:noFill/>
          <a:ln/>
        </p:spPr>
        <p:txBody>
          <a:bodyPr wrap="non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必要な勉強は自分で選ぶ。環境は会社が用意する。</a:t>
            </a:r>
            <a:endParaRPr lang="en-US" sz="1200" dirty="0"/>
          </a:p>
        </p:txBody>
      </p:sp>
      <p:sp>
        <p:nvSpPr>
          <p:cNvPr id="14" name="Shape 12"/>
          <p:cNvSpPr/>
          <p:nvPr/>
        </p:nvSpPr>
        <p:spPr>
          <a:xfrm>
            <a:off x="6451600" y="2823170"/>
            <a:ext cx="4927600" cy="1130300"/>
          </a:xfrm>
          <a:prstGeom prst="roundRect">
            <a:avLst>
              <a:gd name="adj" fmla="val 7272"/>
            </a:avLst>
          </a:prstGeom>
          <a:solidFill>
            <a:srgbClr val="FDFCF9"/>
          </a:solidFill>
          <a:ln w="6350">
            <a:solidFill>
              <a:srgbClr val="E2DED5"/>
            </a:solidFill>
            <a:prstDash val="solid"/>
          </a:ln>
        </p:spPr>
      </p:sp>
      <p:sp>
        <p:nvSpPr>
          <p:cNvPr id="15" name="Text 13"/>
          <p:cNvSpPr txBox="1"/>
          <p:nvPr/>
        </p:nvSpPr>
        <p:spPr>
          <a:xfrm>
            <a:off x="6661150" y="3007320"/>
            <a:ext cx="45085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バックオフィスは席を固定</a:t>
            </a:r>
            <a:endParaRPr lang="en-US" sz="1400" dirty="0"/>
          </a:p>
        </p:txBody>
      </p:sp>
      <p:sp>
        <p:nvSpPr>
          <p:cNvPr id="16" name="Text 14"/>
          <p:cNvSpPr txBox="1"/>
          <p:nvPr/>
        </p:nvSpPr>
        <p:spPr>
          <a:xfrm>
            <a:off x="6661150" y="3312120"/>
            <a:ext cx="4584700" cy="457200"/>
          </a:xfrm>
          <a:prstGeom prst="rect">
            <a:avLst/>
          </a:prstGeom>
          <a:noFill/>
          <a:ln/>
        </p:spPr>
        <p:txBody>
          <a:bodyPr wrap="squar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相談し合う・わからないことを聞く・教えることでスキルアップ。</a:t>
            </a:r>
            <a:endParaRPr lang="en-US" sz="1200" dirty="0"/>
          </a:p>
        </p:txBody>
      </p:sp>
      <p:sp>
        <p:nvSpPr>
          <p:cNvPr id="17" name="Shape 15"/>
          <p:cNvSpPr/>
          <p:nvPr/>
        </p:nvSpPr>
        <p:spPr>
          <a:xfrm>
            <a:off x="6451600" y="4080470"/>
            <a:ext cx="4927600" cy="901700"/>
          </a:xfrm>
          <a:prstGeom prst="roundRect">
            <a:avLst>
              <a:gd name="adj" fmla="val 11426"/>
            </a:avLst>
          </a:prstGeom>
          <a:solidFill>
            <a:srgbClr val="FDFCF9"/>
          </a:solidFill>
          <a:ln w="6350">
            <a:solidFill>
              <a:srgbClr val="E2DED5"/>
            </a:solidFill>
            <a:prstDash val="solid"/>
          </a:ln>
        </p:spPr>
      </p:sp>
      <p:sp>
        <p:nvSpPr>
          <p:cNvPr id="18" name="Text 16"/>
          <p:cNvSpPr txBox="1"/>
          <p:nvPr/>
        </p:nvSpPr>
        <p:spPr>
          <a:xfrm>
            <a:off x="6661150" y="4264620"/>
            <a:ext cx="4508500" cy="254000"/>
          </a:xfrm>
          <a:prstGeom prst="rect">
            <a:avLst/>
          </a:prstGeom>
          <a:noFill/>
          <a:ln/>
        </p:spPr>
        <p:txBody>
          <a:bodyPr wrap="none" lIns="0" tIns="0" rIns="0" bIns="0" rtlCol="0" anchor="t"/>
          <a:lstStyle/>
          <a:p>
            <a:pPr algn="l" indent="0" marL="0">
              <a:lnSpc>
                <a:spcPct val="140000"/>
              </a:lnSpc>
              <a:buNone/>
            </a:pPr>
            <a:r>
              <a:rPr lang="en-US" sz="1400" b="1" dirty="0">
                <a:solidFill>
                  <a:srgbClr val="B4481A"/>
                </a:solidFill>
                <a:latin typeface="Hiragino Sans" pitchFamily="34" charset="0"/>
                <a:ea typeface="Hiragino Sans" pitchFamily="34" charset="-122"/>
                <a:cs typeface="Hiragino Sans" pitchFamily="34" charset="-120"/>
              </a:rPr>
              <a:t>パーソナライズを全面に</a:t>
            </a:r>
            <a:endParaRPr lang="en-US" sz="1400" dirty="0"/>
          </a:p>
        </p:txBody>
      </p:sp>
      <p:sp>
        <p:nvSpPr>
          <p:cNvPr id="19" name="Text 17"/>
          <p:cNvSpPr txBox="1"/>
          <p:nvPr/>
        </p:nvSpPr>
        <p:spPr>
          <a:xfrm>
            <a:off x="6661150" y="4569420"/>
            <a:ext cx="4508500" cy="228600"/>
          </a:xfrm>
          <a:prstGeom prst="rect">
            <a:avLst/>
          </a:prstGeom>
          <a:noFill/>
          <a:ln/>
        </p:spPr>
        <p:txBody>
          <a:bodyPr wrap="none" lIns="0" tIns="0" rIns="0" bIns="0" rtlCol="0" anchor="t"/>
          <a:lstStyle/>
          <a:p>
            <a:pPr algn="l" indent="0" marL="0">
              <a:lnSpc>
                <a:spcPct val="150000"/>
              </a:lnSpc>
              <a:buNone/>
            </a:pPr>
            <a:r>
              <a:rPr lang="en-US" sz="1200" dirty="0">
                <a:solidFill>
                  <a:srgbClr val="4A5568"/>
                </a:solidFill>
                <a:latin typeface="Hiragino Sans" pitchFamily="34" charset="0"/>
                <a:ea typeface="Hiragino Sans" pitchFamily="34" charset="-122"/>
                <a:cs typeface="Hiragino Sans" pitchFamily="34" charset="-120"/>
              </a:rPr>
              <a:t>AIより人が強い領域を伸ばす。リストブランディングを強化。</a:t>
            </a:r>
            <a:endParaRPr lang="en-US" sz="1200" dirty="0"/>
          </a:p>
        </p:txBody>
      </p:sp>
      <p:sp>
        <p:nvSpPr>
          <p:cNvPr id="20" name="Text 18"/>
          <p:cNvSpPr txBox="1"/>
          <p:nvPr/>
        </p:nvSpPr>
        <p:spPr>
          <a:xfrm>
            <a:off x="812800" y="6223000"/>
            <a:ext cx="373449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Hiragino Sans" pitchFamily="34" charset="0"/>
                <a:ea typeface="Hiragino Sans" pitchFamily="34" charset="-122"/>
                <a:cs typeface="Hiragino Sans" pitchFamily="34" charset="-120"/>
              </a:rPr>
              <a:t>シリコンバレー企業研修 報告 2026.10 ／ 責任者：松田</a:t>
            </a:r>
            <a:endParaRPr lang="en-US" sz="1200" dirty="0"/>
          </a:p>
        </p:txBody>
      </p:sp>
      <p:sp>
        <p:nvSpPr>
          <p:cNvPr id="21" name="Text 19"/>
          <p:cNvSpPr txBox="1"/>
          <p:nvPr/>
        </p:nvSpPr>
        <p:spPr>
          <a:xfrm>
            <a:off x="11233745" y="6223000"/>
            <a:ext cx="145455" cy="228600"/>
          </a:xfrm>
          <a:prstGeom prst="rect">
            <a:avLst/>
          </a:prstGeom>
          <a:noFill/>
          <a:ln/>
        </p:spPr>
        <p:txBody>
          <a:bodyPr wrap="none" lIns="0" tIns="0" rIns="0" bIns="0" rtlCol="0" anchor="t"/>
          <a:lstStyle/>
          <a:p>
            <a:pPr algn="l" indent="0" marL="0">
              <a:lnSpc>
                <a:spcPct val="140000"/>
              </a:lnSpc>
              <a:buNone/>
            </a:pPr>
            <a:r>
              <a:rPr lang="en-US" sz="1200" dirty="0">
                <a:solidFill>
                  <a:srgbClr val="6B7280"/>
                </a:solidFill>
                <a:latin typeface="Avenir Next Condensed" pitchFamily="34" charset="0"/>
                <a:ea typeface="Avenir Next Condensed" pitchFamily="34" charset="-122"/>
                <a:cs typeface="Avenir Next Condensed"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34950"/>
          </a:xfrm>
          <a:prstGeom prst="rect">
            <a:avLst/>
          </a:prstGeom>
          <a:noFill/>
          <a:ln/>
        </p:spPr>
        <p:txBody>
          <a:bodyPr wrap="none" lIns="0" tIns="0" rIns="0" bIns="0" rtlCol="0" anchor="t"/>
          <a:lstStyle/>
          <a:p>
            <a:pPr algn="l" indent="0" marL="0">
              <a:lnSpc>
                <a:spcPct val="140000"/>
              </a:lnSpc>
              <a:buNone/>
            </a:pPr>
            <a:r>
              <a:rPr lang="en-US" sz="1200" spc="200" kern="0" dirty="0">
                <a:solidFill>
                  <a:srgbClr val="F08A4B"/>
                </a:solidFill>
                <a:latin typeface="Avenir Next Condensed" pitchFamily="34" charset="0"/>
                <a:ea typeface="Avenir Next Condensed" pitchFamily="34" charset="-122"/>
                <a:cs typeface="Avenir Next Condensed" pitchFamily="34" charset="-120"/>
              </a:rPr>
              <a:t>NEXT — まずやってみる（MVP）</a:t>
            </a:r>
            <a:endParaRPr lang="en-US" sz="1200" dirty="0"/>
          </a:p>
        </p:txBody>
      </p:sp>
      <p:sp>
        <p:nvSpPr>
          <p:cNvPr id="3" name="Text 1"/>
          <p:cNvSpPr txBox="1"/>
          <p:nvPr/>
        </p:nvSpPr>
        <p:spPr>
          <a:xfrm>
            <a:off x="812800" y="1250950"/>
            <a:ext cx="10642600" cy="1397000"/>
          </a:xfrm>
          <a:prstGeom prst="rect">
            <a:avLst/>
          </a:prstGeom>
          <a:noFill/>
          <a:ln/>
        </p:spPr>
        <p:txBody>
          <a:bodyPr wrap="square" lIns="0" tIns="0" rIns="0" bIns="0" rtlCol="0" anchor="t"/>
          <a:lstStyle/>
          <a:p>
            <a:pPr algn="l" indent="0" marL="0">
              <a:lnSpc>
                <a:spcPct val="125000"/>
              </a:lnSpc>
              <a:buNone/>
            </a:pPr>
            <a:r>
              <a:rPr lang="en-US" sz="4400" b="1" dirty="0">
                <a:solidFill>
                  <a:srgbClr val="F6F4EF"/>
                </a:solidFill>
                <a:latin typeface="Hiragino Sans" pitchFamily="34" charset="0"/>
                <a:ea typeface="Hiragino Sans" pitchFamily="34" charset="-122"/>
                <a:cs typeface="Hiragino Sans" pitchFamily="34" charset="-120"/>
              </a:rPr>
              <a:t>仕組みで人が動く会社へ。</a:t>
            </a:r>
            <a:endParaRPr lang="en-US" sz="4400" dirty="0"/>
          </a:p>
          <a:p>
            <a:pPr algn="l" indent="0" marL="0">
              <a:lnSpc>
                <a:spcPct val="125000"/>
              </a:lnSpc>
              <a:buNone/>
            </a:pPr>
            <a:r>
              <a:rPr lang="en-US" sz="4400" b="1" dirty="0">
                <a:solidFill>
                  <a:srgbClr val="F6F4EF"/>
                </a:solidFill>
                <a:latin typeface="Hiragino Sans" pitchFamily="34" charset="0"/>
                <a:ea typeface="Hiragino Sans" pitchFamily="34" charset="-122"/>
                <a:cs typeface="Hiragino Sans" pitchFamily="34" charset="-120"/>
              </a:rPr>
              <a:t>生産性 2億円／人 を実現する。</a:t>
            </a:r>
            <a:endParaRPr lang="en-US" sz="4400" dirty="0"/>
          </a:p>
        </p:txBody>
      </p:sp>
      <p:sp>
        <p:nvSpPr>
          <p:cNvPr id="4" name="Text 2"/>
          <p:cNvSpPr txBox="1"/>
          <p:nvPr/>
        </p:nvSpPr>
        <p:spPr>
          <a:xfrm>
            <a:off x="812800" y="2851150"/>
            <a:ext cx="10642600" cy="609600"/>
          </a:xfrm>
          <a:prstGeom prst="rect">
            <a:avLst/>
          </a:prstGeom>
          <a:noFill/>
          <a:ln/>
        </p:spPr>
        <p:txBody>
          <a:bodyPr wrap="square" lIns="0" tIns="0" rIns="0" bIns="0" rtlCol="0" anchor="t"/>
          <a:lstStyle/>
          <a:p>
            <a:pPr algn="l" indent="0" marL="0">
              <a:lnSpc>
                <a:spcPct val="160000"/>
              </a:lnSpc>
              <a:buNone/>
            </a:pPr>
            <a:r>
              <a:rPr lang="en-US" sz="1500" dirty="0">
                <a:solidFill>
                  <a:srgbClr val="C9D3E6"/>
                </a:solidFill>
                <a:latin typeface="Hiragino Sans" pitchFamily="34" charset="0"/>
                <a:ea typeface="Hiragino Sans" pitchFamily="34" charset="-122"/>
                <a:cs typeface="Hiragino Sans" pitchFamily="34" charset="-120"/>
              </a:rPr>
              <a:t>採用・組織・給与・評価・教育の5つを同時に変える。</a:t>
            </a:r>
            <a:endParaRPr lang="en-US" sz="1500" dirty="0"/>
          </a:p>
          <a:p>
            <a:pPr algn="l" indent="0" marL="0">
              <a:lnSpc>
                <a:spcPct val="160000"/>
              </a:lnSpc>
              <a:buNone/>
            </a:pPr>
            <a:r>
              <a:rPr lang="en-US" sz="1500" dirty="0">
                <a:solidFill>
                  <a:srgbClr val="C9D3E6"/>
                </a:solidFill>
                <a:latin typeface="Hiragino Sans" pitchFamily="34" charset="0"/>
                <a:ea typeface="Hiragino Sans" pitchFamily="34" charset="-122"/>
                <a:cs typeface="Hiragino Sans" pitchFamily="34" charset="-120"/>
              </a:rPr>
              <a:t>小さく始め、良ければ続け、ダメなら改善して次へ。</a:t>
            </a:r>
            <a:endParaRPr lang="en-US" sz="1500" dirty="0"/>
          </a:p>
        </p:txBody>
      </p:sp>
      <p:pic>
        <p:nvPicPr>
          <p:cNvPr id="5" name="Image 0" descr="/tmp/claude-0/-home-user--/3ca9cfef-63b4-5a4c-8641-852bc146d002/images/2.jpg">    </p:cNvPr>
          <p:cNvPicPr>
            <a:picLocks noChangeAspect="1"/>
          </p:cNvPicPr>
          <p:nvPr/>
        </p:nvPicPr>
        <p:blipFill>
          <a:blip r:embed="rId1"/>
          <a:srcRect l="0" r="0" t="27387" b="27387"/>
          <a:stretch/>
        </p:blipFill>
        <p:spPr>
          <a:xfrm>
            <a:off x="812800" y="4521200"/>
            <a:ext cx="2527300" cy="1524000"/>
          </a:xfrm>
          <a:prstGeom prst="rect">
            <a:avLst/>
          </a:prstGeom>
        </p:spPr>
      </p:pic>
      <p:pic>
        <p:nvPicPr>
          <p:cNvPr id="6" name="Image 1" descr="/tmp/claude-0/-home-user--/3ca9cfef-63b4-5a4c-8641-852bc146d002/images/5.jpg">    </p:cNvPr>
          <p:cNvPicPr>
            <a:picLocks noChangeAspect="1"/>
          </p:cNvPicPr>
          <p:nvPr/>
        </p:nvPicPr>
        <p:blipFill>
          <a:blip r:embed="rId2"/>
          <a:srcRect l="0" r="0" t="9799" b="9799"/>
          <a:stretch/>
        </p:blipFill>
        <p:spPr>
          <a:xfrm>
            <a:off x="3492500" y="4521200"/>
            <a:ext cx="2527300" cy="1524000"/>
          </a:xfrm>
          <a:prstGeom prst="rect">
            <a:avLst/>
          </a:prstGeom>
        </p:spPr>
      </p:pic>
      <p:pic>
        <p:nvPicPr>
          <p:cNvPr id="7" name="Image 2" descr="/tmp/claude-0/-home-user--/3ca9cfef-63b4-5a4c-8641-852bc146d002/images/8.jpg">    </p:cNvPr>
          <p:cNvPicPr>
            <a:picLocks noChangeAspect="1"/>
          </p:cNvPicPr>
          <p:nvPr/>
        </p:nvPicPr>
        <p:blipFill>
          <a:blip r:embed="rId3"/>
          <a:srcRect l="0" r="0" t="9799" b="9799"/>
          <a:stretch/>
        </p:blipFill>
        <p:spPr>
          <a:xfrm>
            <a:off x="6172200" y="4521200"/>
            <a:ext cx="2527300" cy="1524000"/>
          </a:xfrm>
          <a:prstGeom prst="rect">
            <a:avLst/>
          </a:prstGeom>
        </p:spPr>
      </p:pic>
      <p:pic>
        <p:nvPicPr>
          <p:cNvPr id="8" name="Image 3" descr="/tmp/claude-0/-home-user--/3ca9cfef-63b4-5a4c-8641-852bc146d002/images/10.jpg">    </p:cNvPr>
          <p:cNvPicPr>
            <a:picLocks noChangeAspect="1"/>
          </p:cNvPicPr>
          <p:nvPr/>
        </p:nvPicPr>
        <p:blipFill>
          <a:blip r:embed="rId4"/>
          <a:srcRect l="0" r="0" t="27387" b="27387"/>
          <a:stretch/>
        </p:blipFill>
        <p:spPr>
          <a:xfrm>
            <a:off x="8851900" y="4521200"/>
            <a:ext cx="2527300" cy="152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iragin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ragin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シリコンバレー研修報告 2026年10月</dc:title>
  <dc:subject>PptxGenJS Presentation</dc:subject>
  <dc:creator>松田</dc:creator>
  <cp:lastModifiedBy>松田</cp:lastModifiedBy>
  <cp:revision>1</cp:revision>
  <dcterms:created xsi:type="dcterms:W3CDTF">2026-10-18T01:43:41Z</dcterms:created>
  <dcterms:modified xsi:type="dcterms:W3CDTF">2026-10-18T01:43:41Z</dcterms:modified>
</cp:coreProperties>
</file>