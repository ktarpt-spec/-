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dfb86a74-f784-3734-0b44-9886f27e40d6}">
          <p14:sldIdLst>
            <p14:sldId id="256"/>
          </p14:sldIdLst>
        </p14:section>
        <p14:section name="結論" id="{b1ba9dc7-6434-bc26-4bac-3aff1dcf9e82}">
          <p14:sldIdLst>
            <p14:sldId id="257"/>
          </p14:sldIdLst>
        </p14:section>
        <p14:section name="分析結果" id="{7afae79a-874c-b20b-3ea7-aeee8337a86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3つの質問への回答" id="{a0fba230-2f49-8cf6-579f-ca5e6ce40a0f}">
          <p14:sldIdLst>
            <p14:sldId id="264"/>
            <p14:sldId id="265"/>
            <p14:sldId id="266"/>
          </p14:sldIdLst>
        </p14:section>
        <p14:section name="11月の計画" id="{22cb726e-8fe2-d26a-c91e-05c9fdb74a3e}">
          <p14:sldIdLst>
            <p14:sldId id="267"/>
          </p14:sldIdLst>
        </p14:section>
        <p14:section name="付録" id="{d7ccbabc-3217-3751-934e-b4dd06fafed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8"/>
                </a:solidFill>
                <a:latin typeface="+mn-lt"/>
              </a:rPr>
              <a:t>各段階で離脱した人数（人）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失った人数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来店→承諾</c:v>
                  </c:pt>
                  <c:pt idx="1">
                    <c:v>予約→来店</c:v>
                  </c:pt>
                  <c:pt idx="2">
                    <c:v>問い合わせ→予約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35</c:v>
                </c:pt>
                <c:pt idx="2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8"/>
                </a:solidFill>
                <a:latin typeface="+mn-lt"/>
              </a:rPr>
              <a:t>問い合わせ（件）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問い合わせ</c:v>
                </c:pt>
              </c:strCache>
            </c:strRef>
          </c:tx>
          <c:spPr>
            <a:solidFill>
              <a:srgbClr val="7FA9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重大発表</c:v>
                  </c:pt>
                  <c:pt idx="1">
                    <c:v>翼デビュー</c:v>
                  </c:pt>
                  <c:pt idx="2">
                    <c:v>挑戦状</c:v>
                  </c:pt>
                  <c:pt idx="3">
                    <c:v>いません</c:v>
                  </c:pt>
                  <c:pt idx="4">
                    <c:v>手術回避</c:v>
                  </c:pt>
                  <c:pt idx="5">
                    <c:v>お返事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62</c:v>
                </c:pt>
                <c:pt idx="2">
                  <c:v>29</c:v>
                </c:pt>
                <c:pt idx="3">
                  <c:v>10</c:v>
                </c:pt>
                <c:pt idx="4">
                  <c:v>23</c:v>
                </c:pt>
                <c:pt idx="5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8"/>
                </a:solidFill>
                <a:latin typeface="+mn-lt"/>
              </a:rPr>
              <a:t>承諾（件）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承諾</c:v>
                </c:pt>
              </c:strCache>
            </c:strRef>
          </c:tx>
          <c:spPr>
            <a:solidFill>
              <a:srgbClr val="7FA9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重大発表</c:v>
                  </c:pt>
                  <c:pt idx="1">
                    <c:v>翼デビュー</c:v>
                  </c:pt>
                  <c:pt idx="2">
                    <c:v>挑戦状</c:v>
                  </c:pt>
                  <c:pt idx="3">
                    <c:v>いません</c:v>
                  </c:pt>
                  <c:pt idx="4">
                    <c:v>手術回避</c:v>
                  </c:pt>
                  <c:pt idx="5">
                    <c:v>お返事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10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8"/>
                </a:solidFill>
                <a:latin typeface="+mn-lt"/>
              </a:rPr>
              <a:t>LINE：LPタップ→問い合わせ率（％）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1日目</c:v>
                </c:pt>
              </c:strCache>
            </c:strRef>
          </c:tx>
          <c:spPr>
            <a:solidFill>
              <a:srgbClr val="C9DCD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重大発表</c:v>
                  </c:pt>
                  <c:pt idx="1">
                    <c:v>翼デビュー</c:v>
                  </c:pt>
                  <c:pt idx="2">
                    <c:v>挑戦状</c:v>
                  </c:pt>
                  <c:pt idx="3">
                    <c:v>いません</c:v>
                  </c:pt>
                  <c:pt idx="4">
                    <c:v>手術回避</c:v>
                  </c:pt>
                  <c:pt idx="5">
                    <c:v>お返事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</c:v>
                </c:pt>
                <c:pt idx="1">
                  <c:v>5.3</c:v>
                </c:pt>
                <c:pt idx="2">
                  <c:v>4.7</c:v>
                </c:pt>
                <c:pt idx="3">
                  <c:v>6.6</c:v>
                </c:pt>
                <c:pt idx="4">
                  <c:v>10</c:v>
                </c:pt>
                <c:pt idx="5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最終日</c:v>
                </c:pt>
              </c:strCache>
            </c:strRef>
          </c:tx>
          <c:spPr>
            <a:solidFill>
              <a:srgbClr val="174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重大発表</c:v>
                  </c:pt>
                  <c:pt idx="1">
                    <c:v>翼デビュー</c:v>
                  </c:pt>
                  <c:pt idx="2">
                    <c:v>挑戦状</c:v>
                  </c:pt>
                  <c:pt idx="3">
                    <c:v>いません</c:v>
                  </c:pt>
                  <c:pt idx="4">
                    <c:v>手術回避</c:v>
                  </c:pt>
                  <c:pt idx="5">
                    <c:v>お返事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17.4</c:v>
                </c:pt>
                <c:pt idx="1">
                  <c:v>5.9</c:v>
                </c:pt>
                <c:pt idx="2">
                  <c:v>15.4</c:v>
                </c:pt>
                <c:pt idx="3">
                  <c:v>7.4</c:v>
                </c:pt>
                <c:pt idx="4">
                  <c:v>2.5</c:v>
                </c:pt>
                <c:pt idx="5">
                  <c:v>12.2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8"/>
                </a:solidFill>
                <a:latin typeface="+mn-lt"/>
              </a:rPr>
              <a:t>LPタップ数（横）と問い合わせ数（縦）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問い合わせ</c:v>
                </c:pt>
              </c:strCache>
            </c:strRef>
          </c:tx>
          <c:spPr>
            <a:solidFill>
              <a:srgbClr val="E07A2E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E07A2E"/>
              </a:solidFill>
              <a:ln w="9525" cap="flat">
                <a:solidFill>
                  <a:srgbClr val="E07A2E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重大発表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c3-7085-d74f-b7e2bf91bcde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翼デビュー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c3-7085-d74f-b7e2bf91bcde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挑戦状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c3-7085-d74f-b7e2bf91bcde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いません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c3-7085-d74f-b7e2bf91bcde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手術回避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c3-7085-d74f-b7e2bf91bcde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お返事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0c3-7085-d74f-b7e2bf91bcde}"/>
                </c:ext>
              </c:extLst>
            </c:dLbl>
          </c:dLbls>
          <c:xVal>
            <c:numRef>
              <c:f>Sheet1!$A$2:$A$7</c:f>
              <c:numCache>
                <c:formatCode>General</c:formatCode>
                <c:ptCount val="6"/>
                <c:pt idx="0">
                  <c:v>233</c:v>
                </c:pt>
                <c:pt idx="1">
                  <c:v>1305</c:v>
                </c:pt>
                <c:pt idx="2">
                  <c:v>884</c:v>
                </c:pt>
                <c:pt idx="3">
                  <c:v>739</c:v>
                </c:pt>
                <c:pt idx="4">
                  <c:v>507</c:v>
                </c:pt>
                <c:pt idx="5">
                  <c:v>1232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62</c:v>
                </c:pt>
                <c:pt idx="2">
                  <c:v>29</c:v>
                </c:pt>
                <c:pt idx="3">
                  <c:v>10</c:v>
                </c:pt>
                <c:pt idx="4">
                  <c:v>23</c:v>
                </c:pt>
                <c:pt idx="5">
                  <c:v>33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F2A28"/>
                  </a:solidFill>
                  <a:latin typeface="+mn-lt"/>
                </a:defRPr>
              </a:pPr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8"/>
                </a:solidFill>
                <a:latin typeface="+mn-lt"/>
              </a:rPr>
              <a:t>問い合わせ（件）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問い合わせ</c:v>
                </c:pt>
              </c:strCache>
            </c:strRef>
          </c:tx>
          <c:spPr>
            <a:solidFill>
              <a:srgbClr val="C9DC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CD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現状（計測分）</c:v>
                  </c:pt>
                  <c:pt idx="1">
                    <c:v>LP率を2倍に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131</c:v>
                </c:pt>
                <c:pt idx="1">
                  <c:v>262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ふっか整体｜10月販売分析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2026年10月 販売実績の分析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LINE・メルマガ 6企画（重大発表／翼デビュー／挑戦状／いません／手術回避／お返事）の結果と、11月の打ち手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問い合わせ 174件 ・ 予約 90件 ・ 来店 55件 ・ 承諾 19件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結論：3つの質問への答え</a:t>
            </a:r>
            <a:endParaRPr lang="en-US" sz="2800" dirty="0"/>
          </a:p>
        </p:txBody>
      </p:sp>
      <p:sp>
        <p:nvSpPr>
          <p:cNvPr id="3" name="qa0"/>
          <p:cNvSpPr/>
          <p:nvPr/>
        </p:nvSpPr>
        <p:spPr>
          <a:xfrm>
            <a:off x="548640" y="132588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EF4F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1740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463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何が結果に一番影響したか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「翼デビュー」1通目のテーマの強さ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463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問い合わせの36％（62件）・承諾の53％（10件）が翼デビュー。メルマガ1日目だけでLPタップ793件＝月間タップの16％</a:t>
            </a:r>
            <a:endParaRPr lang="en-US" sz="1200" dirty="0"/>
          </a:p>
        </p:txBody>
      </p:sp>
      <p:sp>
        <p:nvSpPr>
          <p:cNvPr id="9" name="qa1"/>
          <p:cNvSpPr/>
          <p:nvPr/>
        </p:nvSpPr>
        <p:spPr>
          <a:xfrm>
            <a:off x="548640" y="2990088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E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355848"/>
            <a:ext cx="731520" cy="731520"/>
          </a:xfrm>
          <a:prstGeom prst="ellipse">
            <a:avLst/>
          </a:prstGeom>
          <a:solidFill>
            <a:srgbClr val="1740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355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1272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何が良くなると2倍集まるか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2724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LPの問い合わせ率 2.7％ → 5.4％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12724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LPに来た4,900人のうち問い合わせは131人。LPに来た人の97％が何もせず離脱している</a:t>
            </a:r>
            <a:endParaRPr lang="en-US" sz="1200" dirty="0"/>
          </a:p>
        </p:txBody>
      </p:sp>
      <p:sp>
        <p:nvSpPr>
          <p:cNvPr id="15" name="qa2"/>
          <p:cNvSpPr/>
          <p:nvPr/>
        </p:nvSpPr>
        <p:spPr>
          <a:xfrm>
            <a:off x="548640" y="4654296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E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20056"/>
            <a:ext cx="731520" cy="731520"/>
          </a:xfrm>
          <a:prstGeom prst="ellipse">
            <a:avLst/>
          </a:prstGeom>
          <a:solidFill>
            <a:srgbClr val="1740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0200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79145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11月の最重要課題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791456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問い合わせ→予約の取りこぼしを止める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791456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174人中84人（48％）が予約に至っていない。新規集客ゼロ円で承諾を増やせる唯一の打ち手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10月全体：問い合わせ174件 → 承諾19件（10.9％）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最大の漏れは「問い合わせ→予約」。84人が予約に進んでいない</a:t>
            </a:r>
            <a:endParaRPr lang="en-US" sz="1500" dirty="0"/>
          </a:p>
        </p:txBody>
      </p:sp>
      <p:sp>
        <p:nvSpPr>
          <p:cNvPr id="4" name="kpi0"/>
          <p:cNvSpPr/>
          <p:nvPr/>
        </p:nvSpPr>
        <p:spPr>
          <a:xfrm>
            <a:off x="548640" y="173736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1740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174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問い合わせ（件）</a:t>
            </a:r>
            <a:endParaRPr lang="en-US" sz="1500" dirty="0"/>
          </a:p>
        </p:txBody>
      </p:sp>
      <p:sp>
        <p:nvSpPr>
          <p:cNvPr id="7" name="kpi1"/>
          <p:cNvSpPr/>
          <p:nvPr/>
        </p:nvSpPr>
        <p:spPr>
          <a:xfrm>
            <a:off x="3364992" y="173736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EE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4992" y="182880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90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予約（件）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→ 予約率 52％</a:t>
            </a:r>
            <a:endParaRPr lang="en-US" sz="1200" dirty="0"/>
          </a:p>
        </p:txBody>
      </p:sp>
      <p:sp>
        <p:nvSpPr>
          <p:cNvPr id="11" name="kpi2"/>
          <p:cNvSpPr/>
          <p:nvPr/>
        </p:nvSpPr>
        <p:spPr>
          <a:xfrm>
            <a:off x="6181344" y="173736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EE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182880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55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来店（件）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9824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→ 来店率 61％</a:t>
            </a:r>
            <a:endParaRPr lang="en-US" sz="1200" dirty="0"/>
          </a:p>
        </p:txBody>
      </p:sp>
      <p:sp>
        <p:nvSpPr>
          <p:cNvPr id="15" name="kpi3"/>
          <p:cNvSpPr/>
          <p:nvPr/>
        </p:nvSpPr>
        <p:spPr>
          <a:xfrm>
            <a:off x="8997696" y="173736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EE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97696" y="182880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19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997696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承諾（件）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→ 承諾率 35％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4160520"/>
          <a:ext cx="67665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note"/>
          <p:cNvSpPr/>
          <p:nvPr/>
        </p:nvSpPr>
        <p:spPr>
          <a:xfrm>
            <a:off x="7589520" y="420624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434340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重大発表だけ予約率94％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同じ「問い合わせ」でも、企画によって予約率は40〜94％と大差。受付〜予約の対応で取り戻せる余地が大きい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企画別：翼デビューが問い合わせの36％、承諾の53％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問い合わせ数と承諾数の両方で、2位以下に2倍以上の差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6692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600200"/>
          <a:ext cx="5303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企画別ファネル：量は翼デビュー、質は重大発表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お返事は予約15件→来店1件。10月末の企画のため、11月来店予定の予約が含まれている可能性大（要確認）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005840"/>
                <a:gridCol w="1005840"/>
                <a:gridCol w="1005840"/>
                <a:gridCol w="1143000"/>
                <a:gridCol w="1143000"/>
                <a:gridCol w="114300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企画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問い合わせ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予約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来店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承諾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予約率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来店率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承諾率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問合せ→承諾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重大発表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7A2E"/>
                          </a:solidFill>
                        </a:rPr>
                        <a:t>94％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75％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25％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7A2E"/>
                          </a:solidFill>
                        </a:rPr>
                        <a:t>18％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翼デビュー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7A2E"/>
                          </a:solidFill>
                        </a:rPr>
                        <a:t>62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7A2E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48％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77％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7A2E"/>
                          </a:solidFill>
                        </a:rPr>
                        <a:t>43％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16％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挑戦状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48％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79％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27％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10％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いません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40％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75％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33％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10％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手術回避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48％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</a:rPr>
                        <a:t>45％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40％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9％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お返事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33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45％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</a:rPr>
                        <a:t>7％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</a:rPr>
                        <a:t>0％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8"/>
                          </a:solidFill>
                        </a:rPr>
                        <a:t>0％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合計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174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55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52％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61％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35％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8"/>
                          </a:solidFill>
                        </a:rPr>
                        <a:t>11％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予約率＝予約÷問い合わせ／来店率＝来店÷予約／承諾率＝承諾÷来店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チャネル比較：メルマガは「開封」と「LP成約」で負けている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メルマガは配信65万通でもLINE（7.5万通）よりLPから問い合わせに変わる率が低い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メルマガ</a:t>
            </a:r>
            <a:endParaRPr lang="en-US" sz="1600" dirty="0"/>
          </a:p>
        </p:txBody>
      </p:sp>
      <p:sp>
        <p:nvSpPr>
          <p:cNvPr id="6" name="row0"/>
          <p:cNvSpPr/>
          <p:nvPr/>
        </p:nvSpPr>
        <p:spPr>
          <a:xfrm>
            <a:off x="548640" y="2103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開封率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25.8％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2.8％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メルマガは約9分の1。届いていない／読まれていない</a:t>
            </a:r>
            <a:endParaRPr lang="en-US" sz="1200" dirty="0"/>
          </a:p>
        </p:txBody>
      </p:sp>
      <p:sp>
        <p:nvSpPr>
          <p:cNvPr id="11" name="row1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タップ率（開封→LP）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8.5％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17.6％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開いた人の反応はメルマガの方が良い</a:t>
            </a:r>
            <a:endParaRPr lang="en-US" sz="1200" dirty="0"/>
          </a:p>
        </p:txBody>
      </p:sp>
      <p:sp>
        <p:nvSpPr>
          <p:cNvPr id="16" name="row2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LP問い合わせ率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4.6％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1.7％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931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LPに来た後の成約がメルマガは弱い</a:t>
            </a:r>
            <a:endParaRPr lang="en-US" sz="1200" dirty="0"/>
          </a:p>
        </p:txBody>
      </p:sp>
      <p:sp>
        <p:nvSpPr>
          <p:cNvPr id="21" name="row3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問い合わせ（計測分）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75件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56件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46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うち32件は翼デビュー（メルマガの57％）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メルマガのリストは10月中に13.5万→12.7万件（-6％）。開封率3％前後は迷惑メール振り分けや休眠アドレスの多さを疑うべき水準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配信日別：1日目は「量」、最終日は「質」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LINEのLP問い合わせ率は、ほぼ全企画で1日目より最終日の方が高い（締切効果）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1"/>
          <p:cNvSpPr/>
          <p:nvPr/>
        </p:nvSpPr>
        <p:spPr>
          <a:xfrm>
            <a:off x="7772400" y="16459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78308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1日目＝LPタップの山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LINE・メルマガ合計のLPタップの約半数が1日目。翼デビューのメルマガ1日目は開封者の83％がタップ</a:t>
            </a:r>
            <a:endParaRPr lang="en-US" sz="1300" dirty="0"/>
          </a:p>
        </p:txBody>
      </p:sp>
      <p:sp>
        <p:nvSpPr>
          <p:cNvPr id="7" name="d2"/>
          <p:cNvSpPr/>
          <p:nvPr/>
        </p:nvSpPr>
        <p:spPr>
          <a:xfrm>
            <a:off x="7772400" y="406908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420624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最終日＝決める人が動く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重大発表17％・挑戦状15％・お返事12％。「本日締切」「残りわずか」の最終日配信は必ず入れる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翼デビューは何が違ったのか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開封率は他企画と同じ。差がついたのは「開いた後にタップしたくなる内容」</a:t>
            </a:r>
            <a:endParaRPr lang="en-US" sz="1500" dirty="0"/>
          </a:p>
        </p:txBody>
      </p:sp>
      <p:sp>
        <p:nvSpPr>
          <p:cNvPr id="4" name="st0"/>
          <p:cNvSpPr/>
          <p:nvPr/>
        </p:nvSpPr>
        <p:spPr>
          <a:xfrm>
            <a:off x="548640" y="169164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31.6％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メルマガのタップ率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（他企画 10〜19％）</a:t>
            </a:r>
            <a:endParaRPr lang="en-US" sz="1300" dirty="0"/>
          </a:p>
        </p:txBody>
      </p:sp>
      <p:sp>
        <p:nvSpPr>
          <p:cNvPr id="7" name="st1"/>
          <p:cNvSpPr/>
          <p:nvPr/>
        </p:nvSpPr>
        <p:spPr>
          <a:xfrm>
            <a:off x="3364992" y="169164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4992" y="17830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793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7889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メルマガ1日目の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LPタップ数</a:t>
            </a:r>
            <a:endParaRPr lang="en-US" sz="1300" dirty="0"/>
          </a:p>
        </p:txBody>
      </p:sp>
      <p:sp>
        <p:nvSpPr>
          <p:cNvPr id="10" name="st2"/>
          <p:cNvSpPr/>
          <p:nvPr/>
        </p:nvSpPr>
        <p:spPr>
          <a:xfrm>
            <a:off x="6181344" y="169164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23件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7889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計測外の問い合わせ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（口コミ・紹介など）</a:t>
            </a:r>
            <a:endParaRPr lang="en-US" sz="1300" dirty="0"/>
          </a:p>
        </p:txBody>
      </p:sp>
      <p:sp>
        <p:nvSpPr>
          <p:cNvPr id="13" name="st3"/>
          <p:cNvSpPr/>
          <p:nvPr/>
        </p:nvSpPr>
        <p:spPr>
          <a:xfrm>
            <a:off x="8997696" y="169164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17830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43％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7889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来店→承諾率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（全体35％）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勝因の仮説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「人」が主役：新しい先生のデビューという、売り込みではなくニュースとして読める話題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新しさ・今だけ感：デビュー記念は期間限定の理由が自然に伝わる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話題が外に広がった：LINE・メルマガ以外の問い合わせが23件（他企画は0〜10件）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担当者が決まっている安心感が、来店後の承諾率43％につながった可能性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Q1. 何がこの結果に一番影響したのか？</a:t>
            </a:r>
            <a:endParaRPr lang="en-US" sz="2800" dirty="0"/>
          </a:p>
        </p:txBody>
      </p:sp>
      <p:sp>
        <p:nvSpPr>
          <p:cNvPr id="3" name="ans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740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A. 企画テーマの強さ ── 特に「翼デビュー」の1通目が、月の結果の大半を決めた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514600"/>
          <a:ext cx="58521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0" y="2560320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根拠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問い合わせ174件のうち62件（36％）、承諾19件のうち10件（53％）が翼デビュー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翼デビューを除くと、残り5企画の平均は問い合わせ22件・承諾1.8件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問い合わせ数はLPタップ数とおおむね連動。タップ数を決めたのは開封率ではなく「中身への反応」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つまり「どんな話題で送るか」が、配信数やチャネルより大きく効いた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Q2. 何が良くなると、今の2倍集まるのか？</a:t>
            </a:r>
            <a:endParaRPr lang="en-US" sz="2800" dirty="0"/>
          </a:p>
        </p:txBody>
      </p:sp>
      <p:sp>
        <p:nvSpPr>
          <p:cNvPr id="3" name="ans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740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A. LPの問い合わせ率を 2.7％ → 5.4％ に。LPに来た人の97％が離脱している所が最大の伸びしろ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問い合わせ ＝ 配信数 × 開封率 × タップ率 × LP問い合わせ率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30175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0" y="301752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なぜLPなのか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LPタップ4,900人 → 問い合わせ131人（2.7％）。一番人数が多く、一番漏れている段階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実現可能な水準：同じLPでもLINE最終日は12〜17％で成約している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配信数を2倍にするのは非現実的、開封率は改善に時間がかかる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改善案：ファーストビューに「誰の・何の悩みが・いつまで・いくらで」／問い合わせボタンを上部と途中に配置／入力項目を最小化（LINEで1タップ予約）／翼先生など「人」の顔と声を載せる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次点：メルマガ開封率2.8％の改善（リスト整理・送信ドメイン認証・件名）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Q3. 11月にやるべき最重要課題は？</a:t>
            </a:r>
            <a:endParaRPr lang="en-US" sz="2800" dirty="0"/>
          </a:p>
        </p:txBody>
      </p:sp>
      <p:sp>
        <p:nvSpPr>
          <p:cNvPr id="3" name="ans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740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A. 問い合わせ→予約の取りこぼしを止める（予約率 52％ → 80％）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なぜこれが最重要か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すでに手を挙げた人を逃している：174人中84人が未予約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追加の広告費ゼロ、11月からすぐ始められる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重大発表は94％を達成済み＝やり方次第で上がる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集客を2倍にしても、この穴があれば半分が漏れる</a:t>
            </a:r>
            <a:endParaRPr lang="en-US" sz="1400" dirty="0"/>
          </a:p>
        </p:txBody>
      </p:sp>
      <p:sp>
        <p:nvSpPr>
          <p:cNvPr id="6" name="impact"/>
          <p:cNvSpPr/>
          <p:nvPr/>
        </p:nvSpPr>
        <p:spPr>
          <a:xfrm>
            <a:off x="548640" y="498348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EE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074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効果試算（10月の問い合わせ数のまま）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承諾 19件 → 約29件（＋50％）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具体策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3044952"/>
            <a:ext cx="411480" cy="41148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9718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5分以内に返信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問い合わせへ即レス。営業時間外は自動返信＋翌朝一番で連絡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712464"/>
            <a:ext cx="411480" cy="41148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6393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日時は2択で提示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「明日18時か、明後日10時はいかがですか」とその場で確定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4379976"/>
            <a:ext cx="411480" cy="41148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0" y="4379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0682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予約日は3日以内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先の予約ほど来なくなる。直近枠を企画期間中は確保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5047488"/>
            <a:ext cx="411480" cy="41148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5047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9743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未予約者を追いかける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24時間後・72時間後にLINEで再案内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5715000"/>
            <a:ext cx="411480" cy="41148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0" y="5715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6418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お返事の予約14件を来店に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前日・当日リマインドで11月の来店を確実に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11月アクションプランと目標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最優先は①。②③は11月の企画に組み込んで同時に検証する</a:t>
            </a:r>
            <a:endParaRPr lang="en-US" sz="1500" dirty="0"/>
          </a:p>
        </p:txBody>
      </p:sp>
      <p:sp>
        <p:nvSpPr>
          <p:cNvPr id="4" name="plan0"/>
          <p:cNvSpPr/>
          <p:nvPr/>
        </p:nvSpPr>
        <p:spPr>
          <a:xfrm>
            <a:off x="548640" y="1691640"/>
            <a:ext cx="2615184" cy="4526280"/>
          </a:xfrm>
          <a:prstGeom prst="roundRect">
            <a:avLst>
              <a:gd name="adj" fmla="val 4196"/>
            </a:avLst>
          </a:prstGeom>
          <a:solidFill>
            <a:srgbClr val="1740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①最重要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予約の取りこぼし防止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即レス・2択提示・追客・リマインドを全企画で運用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46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目標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06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予約率 52％→80％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来店率 61％→75％</a:t>
            </a:r>
            <a:endParaRPr lang="en-US" sz="1400" dirty="0"/>
          </a:p>
        </p:txBody>
      </p:sp>
      <p:sp>
        <p:nvSpPr>
          <p:cNvPr id="10" name="plan1"/>
          <p:cNvSpPr/>
          <p:nvPr/>
        </p:nvSpPr>
        <p:spPr>
          <a:xfrm>
            <a:off x="3364992" y="1691640"/>
            <a:ext cx="2615184" cy="4526280"/>
          </a:xfrm>
          <a:prstGeom prst="roundRect">
            <a:avLst>
              <a:gd name="adj" fmla="val 4196"/>
            </a:avLst>
          </a:prstGeom>
          <a:solidFill>
            <a:srgbClr val="EE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1828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2402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勝ちパターンの再現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0632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1通目は「人・新しさ・今だけ」のテーマ。最終日夜に締切配信を必ず入れる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4846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目標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51206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問い合わせ 月174件以上を維持</a:t>
            </a:r>
            <a:endParaRPr lang="en-US" sz="1400" dirty="0"/>
          </a:p>
        </p:txBody>
      </p:sp>
      <p:sp>
        <p:nvSpPr>
          <p:cNvPr id="16" name="plan2"/>
          <p:cNvSpPr/>
          <p:nvPr/>
        </p:nvSpPr>
        <p:spPr>
          <a:xfrm>
            <a:off x="6181344" y="1691640"/>
            <a:ext cx="2615184" cy="4526280"/>
          </a:xfrm>
          <a:prstGeom prst="roundRect">
            <a:avLst>
              <a:gd name="adj" fmla="val 4196"/>
            </a:avLst>
          </a:prstGeom>
          <a:solidFill>
            <a:srgbClr val="EE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64224" y="1828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2402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LP改善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0632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ファーストビュー・ボタン配置・LINE1タップ予約。2パターンで比較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4846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目標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51206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LP問い合わせ率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2.7％→4％以上</a:t>
            </a:r>
            <a:endParaRPr lang="en-US" sz="1400" dirty="0"/>
          </a:p>
        </p:txBody>
      </p:sp>
      <p:sp>
        <p:nvSpPr>
          <p:cNvPr id="22" name="plan3"/>
          <p:cNvSpPr/>
          <p:nvPr/>
        </p:nvSpPr>
        <p:spPr>
          <a:xfrm>
            <a:off x="8997696" y="1691640"/>
            <a:ext cx="2615184" cy="4526280"/>
          </a:xfrm>
          <a:prstGeom prst="roundRect">
            <a:avLst>
              <a:gd name="adj" fmla="val 4196"/>
            </a:avLst>
          </a:prstGeom>
          <a:solidFill>
            <a:srgbClr val="EEF4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0576" y="1828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④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22402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計測の整備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30632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LP・予約フォームにチャネル別URLを付け、計測外43件の出どころを把握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4846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目標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51206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計測外 43件→10件以下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付録：データについての注意点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分析はKeynote内の表を再集計して実施。以下は資料の数値と食い違う箇所</a:t>
            </a:r>
            <a:endParaRPr lang="en-US" sz="1500" dirty="0"/>
          </a:p>
        </p:txBody>
      </p:sp>
      <p:sp>
        <p:nvSpPr>
          <p:cNvPr id="4" name="n0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4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問い合わせ数の差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64592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LINE・メルマガで計測できた問い合わせは131件。報告CV174件との差43件は計測外（翼デビュー23件・手術回避10件・挑戦状7件 など）</a:t>
            </a:r>
            <a:endParaRPr lang="en-US" sz="1200" dirty="0"/>
          </a:p>
        </p:txBody>
      </p:sp>
      <p:sp>
        <p:nvSpPr>
          <p:cNvPr id="7" name="n1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60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メルマガ一覧の「合計」列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6032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配信数 396,542・開封 11,617 などは一部企画しか合計されていない。各企画の合計は 配信 651,767・開封 18,550・LPタップ 3,271・問い合わせ 56</a:t>
            </a:r>
            <a:endParaRPr lang="en-US" sz="1200" dirty="0"/>
          </a:p>
        </p:txBody>
      </p:sp>
      <p:sp>
        <p:nvSpPr>
          <p:cNvPr id="10" name="n2"/>
          <p:cNvSpPr/>
          <p:nvPr/>
        </p:nvSpPr>
        <p:spPr>
          <a:xfrm>
            <a:off x="548640" y="34747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行ラベルの入れ替わり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47472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一部の表で「開封」と「開封率」の行名が逆。最終ページの表は行名が「開封率／タップ率／LP CVR」だが実際は「予約率／来店率／承諾率」</a:t>
            </a:r>
            <a:endParaRPr lang="en-US" sz="1200" dirty="0"/>
          </a:p>
        </p:txBody>
      </p:sp>
      <p:sp>
        <p:nvSpPr>
          <p:cNvPr id="13" name="n3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お返事の数値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38912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メルマガ一覧（開封3,168・タップ435）と詳細表（3,217・439）が不一致。問い合わせはCV報告32件、表33件</a:t>
            </a:r>
            <a:endParaRPr lang="en-US" sz="1200" dirty="0"/>
          </a:p>
        </p:txBody>
      </p:sp>
      <p:sp>
        <p:nvSpPr>
          <p:cNvPr id="16" name="n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303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お返事・手術回避の来店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530352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10月後半の企画のため、11月に来店予定の予約が未反映の可能性。11月中旬に再集計を推奨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kka">
  <a:themeElements>
    <a:clrScheme name="Fukka">
      <a:dk1>
        <a:srgbClr val="1F2A28"/>
      </a:dk1>
      <a:lt1>
        <a:srgbClr val="FFFFFF"/>
      </a:lt1>
      <a:dk2>
        <a:srgbClr val="17403A"/>
      </a:dk2>
      <a:lt2>
        <a:srgbClr val="EEF4F2"/>
      </a:lt2>
      <a:accent1>
        <a:srgbClr val="17403A"/>
      </a:accent1>
      <a:accent2>
        <a:srgbClr val="E07A2E"/>
      </a:accent2>
      <a:accent3>
        <a:srgbClr val="7FA99B"/>
      </a:accent3>
      <a:accent4>
        <a:srgbClr val="C9DCD5"/>
      </a:accent4>
      <a:accent5>
        <a:srgbClr val="B23A48"/>
      </a:accent5>
      <a:accent6>
        <a:srgbClr val="6B7A77"/>
      </a:accent6>
      <a:hlink>
        <a:srgbClr val="17403A"/>
      </a:hlink>
      <a:folHlink>
        <a:srgbClr val="6B7A77"/>
      </a:folHlink>
    </a:clrScheme>
    <a:fontScheme name="Fukka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ふっか整体 2026年10月 販売分析</dc:title>
  <dc:subject>PptxGenJS Presentation</dc:subject>
  <dc:creator>PptxGenJS</dc:creator>
  <cp:lastModifiedBy>PptxGenJS</cp:lastModifiedBy>
  <cp:revision>1</cp:revision>
  <dcterms:created xsi:type="dcterms:W3CDTF">2026-10-31T09:17:36Z</dcterms:created>
  <dcterms:modified xsi:type="dcterms:W3CDTF">2026-10-31T09:17:36Z</dcterms:modified>
</cp:coreProperties>
</file>